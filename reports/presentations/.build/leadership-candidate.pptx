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15f024b4824e5b" /><Relationship Type="http://schemas.openxmlformats.org/officeDocument/2006/relationships/extended-properties" Target="/docProps/app.xml" Id="R6afa222271de44ca" /><Relationship Type="http://schemas.openxmlformats.org/officeDocument/2006/relationships/officeDocument" Target="/ppt/presentation.xml" Id="R662d9c0dd73840ef" /></Relationships>
</file>

<file path=ppt/presentation.xml><?xml version="1.0" encoding="utf-8"?>
<p:presentation xmlns:p="http://schemas.openxmlformats.org/presentationml/2006/main">
  <p:sldMasterIdLst>
    <p:sldMasterId xmlns:r="http://schemas.openxmlformats.org/officeDocument/2006/relationships" id="2147483648" r:id="Rf90e4346d6e54d8d"/>
  </p:sldMasterIdLst>
  <p:notesMasterIdLst>
    <p:notesMasterId xmlns:r="http://schemas.openxmlformats.org/officeDocument/2006/relationships" r:id="R29524487167f488d"/>
  </p:notesMasterIdLst>
  <p:sldIdLst>
    <p:sldId xmlns:r="http://schemas.openxmlformats.org/officeDocument/2006/relationships" id="256" r:id="Rfe00281b27b847d0"/>
    <p:sldId xmlns:r="http://schemas.openxmlformats.org/officeDocument/2006/relationships" id="257" r:id="R56b5bd5ed56c4522"/>
    <p:sldId xmlns:r="http://schemas.openxmlformats.org/officeDocument/2006/relationships" id="258" r:id="R9c74ad26e6a04e2f"/>
    <p:sldId xmlns:r="http://schemas.openxmlformats.org/officeDocument/2006/relationships" id="259" r:id="Rc6dea4cf70d0462e"/>
    <p:sldId xmlns:r="http://schemas.openxmlformats.org/officeDocument/2006/relationships" id="260" r:id="R7bae1c6e44974726"/>
    <p:sldId xmlns:r="http://schemas.openxmlformats.org/officeDocument/2006/relationships" id="261" r:id="R7bd8e2b33c3a48cf"/>
    <p:sldId xmlns:r="http://schemas.openxmlformats.org/officeDocument/2006/relationships" id="262" r:id="Rf475f291822b4ab6"/>
    <p:sldId xmlns:r="http://schemas.openxmlformats.org/officeDocument/2006/relationships" id="263" r:id="R4ef6dd8fd8c24b3a"/>
    <p:sldId xmlns:r="http://schemas.openxmlformats.org/officeDocument/2006/relationships" id="264" r:id="Re0433b7bf3cf4913"/>
    <p:sldId xmlns:r="http://schemas.openxmlformats.org/officeDocument/2006/relationships" id="265" r:id="R4f0d943d256045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c0fd82deea4e45" /><Relationship Type="http://schemas.openxmlformats.org/officeDocument/2006/relationships/slideMaster" Target="/ppt/slideMasters/slideMaster1.xml" Id="Rf90e4346d6e54d8d" /><Relationship Type="http://schemas.openxmlformats.org/officeDocument/2006/relationships/notesMaster" Target="/ppt/notesMasters/notesMaster1.xml" Id="R29524487167f488d" /><Relationship Type="http://schemas.openxmlformats.org/officeDocument/2006/relationships/presProps" Target="/ppt/presProps.xml" Id="R15b98a84a36744bd" /><Relationship Type="http://schemas.openxmlformats.org/officeDocument/2006/relationships/tableStyles" Target="/ppt/tableStyles.xml" Id="R8d50976eb59547e3" /><Relationship Type="http://schemas.openxmlformats.org/officeDocument/2006/relationships/slide" Target="/ppt/slides/slide1.xml" Id="Rfe00281b27b847d0" /><Relationship Type="http://schemas.openxmlformats.org/officeDocument/2006/relationships/slide" Target="/ppt/slides/slide2.xml" Id="R56b5bd5ed56c4522" /><Relationship Type="http://schemas.openxmlformats.org/officeDocument/2006/relationships/slide" Target="/ppt/slides/slide3.xml" Id="R9c74ad26e6a04e2f" /><Relationship Type="http://schemas.openxmlformats.org/officeDocument/2006/relationships/slide" Target="/ppt/slides/slide4.xml" Id="Rc6dea4cf70d0462e" /><Relationship Type="http://schemas.openxmlformats.org/officeDocument/2006/relationships/slide" Target="/ppt/slides/slide5.xml" Id="R7bae1c6e44974726" /><Relationship Type="http://schemas.openxmlformats.org/officeDocument/2006/relationships/slide" Target="/ppt/slides/slide6.xml" Id="R7bd8e2b33c3a48cf" /><Relationship Type="http://schemas.openxmlformats.org/officeDocument/2006/relationships/slide" Target="/ppt/slides/slide7.xml" Id="Rf475f291822b4ab6" /><Relationship Type="http://schemas.openxmlformats.org/officeDocument/2006/relationships/slide" Target="/ppt/slides/slide8.xml" Id="R4ef6dd8fd8c24b3a" /><Relationship Type="http://schemas.openxmlformats.org/officeDocument/2006/relationships/slide" Target="/ppt/slides/slide9.xml" Id="Re0433b7bf3cf4913" /><Relationship Type="http://schemas.openxmlformats.org/officeDocument/2006/relationships/slide" Target="/ppt/slides/slide10.xml" Id="R4f0d943d256045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ab03aa70bc4e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ossier leadership">
      <a:dk1>
        <a:srgbClr val="000000"/>
      </a:dk1>
      <a:lt1>
        <a:srgbClr val="FFFFFF"/>
      </a:lt1>
      <a:dk2>
        <a:srgbClr val="14262D"/>
      </a:dk2>
      <a:lt2>
        <a:srgbClr val="F4F0E8"/>
      </a:lt2>
      <a:accent1>
        <a:srgbClr val="267B67"/>
      </a:accent1>
      <a:accent2>
        <a:srgbClr val="DB624C"/>
      </a:accent2>
      <a:accent3>
        <a:srgbClr val="E6B86A"/>
      </a:accent3>
      <a:accent4>
        <a:srgbClr val="7ED1BD"/>
      </a:accent4>
      <a:accent5>
        <a:srgbClr val="6286A8"/>
      </a:accent5>
      <a:accent6>
        <a:srgbClr val="92729C"/>
      </a:accent6>
      <a:hlink>
        <a:srgbClr val="267B67"/>
      </a:hlink>
      <a:folHlink>
        <a:srgbClr val="267B67"/>
      </a:folHlink>
    </a:clrScheme>
    <a:fontScheme name="Office">
      <a:majorFont>
        <a:latin typeface="Calibri Light"/>
        <a:ea typeface="Calibri Light"/>
        <a:cs typeface="Calibri Light"/>
      </a:majorFont>
      <a:minorFont>
        <a:latin typeface="Calibri"/>
        <a:ea typeface="Calibri"/>
        <a:cs typeface="Calibri"/>
      </a:minorFont>
    </a:fontScheme>
    <a:fmtScheme name="Dossier leadershi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4d5159d36241f7" /><Relationship Type="http://schemas.openxmlformats.org/officeDocument/2006/relationships/notesMaster" Target="/ppt/notesMasters/notesMaster1.xml" Id="R00db3601ecc940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0b9993293b4a49" /><Relationship Type="http://schemas.openxmlformats.org/officeDocument/2006/relationships/notesMaster" Target="/ppt/notesMasters/notesMaster1.xml" Id="R13b7d9244a4949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052db95ab44824" /><Relationship Type="http://schemas.openxmlformats.org/officeDocument/2006/relationships/notesMaster" Target="/ppt/notesMasters/notesMaster1.xml" Id="R17ab2be2ed7f4d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6064e0db694c71" /><Relationship Type="http://schemas.openxmlformats.org/officeDocument/2006/relationships/notesMaster" Target="/ppt/notesMasters/notesMaster1.xml" Id="R33ce797b1e1b4c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168778d246440b" /><Relationship Type="http://schemas.openxmlformats.org/officeDocument/2006/relationships/notesMaster" Target="/ppt/notesMasters/notesMaster1.xml" Id="R569e8f0bcb694d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c2517a7ee04268" /><Relationship Type="http://schemas.openxmlformats.org/officeDocument/2006/relationships/notesMaster" Target="/ppt/notesMasters/notesMaster1.xml" Id="R197eec931c284b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bf180b1ed44aea" /><Relationship Type="http://schemas.openxmlformats.org/officeDocument/2006/relationships/notesMaster" Target="/ppt/notesMasters/notesMaster1.xml" Id="Rcbaac7b0cb5144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2e51b474884762" /><Relationship Type="http://schemas.openxmlformats.org/officeDocument/2006/relationships/notesMaster" Target="/ppt/notesMasters/notesMaster1.xml" Id="R4c18d52bad0a4d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31d32740b04ff9" /><Relationship Type="http://schemas.openxmlformats.org/officeDocument/2006/relationships/notesMaster" Target="/ppt/notesMasters/notesMaster1.xml" Id="R87dca96113944b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deeaa77a4e4d37" /><Relationship Type="http://schemas.openxmlformats.org/officeDocument/2006/relationships/notesMaster" Target="/ppt/notesMasters/notesMaster1.xml" Id="Rccab7d1c178543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Leadership summary of the full experiment programme. The small average benefit of reviews plus tags repeated, but the exception protection rule did not work. Product defaults remain unchanged. The cinematic cover is an AI-generated conceptual image, not evidence from a study.</a:t>
            </a:r>
          </a:p>
          <a:p xmlns:a="http://schemas.openxmlformats.org/drawingml/2006/main">
            <a:r>
              <a:t/>
            </a:r>
          </a:p>
          <a:p xmlns:a="http://schemas.openxmlformats.org/drawingml/2006/main">
            <a:r>
              <a:t>Sources: reports/dossier-learning-study-tmdb.json; reports/reviews-plus-tags-confirmation-v1.json;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create disposable CLI profiles. Only supplied ratings enter Dossier. Hidden ratings score its completed ranking. Invented users began as pipeline checks. Later tests used historical anonymous MovieLens viewers, not people recruited to use Dossier today. The original 31, the next 47 and the next 30 viewers are separate groups. Four rating orders per person are repeated sessions, not extra people. We rank only films they previously rated.</a:t>
            </a:r>
          </a:p>
          <a:p xmlns:a="http://schemas.openxmlformats.org/drawingml/2006/main">
            <a:r>
              <a:t/>
            </a:r>
          </a:p>
          <a:p xmlns:a="http://schemas.openxmlformats.org/drawingml/2006/main">
            <a:r>
              <a:t>Sources: docs/real-benchmark.md; reports/dossier-learning-study-tmdb.json; reports/reviews-plus-tags-confirmation-v1.json;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Easy invented sci-fi persona: 98% after one rating and ten of ten liked suggestions after ten. The larger early invented cohort had 264 profiles, including 240 variations. Hidden preferences used many of the same film properties as Dossier, so a simple cosine matcher also performed almost perfectly. Hard invented test:18 people,288 films; Dossier76.1% versus nearest75.4% after20. Real bundled film test:31 historical viewers,1736 films; after20 Dossier61.1%, publicreviews82.3%,popularity73.6%. Across these tests the people and film details differ, so this is a lesson about test credibility, not a measured model decline.</a:t>
            </a:r>
          </a:p>
          <a:p xmlns:a="http://schemas.openxmlformats.org/drawingml/2006/main">
            <a:r>
              <a:t/>
            </a:r>
          </a:p>
          <a:p xmlns:a="http://schemas.openxmlformats.org/drawingml/2006/main">
            <a:r>
              <a:t>Sources: reports/presentations/evidence-summary.json; reports/dossier-real-v1-baseline.json; reports/dossier-hard-v1-baseline.html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regression study learning curve:1,3,5,10,20,40 ratings; Dossier52.98,54.94,56.53,57.60,59.24,60.18%. Publicreviews80.67% at every count. TMDB is a public film database. Updating the metadata did not close the gap.35/124 sessions, across24 viewers, lose over3 points from10 to40. Bad-input checks mean losses: reversehalf6.9points,shuffle11.0,removeimportant4.7,injectcontradictions3.4,20to5ratings3.1. The average responds to damage, but some individuals improve when evidence worsens.50% is chance pair ordering, not50% chance of enjoying a film.</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TMDB controlled claim test starts with misleading evidence then supplies contradictory training ratings.26/28 eligible wrongclaims corrected:25 removed and1replaced.2overcorrected.3other viewers did not form a falseclaim. Early hard synthetic test3/5corrected2overcorrected. Correction does not imply all claims are accurate. Question comparison starts both arms with5same ratings, then chooses either Dossierqueue titles or random titles among the popular75% of unseen training films. After40 active58.06% vsreasonable random61.89%.The difference is3.83points and viewer bootstrap interval is−7.69to−.05points. Recognition and willingness to answer are not tested.</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reviews means published average audience ratings. Candidate gives75%weight to publicquality and25%to personal genre/keyword matching. This is unchanged across later studies. Exploratory11component comparisons in same31 viewers: current59.24, noclaims59.13,nogroups58.95,nogroupsnoclaims58.34,nodislikepenalty57.14,nonegative56.99,increasedreviews74.98,public80.67,reviewspluslens79.07,tags57.80,reviewsplustags81.26. The candidate gain+.59point is selected from this same data and needs independent confirmation. Firstten likespublic6.42candidate6.43, so ordering gain alone is not a large discovery gain.</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New47viewers from sameMovieLens archive/catalogue,60hiddenfilms and4orders each. AUCpublic72.88candidate73.83current60.07. Candidatepublicgain+.95points,95%viewer interval+.33to+1.60. Precisionpublic.6532candidate.6777current.5133: about.245extra likesper10, oroneper40. This is newindividual confirmation from the samepopulation, notprooffor all users. Oneviewer losesover3points vspublic,sixgain; fourviewers loseover3vscurrent. Allcounts are averages of clear likes among first10 films in the already-rated hidden pool.</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Viewer82current83.01candidate55.59public48.35;484current69.03candidate52.25public50.23. Anonymous IDs identify the same person across reports. Eight unusualtaste cases are identified only from supplied public-review agreement, no hiddenlabels. Groupcandidate-publicgain1.03points withinterval−.9to3.13, so subgroupbenefituncertain. Viewer484firstten candidate+0.75likes although orderingworse, illustratingmetricscan disagree. These are real exceptions toaveragepublicsuperiority. Latestguard requires6dislikes and these two provide fewer; it leaves bothonfixedcandidate.</a:t>
            </a:r>
          </a:p>
          <a:p xmlns:a="http://schemas.openxmlformats.org/drawingml/2006/main">
            <a:r>
              <a:t/>
            </a:r>
          </a:p>
          <a:p xmlns:a="http://schemas.openxmlformats.org/drawingml/2006/main">
            <a:r>
              <a:t>Sources: reports/reviews-plus-tags-confirmation-v1.json;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largest frozen10to40declines, fourdistinctviewers. CLIreplay aftereveryrating reproducedexactly. LikeFellowshipformsbroadlikedgroupboostingdislikedFantasticFouraheadlikedAdaptation. DislikeTwoTowerscreatesgroup penalisinglikedTotalRecallbelowItTakesTwo. Controlled prior-state component substitutions attribute losses to overlybroadmatching. Identicalfinal40ratingsfixedclaims12orders still varies60344.69to57.55. Neither mechanism is repaired during task. Fixed75/25avoids originallargecrashes allfive but483loses3.29points10to40, so4/5strictgates pass. These are investigations, nothidden-answer-fed deploymentrules.</a:t>
            </a:r>
          </a:p>
          <a:p xmlns:a="http://schemas.openxmlformats.org/drawingml/2006/main">
            <a:r>
              <a:t/>
            </a:r>
          </a:p>
          <a:p xmlns:a="http://schemas.openxmlformats.org/drawingml/2006/main">
            <a:r>
              <a:t>Sources: reports/backwards-learning-diagnosis-v1.json;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Observedonlyrulefrozenbeforehiddenoutcomes. Defaultunchanged75/25,currentonlyif20ratings6likes6dislikes,publicagreementlow,3folds3repeatsallcurrentwins≥5pointsagainstbothrefsandpositivebootstraplowerbound. After40zero/120freshswitches;19missedusefulsessions in9people. Sixdislikesblocks82/484.16/30freshfulltrainingpools cannotreachbalance becauseseparate hiddenpoolreservesdislikes, a benchmarklimitation. Acrossall432sessionspreviousviewer292order11switchesandgains4.33candidatepoints. Fresh40public72.38candidate74.56current60.13guard74.56. Firstten6.433/6.583/5.758/6.583. Defaultsunchanged. Next protectionneedsfewdislikes, eightunusualcases,fiveknownfailures,bothmandatoryrefs,newuntouchedconfirmation. Historicalselection,restrictedratedpool,smallgroups andlatermetadata limitproductgeneralisation.</a:t>
            </a:r>
          </a:p>
          <a:p xmlns:a="http://schemas.openxmlformats.org/drawingml/2006/main">
            <a:r>
              <a:t/>
            </a:r>
          </a:p>
          <a:p xmlns:a="http://schemas.openxmlformats.org/drawingml/2006/main">
            <a:r>
              <a:t>Sources: reports/observed-rating-override-decision-v1.json; reports/reviews-plus-tags-confirmation-v1.json;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691069f29c4e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aac2885dc1462a" /><Relationship Type="http://schemas.openxmlformats.org/officeDocument/2006/relationships/slideLayout" Target="/ppt/slideLayouts/slideLayout1.xml" Id="R3d3bd2dad06a4a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3bd2dad06a4a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ossier leadership">
      <a:dk1>
        <a:srgbClr val="000000"/>
      </a:dk1>
      <a:lt1>
        <a:srgbClr val="FFFFFF"/>
      </a:lt1>
      <a:dk2>
        <a:srgbClr val="14262D"/>
      </a:dk2>
      <a:lt2>
        <a:srgbClr val="F4F0E8"/>
      </a:lt2>
      <a:accent1>
        <a:srgbClr val="267B67"/>
      </a:accent1>
      <a:accent2>
        <a:srgbClr val="DB624C"/>
      </a:accent2>
      <a:accent3>
        <a:srgbClr val="E6B86A"/>
      </a:accent3>
      <a:accent4>
        <a:srgbClr val="7ED1BD"/>
      </a:accent4>
      <a:accent5>
        <a:srgbClr val="6286A8"/>
      </a:accent5>
      <a:accent6>
        <a:srgbClr val="92729C"/>
      </a:accent6>
      <a:hlink>
        <a:srgbClr val="267B67"/>
      </a:hlink>
      <a:folHlink>
        <a:srgbClr val="267B67"/>
      </a:folHlink>
    </a:clrScheme>
    <a:fontScheme name="Office">
      <a:majorFont>
        <a:latin typeface="Calibri Light"/>
        <a:ea typeface="Calibri Light"/>
        <a:cs typeface="Calibri Light"/>
      </a:majorFont>
      <a:minorFont>
        <a:latin typeface="Calibri"/>
        <a:ea typeface="Calibri"/>
        <a:cs typeface="Calibri"/>
      </a:minorFont>
    </a:fontScheme>
    <a:fmtScheme name="Dossier leadershi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1a25ccb0d94402" /><Relationship Type="http://schemas.openxmlformats.org/officeDocument/2006/relationships/image" Target="/ppt/media/image.png" Id="Rfe566f13657f4aa2" /><Relationship Type="http://schemas.openxmlformats.org/officeDocument/2006/relationships/image" Target="/ppt/media/image2.png" Id="R3df52a2eeb9d4b9c" /><Relationship Type="http://schemas.openxmlformats.org/officeDocument/2006/relationships/notesSlide" Target="/ppt/notesSlides/notesSlide1.xml" Id="Rdadb31d30a524c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9b9fa8f4e44f67" /><Relationship Type="http://schemas.openxmlformats.org/officeDocument/2006/relationships/notesSlide" Target="/ppt/notesSlides/notesSlide2.xml" Id="R72511151633b4c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4c598252414e88" /><Relationship Type="http://schemas.openxmlformats.org/officeDocument/2006/relationships/chart" Target="/ppt/slides/charts/chart1.xml" Id="R9d616d3a2a274516" /><Relationship Type="http://schemas.openxmlformats.org/officeDocument/2006/relationships/notesSlide" Target="/ppt/notesSlides/notesSlide3.xml" Id="Rd0946a9144b144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666b1297bd4be5" /><Relationship Type="http://schemas.openxmlformats.org/officeDocument/2006/relationships/chart" Target="/ppt/slides/charts/chart2.xml" Id="R6bd4c6c8070042f7" /><Relationship Type="http://schemas.openxmlformats.org/officeDocument/2006/relationships/notesSlide" Target="/ppt/notesSlides/notesSlide4.xml" Id="Rcdd856179e7a48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fea5725ef1498a" /><Relationship Type="http://schemas.openxmlformats.org/officeDocument/2006/relationships/chart" Target="/ppt/slides/charts/chart3.xml" Id="R6be681e3243e4b6c" /><Relationship Type="http://schemas.openxmlformats.org/officeDocument/2006/relationships/chart" Target="/ppt/slides/charts/chart4.xml" Id="Rbd1fdee15f264573" /><Relationship Type="http://schemas.openxmlformats.org/officeDocument/2006/relationships/notesSlide" Target="/ppt/notesSlides/notesSlide5.xml" Id="R112d1c94bdae4c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8b3f1080994d55" /><Relationship Type="http://schemas.openxmlformats.org/officeDocument/2006/relationships/chart" Target="/ppt/slides/charts/chart5.xml" Id="Rcd9d6cd763d34ed2" /><Relationship Type="http://schemas.openxmlformats.org/officeDocument/2006/relationships/notesSlide" Target="/ppt/notesSlides/notesSlide6.xml" Id="R93df2efc3be84f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897464777d4792" /><Relationship Type="http://schemas.openxmlformats.org/officeDocument/2006/relationships/chart" Target="/ppt/slides/charts/chart6.xml" Id="R19d7e88220de4a48" /><Relationship Type="http://schemas.openxmlformats.org/officeDocument/2006/relationships/notesSlide" Target="/ppt/notesSlides/notesSlide7.xml" Id="R5b4d1cf2632245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3278e1286e34d57" /><Relationship Type="http://schemas.openxmlformats.org/officeDocument/2006/relationships/chart" Target="/ppt/slides/charts/chart7.xml" Id="Rd7dd46e1ca194c8b" /><Relationship Type="http://schemas.openxmlformats.org/officeDocument/2006/relationships/notesSlide" Target="/ppt/notesSlides/notesSlide8.xml" Id="R4e6399c8f9a744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4b8864f76d4b82" /><Relationship Type="http://schemas.openxmlformats.org/officeDocument/2006/relationships/notesSlide" Target="/ppt/notesSlides/notesSlide9.xml" Id="R6c0c56cb21a748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d6c4f90770459e" /><Relationship Type="http://schemas.openxmlformats.org/officeDocument/2006/relationships/notesSlide" Target="/ppt/notesSlides/notesSlide10.xml" Id="R8b418f7330f34847" /></Relationships>
</file>

<file path=ppt/slides/charts/chart1.xml><?xml version="1.0" encoding="utf-8"?>
<c:chartSpace xmlns:c="http://schemas.openxmlformats.org/drawingml/2006/chart">
  <c:lang val="en-US"/>
  <c:chart>
    <c:plotArea>
      <c:barChart>
        <c:barDir val="col"/>
        <c:grouping val="clustered"/>
        <c:varyColors val="0"/>
        <c:ser>
          <c:idx val="0"/>
          <c:order val="0"/>
          <c:tx>
            <c:v>Real viewers, 20 ratings</c:v>
          </c:tx>
          <c:spPr>
            <a:solidFill xmlns:a="http://schemas.openxmlformats.org/drawingml/2006/main">
              <a:srgbClr val="7ED1BD"/>
            </a:solidFill>
          </c:spPr>
          <c:cat>
            <c:strLit>
              <c:ptCount val="2"/>
              <c:pt idx="0">
                <c:v>Dossier</c:v>
              </c:pt>
              <c:pt idx="1">
                <c:v>Public reviews</c:v>
              </c:pt>
            </c:strLit>
          </c:cat>
          <c:val>
            <c:numLit>
              <c:formatCode>0.0%</c:formatCode>
              <c:ptCount val="2"/>
              <c:pt idx="0">
                <c:v>0.6113</c:v>
              </c:pt>
              <c:pt idx="1">
                <c:v>0.8231</c:v>
              </c:pt>
            </c:numLit>
          </c:val>
        </c:ser>
        <c:dLbls>
          <c:txPr>
            <a:bodyPr xmlns:a="http://schemas.openxmlformats.org/drawingml/2006/main" anchorCtr="1"/>
            <a:lstStyle xmlns:a="http://schemas.openxmlformats.org/drawingml/2006/main"/>
            <a:p xmlns:a="http://schemas.openxmlformats.org/drawingml/2006/main">
              <a:pPr>
                <a:defRPr sz="1875" b="1">
                  <a:solidFill>
                    <a:srgbClr val="F4F0E8"/>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F4F0E8"/>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354B5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F4F0E8"/>
                </a:solidFill>
                <a:latin typeface="Avenir Next"/>
                <a:ea typeface="Avenir Next"/>
                <a:cs typeface="Avenir Next"/>
              </a:defRPr>
            </a:pPr>
          </a:p>
        </c:txPr>
        <c:crossAx val="48650112"/>
        <c:crossBetween val="between"/>
        <c:majorUnit val="0.2"/>
      </c:valAx>
      <c:spPr>
        <a:solidFill xmlns:a="http://schemas.openxmlformats.org/drawingml/2006/main">
          <a:srgbClr val="14262D"/>
        </a:solidFill>
      </c:spPr>
    </c:plotArea>
    <c:plotVisOnly val="1"/>
  </c:chart>
  <c:spPr>
    <a:solidFill xmlns:a="http://schemas.openxmlformats.org/drawingml/2006/main">
      <a:srgbClr val="14262D"/>
    </a:solidFill>
  </c:spPr>
</c:chartSpace>
</file>

<file path=ppt/slides/charts/chart2.xml><?xml version="1.0" encoding="utf-8"?>
<c:chartSpace xmlns:c="http://schemas.openxmlformats.org/drawingml/2006/chart">
  <c:lang val="en-US"/>
  <c:chart>
    <c:plotArea>
      <c:lineChart>
        <c:grouping val="standard"/>
        <c:ser>
          <c:idx val="0"/>
          <c:order val="0"/>
          <c:tx>
            <c:v>Dossier</c:v>
          </c:tx>
          <c:spPr>
            <a:ln xmlns:a="http://schemas.openxmlformats.org/drawingml/2006/main" w="38100">
              <a:solidFill>
                <a:srgbClr val="DB624C"/>
              </a:solidFill>
            </a:ln>
          </c:spPr>
          <c:marker>
            <c:symbol val="circle"/>
            <c:size val="8"/>
            <c:spPr>
              <a:solidFill xmlns:a="http://schemas.openxmlformats.org/drawingml/2006/main">
                <a:srgbClr val="DB624C"/>
              </a:solidFill>
            </c:spPr>
          </c:marker>
          <c:cat>
            <c:numLit>
              <c:formatCode>General</c:formatCode>
              <c:ptCount val="6"/>
              <c:pt idx="0">
                <c:v>1</c:v>
              </c:pt>
              <c:pt idx="1">
                <c:v>3</c:v>
              </c:pt>
              <c:pt idx="2">
                <c:v>5</c:v>
              </c:pt>
              <c:pt idx="3">
                <c:v>10</c:v>
              </c:pt>
              <c:pt idx="4">
                <c:v>20</c:v>
              </c:pt>
              <c:pt idx="5">
                <c:v>40</c:v>
              </c:pt>
            </c:numLit>
          </c:cat>
          <c:val>
            <c:numLit>
              <c:formatCode>0%</c:formatCode>
              <c:ptCount val="6"/>
              <c:pt idx="0">
                <c:v>0.5298</c:v>
              </c:pt>
              <c:pt idx="1">
                <c:v>0.5494</c:v>
              </c:pt>
              <c:pt idx="2">
                <c:v>0.5653</c:v>
              </c:pt>
              <c:pt idx="3">
                <c:v>0.576</c:v>
              </c:pt>
              <c:pt idx="4">
                <c:v>0.5924</c:v>
              </c:pt>
              <c:pt idx="5">
                <c:v>0.6018</c:v>
              </c:pt>
            </c:numLit>
          </c:val>
        </c:ser>
        <c:ser>
          <c:idx val="1"/>
          <c:order val="1"/>
          <c:tx>
            <c:v>Public reviews</c:v>
          </c:tx>
          <c:spPr>
            <a:ln xmlns:a="http://schemas.openxmlformats.org/drawingml/2006/main" w="38100">
              <a:solidFill>
                <a:srgbClr val="267B67"/>
              </a:solidFill>
            </a:ln>
          </c:spPr>
          <c:marker>
            <c:symbol val="none"/>
          </c:marker>
          <c:cat>
            <c:numLit>
              <c:formatCode>General</c:formatCode>
              <c:ptCount val="6"/>
              <c:pt idx="0">
                <c:v>1</c:v>
              </c:pt>
              <c:pt idx="1">
                <c:v>3</c:v>
              </c:pt>
              <c:pt idx="2">
                <c:v>5</c:v>
              </c:pt>
              <c:pt idx="3">
                <c:v>10</c:v>
              </c:pt>
              <c:pt idx="4">
                <c:v>20</c:v>
              </c:pt>
              <c:pt idx="5">
                <c:v>40</c:v>
              </c:pt>
            </c:numLit>
          </c:cat>
          <c:val>
            <c:numLit>
              <c:formatCode>0%</c:formatCode>
              <c:ptCount val="6"/>
              <c:pt idx="0">
                <c:v>0.8067</c:v>
              </c:pt>
              <c:pt idx="1">
                <c:v>0.8067</c:v>
              </c:pt>
              <c:pt idx="2">
                <c:v>0.8067</c:v>
              </c:pt>
              <c:pt idx="3">
                <c:v>0.8067</c:v>
              </c:pt>
              <c:pt idx="4">
                <c:v>0.8067</c:v>
              </c:pt>
              <c:pt idx="5">
                <c:v>0.8067</c:v>
              </c:pt>
            </c:numLit>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Ratings supplied</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venir Next"/>
                <a:ea typeface="Avenir Next"/>
                <a:cs typeface="Avenir Next"/>
              </a:defRPr>
            </a:pPr>
          </a:p>
        </c:txPr>
        <c:crossAx val="48672768"/>
      </c:catAx>
      <c:valAx>
        <c:axId val="48672768"/>
        <c:scaling>
          <c:orientation val="minMax"/>
          <c:max val="1"/>
          <c:min val="0.5"/>
        </c:scaling>
        <c:delete val="0"/>
        <c:axPos val="l"/>
        <c:majorGridlines>
          <c:spPr>
            <a:ln xmlns:a="http://schemas.openxmlformats.org/drawingml/2006/main" w="9525">
              <a:solidFill>
                <a:srgbClr val="CFCFC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venir Next"/>
                <a:ea typeface="Avenir Next"/>
                <a:cs typeface="Avenir Next"/>
              </a:defRPr>
            </a:pPr>
          </a:p>
        </c:txPr>
        <c:crossAx val="48650112"/>
        <c:crossBetween val="between"/>
        <c:majorUnit val="0.1"/>
      </c:valAx>
      <c:spPr>
        <a:solidFill xmlns:a="http://schemas.openxmlformats.org/drawingml/2006/main">
          <a:srgbClr val="F4F0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262D"/>
              </a:solidFill>
              <a:latin typeface="Avenir Next"/>
              <a:ea typeface="Avenir Next"/>
              <a:cs typeface="Avenir Next"/>
            </a:defRPr>
          </a:pPr>
        </a:p>
      </c:txPr>
    </c:legend>
    <c:plotVisOnly val="1"/>
  </c:chart>
  <c:spPr>
    <a:solidFill xmlns:a="http://schemas.openxmlformats.org/drawingml/2006/main">
      <a:srgbClr val="F4F0E8"/>
    </a:solidFill>
  </c:spPr>
</c:chartSpace>
</file>

<file path=ppt/slides/charts/chart3.xml><?xml version="1.0" encoding="utf-8"?>
<c:chartSpace xmlns:c="http://schemas.openxmlformats.org/drawingml/2006/chart">
  <c:lang val="en-US"/>
  <c:chart>
    <c:plotArea>
      <c:doughnutChart>
        <c:ser>
          <c:idx val="0"/>
          <c:order val="0"/>
          <c:tx>
            <c:v>Controlled claim revision</c:v>
          </c:tx>
          <c:cat>
            <c:strLit>
              <c:ptCount val="2"/>
              <c:pt idx="0">
                <c:v>Corrected</c:v>
              </c:pt>
              <c:pt idx="1">
                <c:v>Went too far</c:v>
              </c:pt>
            </c:strLit>
          </c:cat>
          <c:val>
            <c:numLit>
              <c:formatCode>General</c:formatCode>
              <c:ptCount val="2"/>
              <c:pt idx="0">
                <c:v>26</c:v>
              </c:pt>
              <c:pt idx="1">
                <c:v>2</c:v>
              </c:pt>
            </c:numLit>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holeSize val="76"/>
      </c:doughnutChart>
      <c:spPr>
        <a:solidFill xmlns:a="http://schemas.openxmlformats.org/drawingml/2006/main">
          <a:srgbClr val="F4F0E8"/>
        </a:solidFill>
      </c:spPr>
    </c:plotArea>
    <c:plotVisOnly val="1"/>
  </c:chart>
  <c:spPr>
    <a:solidFill xmlns:a="http://schemas.openxmlformats.org/drawingml/2006/main">
      <a:srgbClr val="F4F0E8"/>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Ordering after 40 ratings</c:v>
          </c:tx>
          <c:spPr>
            <a:solidFill xmlns:a="http://schemas.openxmlformats.org/drawingml/2006/main">
              <a:srgbClr val="267B67"/>
            </a:solidFill>
          </c:spPr>
          <c:cat>
            <c:strLit>
              <c:ptCount val="2"/>
              <c:pt idx="0">
                <c:v>Dossier asks</c:v>
              </c:pt>
              <c:pt idx="1">
                <c:v>Random film</c:v>
              </c:pt>
            </c:strLit>
          </c:cat>
          <c:val>
            <c:numLit>
              <c:formatCode>0.0%</c:formatCode>
              <c:ptCount val="2"/>
              <c:pt idx="0">
                <c:v>0.5806</c:v>
              </c:pt>
              <c:pt idx="1">
                <c:v>0.6189</c:v>
              </c:pt>
            </c:numLit>
          </c:val>
        </c:ser>
        <c:dLbls>
          <c:txPr>
            <a:bodyPr xmlns:a="http://schemas.openxmlformats.org/drawingml/2006/main" anchorCtr="1"/>
            <a:lstStyle xmlns:a="http://schemas.openxmlformats.org/drawingml/2006/main"/>
            <a:p xmlns:a="http://schemas.openxmlformats.org/drawingml/2006/main">
              <a:pPr>
                <a:defRPr sz="1875" b="1">
                  <a:solidFill>
                    <a:srgbClr val="14262D"/>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62D"/>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CFCFC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62D"/>
                </a:solidFill>
                <a:latin typeface="Avenir Next"/>
                <a:ea typeface="Avenir Next"/>
                <a:cs typeface="Avenir Next"/>
              </a:defRPr>
            </a:pPr>
          </a:p>
        </c:txPr>
        <c:crossAx val="48650112"/>
        <c:crossBetween val="between"/>
        <c:majorUnit val="0.2"/>
      </c:valAx>
      <c:spPr>
        <a:solidFill xmlns:a="http://schemas.openxmlformats.org/drawingml/2006/main">
          <a:srgbClr val="F4F0E8"/>
        </a:solidFill>
      </c:spPr>
    </c:plotArea>
    <c:plotVisOnly val="1"/>
  </c:chart>
  <c:spPr>
    <a:solidFill xmlns:a="http://schemas.openxmlformats.org/drawingml/2006/main">
      <a:srgbClr val="F4F0E8"/>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Ordering score</c:v>
          </c:tx>
          <c:spPr>
            <a:solidFill xmlns:a="http://schemas.openxmlformats.org/drawingml/2006/main">
              <a:srgbClr val="7ED1BD"/>
            </a:solidFill>
          </c:spPr>
          <c:cat>
            <c:strLit>
              <c:ptCount val="4"/>
              <c:pt idx="0">
                <c:v>Current Dossier</c:v>
              </c:pt>
              <c:pt idx="1">
                <c:v>More review weight</c:v>
              </c:pt>
              <c:pt idx="2">
                <c:v>Public reviews</c:v>
              </c:pt>
              <c:pt idx="3">
                <c:v>Reviews + tags</c:v>
              </c:pt>
            </c:strLit>
          </c:cat>
          <c:val>
            <c:numLit>
              <c:formatCode>0.0%</c:formatCode>
              <c:ptCount val="4"/>
              <c:pt idx="0">
                <c:v>0.5924</c:v>
              </c:pt>
              <c:pt idx="1">
                <c:v>0.7498</c:v>
              </c:pt>
              <c:pt idx="2">
                <c:v>0.8067</c:v>
              </c:pt>
              <c:pt idx="3">
                <c:v>0.8126</c:v>
              </c:pt>
            </c:numLit>
          </c:val>
        </c:ser>
        <c:dLbls>
          <c:txPr>
            <a:bodyPr xmlns:a="http://schemas.openxmlformats.org/drawingml/2006/main" anchorCtr="1"/>
            <a:lstStyle xmlns:a="http://schemas.openxmlformats.org/drawingml/2006/main"/>
            <a:p xmlns:a="http://schemas.openxmlformats.org/drawingml/2006/main">
              <a:pPr>
                <a:defRPr sz="1875" b="1">
                  <a:solidFill>
                    <a:srgbClr val="F4F0E8"/>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F4F0E8"/>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354B5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F4F0E8"/>
                </a:solidFill>
                <a:latin typeface="Avenir Next"/>
                <a:ea typeface="Avenir Next"/>
                <a:cs typeface="Avenir Next"/>
              </a:defRPr>
            </a:pPr>
          </a:p>
        </c:txPr>
        <c:crossAx val="48650112"/>
        <c:crossBetween val="between"/>
        <c:majorUnit val="0.2"/>
      </c:valAx>
      <c:spPr>
        <a:solidFill xmlns:a="http://schemas.openxmlformats.org/drawingml/2006/main">
          <a:srgbClr val="14262D"/>
        </a:solidFill>
      </c:spPr>
    </c:plotArea>
    <c:plotVisOnly val="1"/>
  </c:chart>
  <c:spPr>
    <a:solidFill xmlns:a="http://schemas.openxmlformats.org/drawingml/2006/main">
      <a:srgbClr val="14262D"/>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Liked films per ten</c:v>
          </c:tx>
          <c:spPr>
            <a:solidFill xmlns:a="http://schemas.openxmlformats.org/drawingml/2006/main">
              <a:srgbClr val="267B67"/>
            </a:solidFill>
          </c:spPr>
          <c:cat>
            <c:strLit>
              <c:ptCount val="3"/>
              <c:pt idx="0">
                <c:v>Current Dossier</c:v>
              </c:pt>
              <c:pt idx="1">
                <c:v>Public reviews</c:v>
              </c:pt>
              <c:pt idx="2">
                <c:v>Reviews + tags</c:v>
              </c:pt>
            </c:strLit>
          </c:cat>
          <c:val>
            <c:numLit>
              <c:formatCode>0.00</c:formatCode>
              <c:ptCount val="3"/>
              <c:pt idx="0">
                <c:v>5.133</c:v>
              </c:pt>
              <c:pt idx="1">
                <c:v>6.532</c:v>
              </c:pt>
              <c:pt idx="2">
                <c:v>6.777</c:v>
              </c:pt>
            </c:numLit>
          </c:val>
        </c:ser>
        <c:dLbls>
          <c:txPr>
            <a:bodyPr xmlns:a="http://schemas.openxmlformats.org/drawingml/2006/main" anchorCtr="1"/>
            <a:lstStyle xmlns:a="http://schemas.openxmlformats.org/drawingml/2006/main"/>
            <a:p xmlns:a="http://schemas.openxmlformats.org/drawingml/2006/main">
              <a:pPr>
                <a:defRPr sz="1875" b="1">
                  <a:solidFill>
                    <a:srgbClr val="14262D"/>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62D"/>
                </a:solidFill>
                <a:latin typeface="Avenir Next"/>
                <a:ea typeface="Avenir Next"/>
                <a:cs typeface="Avenir Next"/>
              </a:defRPr>
            </a:pPr>
          </a:p>
        </c:txPr>
        <c:crossAx val="48672768"/>
      </c:catAx>
      <c:valAx>
        <c:axId val="48672768"/>
        <c:scaling>
          <c:orientation val="minMax"/>
          <c:max val="10"/>
          <c:min val="0"/>
        </c:scaling>
        <c:delete val="0"/>
        <c:axPos val="l"/>
        <c:majorGridlines>
          <c:spPr>
            <a:ln xmlns:a="http://schemas.openxmlformats.org/drawingml/2006/main" w="9525">
              <a:solidFill>
                <a:srgbClr val="CFCFC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62D"/>
                </a:solidFill>
                <a:latin typeface="Avenir Next"/>
                <a:ea typeface="Avenir Next"/>
                <a:cs typeface="Avenir Next"/>
              </a:defRPr>
            </a:pPr>
          </a:p>
        </c:txPr>
        <c:crossAx val="48650112"/>
        <c:crossBetween val="between"/>
        <c:majorUnit val="2"/>
      </c:valAx>
      <c:spPr>
        <a:solidFill xmlns:a="http://schemas.openxmlformats.org/drawingml/2006/main">
          <a:srgbClr val="F4F0E8"/>
        </a:solidFill>
      </c:spPr>
    </c:plotArea>
    <c:plotVisOnly val="1"/>
  </c:chart>
  <c:spPr>
    <a:solidFill xmlns:a="http://schemas.openxmlformats.org/drawingml/2006/main">
      <a:srgbClr val="F4F0E8"/>
    </a:solidFill>
  </c:spPr>
</c:chartSpace>
</file>

<file path=ppt/slides/charts/chart7.xml><?xml version="1.0" encoding="utf-8"?>
<c:chartSpace xmlns:c="http://schemas.openxmlformats.org/drawingml/2006/chart">
  <c:lang val="en-US"/>
  <c:chart>
    <c:plotArea>
      <c:barChart>
        <c:barDir val="col"/>
        <c:grouping val="clustered"/>
        <c:varyColors val="0"/>
        <c:ser>
          <c:idx val="0"/>
          <c:order val="0"/>
          <c:tx>
            <c:v>Current Dossier</c:v>
          </c:tx>
          <c:spPr>
            <a:solidFill xmlns:a="http://schemas.openxmlformats.org/drawingml/2006/main">
              <a:srgbClr val="7ED1BD"/>
            </a:solidFill>
          </c:spPr>
          <c:cat>
            <c:strLit>
              <c:ptCount val="2"/>
              <c:pt idx="0">
                <c:v>Viewer 82</c:v>
              </c:pt>
              <c:pt idx="1">
                <c:v>Viewer 484</c:v>
              </c:pt>
            </c:strLit>
          </c:cat>
          <c:val>
            <c:numLit>
              <c:formatCode>0.0%</c:formatCode>
              <c:ptCount val="2"/>
              <c:pt idx="0">
                <c:v>0.8301</c:v>
              </c:pt>
              <c:pt idx="1">
                <c:v>0.6903</c:v>
              </c:pt>
            </c:numLit>
          </c:val>
        </c:ser>
        <c:ser>
          <c:idx val="1"/>
          <c:order val="1"/>
          <c:tx>
            <c:v>Reviews + tags</c:v>
          </c:tx>
          <c:spPr>
            <a:solidFill xmlns:a="http://schemas.openxmlformats.org/drawingml/2006/main">
              <a:srgbClr val="E6B86A"/>
            </a:solidFill>
          </c:spPr>
          <c:cat>
            <c:strLit>
              <c:ptCount val="2"/>
              <c:pt idx="0">
                <c:v>Viewer 82</c:v>
              </c:pt>
              <c:pt idx="1">
                <c:v>Viewer 484</c:v>
              </c:pt>
            </c:strLit>
          </c:cat>
          <c:val>
            <c:numLit>
              <c:formatCode>0.0%</c:formatCode>
              <c:ptCount val="2"/>
              <c:pt idx="0">
                <c:v>0.5559</c:v>
              </c:pt>
              <c:pt idx="1">
                <c:v>0.5225</c:v>
              </c:pt>
            </c:numLit>
          </c:val>
        </c:ser>
        <c:dLbls>
          <c:txPr>
            <a:bodyPr xmlns:a="http://schemas.openxmlformats.org/drawingml/2006/main" anchorCtr="1"/>
            <a:lstStyle xmlns:a="http://schemas.openxmlformats.org/drawingml/2006/main"/>
            <a:p xmlns:a="http://schemas.openxmlformats.org/drawingml/2006/main">
              <a:pPr>
                <a:defRPr sz="1875" b="1">
                  <a:solidFill>
                    <a:srgbClr val="F4F0E8"/>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F4F0E8"/>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354B5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F4F0E8"/>
                </a:solidFill>
                <a:latin typeface="Avenir Next"/>
                <a:ea typeface="Avenir Next"/>
                <a:cs typeface="Avenir Next"/>
              </a:defRPr>
            </a:pPr>
          </a:p>
        </c:txPr>
        <c:crossAx val="48650112"/>
        <c:crossBetween val="between"/>
        <c:majorUnit val="0.2"/>
      </c:valAx>
      <c:spPr>
        <a:solidFill xmlns:a="http://schemas.openxmlformats.org/drawingml/2006/main">
          <a:srgbClr val="14262D"/>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F4F0E8"/>
              </a:solidFill>
              <a:latin typeface="Avenir Next"/>
              <a:ea typeface="Avenir Next"/>
              <a:cs typeface="Avenir Next"/>
            </a:defRPr>
          </a:pPr>
        </a:p>
      </c:txPr>
    </c:legend>
    <c:plotVisOnly val="1"/>
  </c:chart>
  <c:spPr>
    <a:solidFill xmlns:a="http://schemas.openxmlformats.org/drawingml/2006/main">
      <a:srgbClr val="14262D"/>
    </a:solidFill>
  </c:spPr>
</c:chartSpace>
</file>

<file path=ppt/slides/slide1.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8108A2-3E43-4827-A9B0-57EB3E92845A}"/>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8EABF0B-FBA3-45C6-8ACC-25CE0B9E9E5D}"/>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e566f13657f4aa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09365ED-9957-4FFF-8C46-1A58C7E017C2}"/>
              </a:ext>
            </a:extLst>
          </p:cNvPr>
          <p:cNvSpPr>
            <a:spLocks xmlns:a="http://schemas.openxmlformats.org/drawingml/2006/main" noGrp="1"/>
          </p:cNvSpPr>
          <p:nvPr/>
        </p:nvSpPr>
        <p:spPr>
          <a:xfrm xmlns:a="http://schemas.openxmlformats.org/drawingml/2006/main">
            <a:off x="609600" y="1143000"/>
            <a:ext cx="7429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F4F0E8"/>
                </a:solidFill>
                <a:latin typeface="Iowan Old Style"/>
                <a:ea typeface="Iowan Old Style"/>
                <a:cs typeface="Iowan Old Style"/>
              </a:defRPr>
            </a:pPr>
            <a:r>
              <a:rPr sz="5700" b="0">
                <a:solidFill>
                  <a:srgbClr val="F4F0E8"/>
                </a:solidFill>
                <a:latin typeface="Iowan Old Style"/>
                <a:ea typeface="Iowan Old Style"/>
                <a:cs typeface="Iowan Old Style"/>
              </a:rPr>
              <a:t>Learning who</a:t>
            </a:r>
          </a:p>
          <a:p xmlns:a="http://schemas.openxmlformats.org/drawingml/2006/main">
            <a:pPr>
              <a:defRPr sz="5700" b="0">
                <a:solidFill>
                  <a:srgbClr val="F4F0E8"/>
                </a:solidFill>
                <a:latin typeface="Iowan Old Style"/>
                <a:ea typeface="Iowan Old Style"/>
                <a:cs typeface="Iowan Old Style"/>
              </a:defRPr>
            </a:pPr>
            <a:r>
              <a:rPr sz="5700" b="0">
                <a:solidFill>
                  <a:srgbClr val="F4F0E8"/>
                </a:solidFill>
                <a:latin typeface="Iowan Old Style"/>
                <a:ea typeface="Iowan Old Style"/>
                <a:cs typeface="Iowan Old Style"/>
              </a:rPr>
              <a:t>a person is</a:t>
            </a:r>
          </a:p>
        </p:txBody>
      </p:sp>
      <p:sp>
        <p:nvSpPr>
          <p:cNvPr id="5" name="">
            <a:extLst xmlns:a="http://schemas.openxmlformats.org/drawingml/2006/main">
              <a:ext uri="{FF2B5EF4-FFF2-40B4-BE49-F238E27FC236}">
                <a16:creationId xmlns:a16="http://schemas.microsoft.com/office/drawing/2014/main" id="{285ECFCF-5F3E-4E3D-84C1-66E413DEEB79}"/>
              </a:ext>
            </a:extLst>
          </p:cNvPr>
          <p:cNvSpPr>
            <a:spLocks xmlns:a="http://schemas.openxmlformats.org/drawingml/2006/main" noGrp="1"/>
          </p:cNvSpPr>
          <p:nvPr/>
        </p:nvSpPr>
        <p:spPr>
          <a:xfrm xmlns:a="http://schemas.openxmlformats.org/drawingml/2006/main">
            <a:off x="647700" y="3505200"/>
            <a:ext cx="723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4F0E8"/>
                </a:solidFill>
                <a:latin typeface="Avenir Next"/>
                <a:ea typeface="Avenir Next"/>
                <a:cs typeface="Avenir Next"/>
              </a:defRPr>
            </a:pPr>
            <a:r>
              <a:rPr sz="2550" b="0">
                <a:solidFill>
                  <a:srgbClr val="F4F0E8"/>
                </a:solidFill>
                <a:latin typeface="Avenir Next"/>
                <a:ea typeface="Avenir Next"/>
                <a:cs typeface="Avenir Next"/>
              </a:rPr>
              <a:t>What Dossier’s experiments tell us</a:t>
            </a:r>
          </a:p>
          <a:p xmlns:a="http://schemas.openxmlformats.org/drawingml/2006/main">
            <a:pPr>
              <a:defRPr sz="2550" b="0">
                <a:solidFill>
                  <a:srgbClr val="F4F0E8"/>
                </a:solidFill>
                <a:latin typeface="Avenir Next"/>
                <a:ea typeface="Avenir Next"/>
                <a:cs typeface="Avenir Next"/>
              </a:defRPr>
            </a:pPr>
            <a:r>
              <a:rPr sz="2550" b="0">
                <a:solidFill>
                  <a:srgbClr val="F4F0E8"/>
                </a:solidFill>
                <a:latin typeface="Avenir Next"/>
                <a:ea typeface="Avenir Next"/>
                <a:cs typeface="Avenir Next"/>
              </a:rPr>
              <a:t>about better recommendations</a:t>
            </a:r>
          </a:p>
        </p:txBody>
      </p:sp>
      <p:sp>
        <p:nvSpPr>
          <p:cNvPr id="6" name="">
            <a:extLst xmlns:a="http://schemas.openxmlformats.org/drawingml/2006/main">
              <a:ext uri="{FF2B5EF4-FFF2-40B4-BE49-F238E27FC236}">
                <a16:creationId xmlns:a16="http://schemas.microsoft.com/office/drawing/2014/main" id="{CD84A1C3-EFA9-48A3-88A0-55A3BAE2992D}"/>
              </a:ext>
            </a:extLst>
          </p:cNvPr>
          <p:cNvSpPr>
            <a:spLocks xmlns:a="http://schemas.openxmlformats.org/drawingml/2006/main" noGrp="1"/>
          </p:cNvSpPr>
          <p:nvPr/>
        </p:nvSpPr>
        <p:spPr>
          <a:xfrm xmlns:a="http://schemas.openxmlformats.org/drawingml/2006/main">
            <a:off x="647700" y="5562600"/>
            <a:ext cx="714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7ED1BD"/>
                </a:solidFill>
                <a:latin typeface="Avenir Next"/>
                <a:ea typeface="Avenir Next"/>
                <a:cs typeface="Avenir Next"/>
              </a:defRPr>
            </a:pPr>
            <a:r>
              <a:rPr sz="1725" b="0">
                <a:solidFill>
                  <a:srgbClr val="7ED1BD"/>
                </a:solidFill>
                <a:latin typeface="Avenir Next"/>
                <a:ea typeface="Avenir Next"/>
                <a:cs typeface="Avenir Next"/>
              </a:rPr>
              <a:t>Leadership review</a:t>
            </a:r>
          </a:p>
          <a:p xmlns:a="http://schemas.openxmlformats.org/drawingml/2006/main">
            <a:pPr>
              <a:defRPr sz="1725" b="0">
                <a:solidFill>
                  <a:srgbClr val="7ED1BD"/>
                </a:solidFill>
                <a:latin typeface="Avenir Next"/>
                <a:ea typeface="Avenir Next"/>
                <a:cs typeface="Avenir Next"/>
              </a:defRPr>
            </a:pPr>
            <a:r>
              <a:rPr sz="1725" b="0">
                <a:solidFill>
                  <a:srgbClr val="7ED1BD"/>
                </a:solidFill>
                <a:latin typeface="Avenir Next"/>
                <a:ea typeface="Avenir Next"/>
                <a:cs typeface="Avenir Next"/>
              </a:rPr>
              <a:t>2 October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df52a2eeb9d4b9c"/>
          <a:stretch xmlns:a="http://schemas.openxmlformats.org/drawingml/2006/main"/>
        </p:blipFill>
        <p:spPr>
          <a:xfrm xmlns:a="http://schemas.openxmlformats.org/drawingml/2006/main">
            <a:off x="10668000" y="5429250"/>
            <a:ext cx="904875" cy="904875"/>
          </a:xfrm>
          <a:prstGeom xmlns:a="http://schemas.openxmlformats.org/drawingml/2006/main" prst="rect">
            <a:avLst/>
          </a:prstGeom>
        </p:spPr>
      </p:pic>
    </p:spTree>
    <p:extLst>
      <p:ext uri="{BB962C8B-B14F-4D97-AF65-F5344CB8AC3E}">
        <p14:creationId xmlns:p14="http://schemas.microsoft.com/office/powerpoint/2010/main" val="2077355207"/>
      </p:ext>
    </p:extLst>
  </p:cSld>
</p:sld>
</file>

<file path=ppt/slides/slide2.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6540EB2-6384-4B01-8A3F-77D1859149E4}"/>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We tested learning against answers kept hidden</a:t>
            </a:r>
          </a:p>
        </p:txBody>
      </p:sp>
      <p:sp>
        <p:nvSpPr>
          <p:cNvPr id="2" name="">
            <a:extLst xmlns:a="http://schemas.openxmlformats.org/drawingml/2006/main">
              <a:ext uri="{FF2B5EF4-FFF2-40B4-BE49-F238E27FC236}">
                <a16:creationId xmlns:a16="http://schemas.microsoft.com/office/drawing/2014/main" id="{4825A40D-D984-49A3-A118-40E016402B0E}"/>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The objective: learn from a few ratings, then suggest films that person actually likes.</a:t>
            </a:r>
          </a:p>
        </p:txBody>
      </p:sp>
      <p:sp>
        <p:nvSpPr>
          <p:cNvPr id="3" name="">
            <a:extLst xmlns:a="http://schemas.openxmlformats.org/drawingml/2006/main">
              <a:ext uri="{FF2B5EF4-FFF2-40B4-BE49-F238E27FC236}">
                <a16:creationId xmlns:a16="http://schemas.microsoft.com/office/drawing/2014/main" id="{21F826BB-5E03-4244-9526-2F1B06F5F813}"/>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02</a:t>
            </a:r>
          </a:p>
        </p:txBody>
      </p:sp>
      <p:sp>
        <p:nvSpPr>
          <p:cNvPr id="4" name="">
            <a:extLst xmlns:a="http://schemas.openxmlformats.org/drawingml/2006/main">
              <a:ext uri="{FF2B5EF4-FFF2-40B4-BE49-F238E27FC236}">
                <a16:creationId xmlns:a16="http://schemas.microsoft.com/office/drawing/2014/main" id="{E6AFC9DE-0388-4609-B29E-891AAC73EC1E}"/>
              </a:ext>
            </a:extLst>
          </p:cNvPr>
          <p:cNvSpPr>
            <a:spLocks xmlns:a="http://schemas.openxmlformats.org/drawingml/2006/main" noGrp="1"/>
          </p:cNvSpPr>
          <p:nvPr/>
        </p:nvSpPr>
        <p:spPr>
          <a:xfrm xmlns:a="http://schemas.openxmlformats.org/drawingml/2006/main">
            <a:off x="6096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01</a:t>
            </a:r>
          </a:p>
        </p:txBody>
      </p:sp>
      <p:sp>
        <p:nvSpPr>
          <p:cNvPr id="5" name="">
            <a:extLst xmlns:a="http://schemas.openxmlformats.org/drawingml/2006/main">
              <a:ext uri="{FF2B5EF4-FFF2-40B4-BE49-F238E27FC236}">
                <a16:creationId xmlns:a16="http://schemas.microsoft.com/office/drawing/2014/main" id="{A673E3EA-5CE2-4A18-9909-195986237105}"/>
              </a:ext>
            </a:extLst>
          </p:cNvPr>
          <p:cNvSpPr>
            <a:spLocks xmlns:a="http://schemas.openxmlformats.org/drawingml/2006/main" noGrp="1"/>
          </p:cNvSpPr>
          <p:nvPr/>
        </p:nvSpPr>
        <p:spPr>
          <a:xfrm xmlns:a="http://schemas.openxmlformats.org/drawingml/2006/main">
            <a:off x="6096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Known taste</a:t>
            </a:r>
          </a:p>
        </p:txBody>
      </p:sp>
      <p:sp>
        <p:nvSpPr>
          <p:cNvPr id="6" name="">
            <a:extLst xmlns:a="http://schemas.openxmlformats.org/drawingml/2006/main">
              <a:ext uri="{FF2B5EF4-FFF2-40B4-BE49-F238E27FC236}">
                <a16:creationId xmlns:a16="http://schemas.microsoft.com/office/drawing/2014/main" id="{A2DCF87F-54F8-4FD6-B9A1-44FF814CE8DF}"/>
              </a:ext>
            </a:extLst>
          </p:cNvPr>
          <p:cNvSpPr>
            <a:spLocks xmlns:a="http://schemas.openxmlformats.org/drawingml/2006/main" noGrp="1"/>
          </p:cNvSpPr>
          <p:nvPr/>
        </p:nvSpPr>
        <p:spPr>
          <a:xfrm xmlns:a="http://schemas.openxmlformats.org/drawingml/2006/main">
            <a:off x="6096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Start with recorded</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film ratings.</a:t>
            </a:r>
          </a:p>
        </p:txBody>
      </p:sp>
      <p:sp>
        <p:nvSpPr>
          <p:cNvPr id="7" name="">
            <a:extLst xmlns:a="http://schemas.openxmlformats.org/drawingml/2006/main">
              <a:ext uri="{FF2B5EF4-FFF2-40B4-BE49-F238E27FC236}">
                <a16:creationId xmlns:a16="http://schemas.microsoft.com/office/drawing/2014/main" id="{8623C262-FACA-4D5D-8213-544AA937C5CB}"/>
              </a:ext>
            </a:extLst>
          </p:cNvPr>
          <p:cNvSpPr>
            <a:spLocks xmlns:a="http://schemas.openxmlformats.org/drawingml/2006/main" noGrp="1"/>
          </p:cNvSpPr>
          <p:nvPr/>
        </p:nvSpPr>
        <p:spPr>
          <a:xfrm xmlns:a="http://schemas.openxmlformats.org/drawingml/2006/main">
            <a:off x="33909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02</a:t>
            </a:r>
          </a:p>
        </p:txBody>
      </p:sp>
      <p:sp>
        <p:nvSpPr>
          <p:cNvPr id="8" name="">
            <a:extLst xmlns:a="http://schemas.openxmlformats.org/drawingml/2006/main">
              <a:ext uri="{FF2B5EF4-FFF2-40B4-BE49-F238E27FC236}">
                <a16:creationId xmlns:a16="http://schemas.microsoft.com/office/drawing/2014/main" id="{719EBA72-D697-46C4-B478-7FE2EF7436C1}"/>
              </a:ext>
            </a:extLst>
          </p:cNvPr>
          <p:cNvSpPr>
            <a:spLocks xmlns:a="http://schemas.openxmlformats.org/drawingml/2006/main" noGrp="1"/>
          </p:cNvSpPr>
          <p:nvPr/>
        </p:nvSpPr>
        <p:spPr>
          <a:xfrm xmlns:a="http://schemas.openxmlformats.org/drawingml/2006/main">
            <a:off x="33909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Limited evidence</a:t>
            </a:r>
          </a:p>
        </p:txBody>
      </p:sp>
      <p:sp>
        <p:nvSpPr>
          <p:cNvPr id="9" name="">
            <a:extLst xmlns:a="http://schemas.openxmlformats.org/drawingml/2006/main">
              <a:ext uri="{FF2B5EF4-FFF2-40B4-BE49-F238E27FC236}">
                <a16:creationId xmlns:a16="http://schemas.microsoft.com/office/drawing/2014/main" id="{0BEE62A0-FD5D-4178-A089-596658F6C05B}"/>
              </a:ext>
            </a:extLst>
          </p:cNvPr>
          <p:cNvSpPr>
            <a:spLocks xmlns:a="http://schemas.openxmlformats.org/drawingml/2006/main" noGrp="1"/>
          </p:cNvSpPr>
          <p:nvPr/>
        </p:nvSpPr>
        <p:spPr>
          <a:xfrm xmlns:a="http://schemas.openxmlformats.org/drawingml/2006/main">
            <a:off x="33909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Reveal only a few</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through the CLI.</a:t>
            </a:r>
          </a:p>
        </p:txBody>
      </p:sp>
      <p:sp>
        <p:nvSpPr>
          <p:cNvPr id="10" name="">
            <a:extLst xmlns:a="http://schemas.openxmlformats.org/drawingml/2006/main">
              <a:ext uri="{FF2B5EF4-FFF2-40B4-BE49-F238E27FC236}">
                <a16:creationId xmlns:a16="http://schemas.microsoft.com/office/drawing/2014/main" id="{701AAF18-2BEC-4CB6-BB12-970521CA152B}"/>
              </a:ext>
            </a:extLst>
          </p:cNvPr>
          <p:cNvSpPr>
            <a:spLocks xmlns:a="http://schemas.openxmlformats.org/drawingml/2006/main" noGrp="1"/>
          </p:cNvSpPr>
          <p:nvPr/>
        </p:nvSpPr>
        <p:spPr>
          <a:xfrm xmlns:a="http://schemas.openxmlformats.org/drawingml/2006/main">
            <a:off x="61722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03</a:t>
            </a:r>
          </a:p>
        </p:txBody>
      </p:sp>
      <p:sp>
        <p:nvSpPr>
          <p:cNvPr id="11" name="">
            <a:extLst xmlns:a="http://schemas.openxmlformats.org/drawingml/2006/main">
              <a:ext uri="{FF2B5EF4-FFF2-40B4-BE49-F238E27FC236}">
                <a16:creationId xmlns:a16="http://schemas.microsoft.com/office/drawing/2014/main" id="{578681FC-A5B8-4994-B4BD-79503A97B5ED}"/>
              </a:ext>
            </a:extLst>
          </p:cNvPr>
          <p:cNvSpPr>
            <a:spLocks xmlns:a="http://schemas.openxmlformats.org/drawingml/2006/main" noGrp="1"/>
          </p:cNvSpPr>
          <p:nvPr/>
        </p:nvSpPr>
        <p:spPr>
          <a:xfrm xmlns:a="http://schemas.openxmlformats.org/drawingml/2006/main">
            <a:off x="61722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Film ranking</a:t>
            </a:r>
          </a:p>
        </p:txBody>
      </p:sp>
      <p:sp>
        <p:nvSpPr>
          <p:cNvPr id="12" name="">
            <a:extLst xmlns:a="http://schemas.openxmlformats.org/drawingml/2006/main">
              <a:ext uri="{FF2B5EF4-FFF2-40B4-BE49-F238E27FC236}">
                <a16:creationId xmlns:a16="http://schemas.microsoft.com/office/drawing/2014/main" id="{314E9368-417F-4DC7-89F4-92A634B1E448}"/>
              </a:ext>
            </a:extLst>
          </p:cNvPr>
          <p:cNvSpPr>
            <a:spLocks xmlns:a="http://schemas.openxmlformats.org/drawingml/2006/main" noGrp="1"/>
          </p:cNvSpPr>
          <p:nvPr/>
        </p:nvSpPr>
        <p:spPr>
          <a:xfrm xmlns:a="http://schemas.openxmlformats.org/drawingml/2006/main">
            <a:off x="61722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Ask Dossier to rank</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other rated films.</a:t>
            </a:r>
          </a:p>
        </p:txBody>
      </p:sp>
      <p:sp>
        <p:nvSpPr>
          <p:cNvPr id="13" name="">
            <a:extLst xmlns:a="http://schemas.openxmlformats.org/drawingml/2006/main">
              <a:ext uri="{FF2B5EF4-FFF2-40B4-BE49-F238E27FC236}">
                <a16:creationId xmlns:a16="http://schemas.microsoft.com/office/drawing/2014/main" id="{CF2BAC54-9960-4B86-9080-5671BC8DC861}"/>
              </a:ext>
            </a:extLst>
          </p:cNvPr>
          <p:cNvSpPr>
            <a:spLocks xmlns:a="http://schemas.openxmlformats.org/drawingml/2006/main" noGrp="1"/>
          </p:cNvSpPr>
          <p:nvPr/>
        </p:nvSpPr>
        <p:spPr>
          <a:xfrm xmlns:a="http://schemas.openxmlformats.org/drawingml/2006/main">
            <a:off x="89535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04</a:t>
            </a:r>
          </a:p>
        </p:txBody>
      </p:sp>
      <p:sp>
        <p:nvSpPr>
          <p:cNvPr id="14" name="">
            <a:extLst xmlns:a="http://schemas.openxmlformats.org/drawingml/2006/main">
              <a:ext uri="{FF2B5EF4-FFF2-40B4-BE49-F238E27FC236}">
                <a16:creationId xmlns:a16="http://schemas.microsoft.com/office/drawing/2014/main" id="{2880F156-6077-455B-A0C5-902C468D5096}"/>
              </a:ext>
            </a:extLst>
          </p:cNvPr>
          <p:cNvSpPr>
            <a:spLocks xmlns:a="http://schemas.openxmlformats.org/drawingml/2006/main" noGrp="1"/>
          </p:cNvSpPr>
          <p:nvPr/>
        </p:nvSpPr>
        <p:spPr>
          <a:xfrm xmlns:a="http://schemas.openxmlformats.org/drawingml/2006/main">
            <a:off x="89535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Hidden answers</a:t>
            </a:r>
          </a:p>
        </p:txBody>
      </p:sp>
      <p:sp>
        <p:nvSpPr>
          <p:cNvPr id="15" name="">
            <a:extLst xmlns:a="http://schemas.openxmlformats.org/drawingml/2006/main">
              <a:ext uri="{FF2B5EF4-FFF2-40B4-BE49-F238E27FC236}">
                <a16:creationId xmlns:a16="http://schemas.microsoft.com/office/drawing/2014/main" id="{0818B517-E7DE-43E9-B43D-3AC069B26CCF}"/>
              </a:ext>
            </a:extLst>
          </p:cNvPr>
          <p:cNvSpPr>
            <a:spLocks xmlns:a="http://schemas.openxmlformats.org/drawingml/2006/main" noGrp="1"/>
          </p:cNvSpPr>
          <p:nvPr/>
        </p:nvSpPr>
        <p:spPr>
          <a:xfrm xmlns:a="http://schemas.openxmlformats.org/drawingml/2006/main">
            <a:off x="89535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Check that liked films</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come before dislikes.</a:t>
            </a:r>
          </a:p>
        </p:txBody>
      </p:sp>
      <p:sp>
        <p:nvSpPr>
          <p:cNvPr id="16" name="">
            <a:extLst xmlns:a="http://schemas.openxmlformats.org/drawingml/2006/main">
              <a:ext uri="{FF2B5EF4-FFF2-40B4-BE49-F238E27FC236}">
                <a16:creationId xmlns:a16="http://schemas.microsoft.com/office/drawing/2014/main" id="{904D32C6-B863-4671-B75F-69EEE498148C}"/>
              </a:ext>
            </a:extLst>
          </p:cNvPr>
          <p:cNvSpPr>
            <a:spLocks xmlns:a="http://schemas.openxmlformats.org/drawingml/2006/main" noGrp="1"/>
          </p:cNvSpPr>
          <p:nvPr/>
        </p:nvSpPr>
        <p:spPr>
          <a:xfrm xmlns:a="http://schemas.openxmlformats.org/drawingml/2006/main">
            <a:off x="609600" y="526732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Invented tastes first. Then real films and 31, 47 and 30 different recorded viewers.</a:t>
            </a:r>
          </a:p>
        </p:txBody>
      </p:sp>
      <p:sp>
        <p:nvSpPr>
          <p:cNvPr id="17" name="">
            <a:extLst xmlns:a="http://schemas.openxmlformats.org/drawingml/2006/main">
              <a:ext uri="{FF2B5EF4-FFF2-40B4-BE49-F238E27FC236}">
                <a16:creationId xmlns:a16="http://schemas.microsoft.com/office/drawing/2014/main" id="{935C82D3-71AA-4D9C-A9FA-62F77D37B5DE}"/>
              </a:ext>
            </a:extLst>
          </p:cNvPr>
          <p:cNvSpPr>
            <a:spLocks xmlns:a="http://schemas.openxmlformats.org/drawingml/2006/main" noGrp="1"/>
          </p:cNvSpPr>
          <p:nvPr/>
        </p:nvSpPr>
        <p:spPr>
          <a:xfrm xmlns:a="http://schemas.openxmlformats.org/drawingml/2006/main">
            <a:off x="609600" y="6096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76B72"/>
                </a:solidFill>
                <a:latin typeface="Avenir Next"/>
                <a:ea typeface="Avenir Next"/>
                <a:cs typeface="Avenir Next"/>
              </a:defRPr>
            </a:pPr>
            <a:r>
              <a:rPr sz="1575" b="0">
                <a:solidFill>
                  <a:srgbClr val="576B72"/>
                </a:solidFill>
                <a:latin typeface="Avenir Next"/>
                <a:ea typeface="Avenir Next"/>
                <a:cs typeface="Avenir Next"/>
              </a:rPr>
              <a:t>CLI means the command tool we used to add ratings and inspect the model automatically.</a:t>
            </a:r>
          </a:p>
        </p:txBody>
      </p:sp>
    </p:spTree>
    <p:extLst>
      <p:ext uri="{BB962C8B-B14F-4D97-AF65-F5344CB8AC3E}">
        <p14:creationId xmlns:p14="http://schemas.microsoft.com/office/powerpoint/2010/main" val="174859155"/>
      </p:ext>
    </p:extLst>
  </p:cSld>
</p:sld>
</file>

<file path=ppt/slides/slide3.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98BD3B-D9BB-451F-818D-943FDA542B45}"/>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Real viewers changed the conclusion</a:t>
            </a:r>
          </a:p>
        </p:txBody>
      </p:sp>
      <p:sp>
        <p:nvSpPr>
          <p:cNvPr id="2" name="">
            <a:extLst xmlns:a="http://schemas.openxmlformats.org/drawingml/2006/main">
              <a:ext uri="{FF2B5EF4-FFF2-40B4-BE49-F238E27FC236}">
                <a16:creationId xmlns:a16="http://schemas.microsoft.com/office/drawing/2014/main" id="{2FECC794-10F4-455B-B9FE-0B6009E9D65C}"/>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Ordering score: how often a liked film comes before a disliked film. Higher is better.</a:t>
            </a:r>
          </a:p>
        </p:txBody>
      </p:sp>
      <p:sp>
        <p:nvSpPr>
          <p:cNvPr id="3" name="">
            <a:extLst xmlns:a="http://schemas.openxmlformats.org/drawingml/2006/main">
              <a:ext uri="{FF2B5EF4-FFF2-40B4-BE49-F238E27FC236}">
                <a16:creationId xmlns:a16="http://schemas.microsoft.com/office/drawing/2014/main" id="{A97FC0B3-1525-416D-AED9-CA92A950A6FF}"/>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03</a:t>
            </a:r>
          </a:p>
        </p:txBody>
      </p:sp>
      <p:sp>
        <p:nvSpPr>
          <p:cNvPr id="4" name="">
            <a:extLst xmlns:a="http://schemas.openxmlformats.org/drawingml/2006/main">
              <a:ext uri="{FF2B5EF4-FFF2-40B4-BE49-F238E27FC236}">
                <a16:creationId xmlns:a16="http://schemas.microsoft.com/office/drawing/2014/main" id="{32EF57E8-5C61-4143-8388-5F6C3AD469BC}"/>
              </a:ext>
            </a:extLst>
          </p:cNvPr>
          <p:cNvSpPr>
            <a:spLocks xmlns:a="http://schemas.openxmlformats.org/drawingml/2006/main" noGrp="1"/>
          </p:cNvSpPr>
          <p:nvPr/>
        </p:nvSpPr>
        <p:spPr>
          <a:xfrm xmlns:a="http://schemas.openxmlformats.org/drawingml/2006/main">
            <a:off x="609600" y="2314575"/>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450" b="1">
                <a:solidFill>
                  <a:srgbClr val="E6B86A"/>
                </a:solidFill>
                <a:latin typeface="Avenir Next"/>
                <a:ea typeface="Avenir Next"/>
                <a:cs typeface="Avenir Next"/>
              </a:defRPr>
            </a:pPr>
            <a:r>
              <a:rPr sz="6450" b="1">
                <a:solidFill>
                  <a:srgbClr val="E6B86A"/>
                </a:solidFill>
                <a:latin typeface="Avenir Next"/>
                <a:ea typeface="Avenir Next"/>
                <a:cs typeface="Avenir Next"/>
              </a:rPr>
              <a:t>98%</a:t>
            </a:r>
          </a:p>
        </p:txBody>
      </p:sp>
      <p:sp>
        <p:nvSpPr>
          <p:cNvPr id="5" name="">
            <a:extLst xmlns:a="http://schemas.openxmlformats.org/drawingml/2006/main">
              <a:ext uri="{FF2B5EF4-FFF2-40B4-BE49-F238E27FC236}">
                <a16:creationId xmlns:a16="http://schemas.microsoft.com/office/drawing/2014/main" id="{245A1734-21C9-4575-B018-0563F2B67D44}"/>
              </a:ext>
            </a:extLst>
          </p:cNvPr>
          <p:cNvSpPr>
            <a:spLocks xmlns:a="http://schemas.openxmlformats.org/drawingml/2006/main" noGrp="1"/>
          </p:cNvSpPr>
          <p:nvPr/>
        </p:nvSpPr>
        <p:spPr>
          <a:xfrm xmlns:a="http://schemas.openxmlformats.org/drawingml/2006/main">
            <a:off x="609600" y="3552825"/>
            <a:ext cx="390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after one rating</a:t>
            </a:r>
          </a:p>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for an easy invented person</a:t>
            </a:r>
          </a:p>
        </p:txBody>
      </p:sp>
      <p:sp>
        <p:nvSpPr>
          <p:cNvPr id="6" name="">
            <a:extLst xmlns:a="http://schemas.openxmlformats.org/drawingml/2006/main">
              <a:ext uri="{FF2B5EF4-FFF2-40B4-BE49-F238E27FC236}">
                <a16:creationId xmlns:a16="http://schemas.microsoft.com/office/drawing/2014/main" id="{200246FF-FC42-4410-8A56-AC319AE6B24B}"/>
              </a:ext>
            </a:extLst>
          </p:cNvPr>
          <p:cNvSpPr>
            <a:spLocks xmlns:a="http://schemas.openxmlformats.org/drawingml/2006/main" noGrp="1"/>
          </p:cNvSpPr>
          <p:nvPr/>
        </p:nvSpPr>
        <p:spPr>
          <a:xfrm xmlns:a="http://schemas.openxmlformats.org/drawingml/2006/main">
            <a:off x="609600" y="4676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BDD0CC"/>
                </a:solidFill>
                <a:latin typeface="Avenir Next"/>
                <a:ea typeface="Avenir Next"/>
                <a:cs typeface="Avenir Next"/>
              </a:defRPr>
            </a:pPr>
            <a:r>
              <a:rPr sz="1950" b="0">
                <a:solidFill>
                  <a:srgbClr val="BDD0CC"/>
                </a:solidFill>
                <a:latin typeface="Avenir Next"/>
                <a:ea typeface="Avenir Next"/>
                <a:cs typeface="Avenir Next"/>
              </a:rPr>
              <a:t>The test shared too many</a:t>
            </a:r>
          </a:p>
          <a:p xmlns:a="http://schemas.openxmlformats.org/drawingml/2006/main">
            <a:pPr>
              <a:defRPr sz="1950" b="0">
                <a:solidFill>
                  <a:srgbClr val="BDD0CC"/>
                </a:solidFill>
                <a:latin typeface="Avenir Next"/>
                <a:ea typeface="Avenir Next"/>
                <a:cs typeface="Avenir Next"/>
              </a:defRPr>
            </a:pPr>
            <a:r>
              <a:rPr sz="1950" b="0">
                <a:solidFill>
                  <a:srgbClr val="BDD0CC"/>
                </a:solidFill>
                <a:latin typeface="Avenir Next"/>
                <a:ea typeface="Avenir Next"/>
                <a:cs typeface="Avenir Next"/>
              </a:rPr>
              <a:t>of Dossier’s assumptions.</a:t>
            </a:r>
          </a:p>
        </p:txBody>
      </p:sp>
      <p:graphicFrame>
        <p:nvGraphicFramePr>
          <p:cNvPr id="15" name="Chart"/>
          <p:cNvGraphicFramePr/>
          <p:nvPr/>
        </p:nvGraphicFramePr>
        <p:xfrm>
          <a:off xmlns:a="http://schemas.openxmlformats.org/drawingml/2006/main" x="5029200" y="2286000"/>
          <a:ext xmlns:a="http://schemas.openxmlformats.org/drawingml/2006/main" cx="6238875" cy="2952750"/>
        </p:xfrm>
        <a:graphic xmlns:a="http://schemas.openxmlformats.org/drawingml/2006/main">
          <a:graphicData uri="http://schemas.openxmlformats.org/drawingml/2006/chart">
            <c:chart xmlns:r="http://schemas.openxmlformats.org/officeDocument/2006/relationships" xmlns:c="http://schemas.openxmlformats.org/drawingml/2006/chart" r:id="R9d616d3a2a274516"/>
          </a:graphicData>
        </a:graphic>
      </p:graphicFrame>
      <p:sp>
        <p:nvSpPr>
          <p:cNvPr id="8" name="">
            <a:extLst xmlns:a="http://schemas.openxmlformats.org/drawingml/2006/main">
              <a:ext uri="{FF2B5EF4-FFF2-40B4-BE49-F238E27FC236}">
                <a16:creationId xmlns:a16="http://schemas.microsoft.com/office/drawing/2014/main" id="{9AC5023C-168F-4343-81F8-AFB1D14D08A3}"/>
              </a:ext>
            </a:extLst>
          </p:cNvPr>
          <p:cNvSpPr>
            <a:spLocks xmlns:a="http://schemas.openxmlformats.org/drawingml/2006/main" noGrp="1"/>
          </p:cNvSpPr>
          <p:nvPr/>
        </p:nvSpPr>
        <p:spPr>
          <a:xfrm xmlns:a="http://schemas.openxmlformats.org/drawingml/2006/main">
            <a:off x="609600" y="58293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In the real-viewer test, public reviews found nearly two more liked films per ten.</a:t>
            </a:r>
          </a:p>
        </p:txBody>
      </p:sp>
    </p:spTree>
    <p:extLst>
      <p:ext uri="{BB962C8B-B14F-4D97-AF65-F5344CB8AC3E}">
        <p14:creationId xmlns:p14="http://schemas.microsoft.com/office/powerpoint/2010/main" val="2008657931"/>
      </p:ext>
    </p:extLst>
  </p:cSld>
</p:sld>
</file>

<file path=ppt/slides/slide4.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618613-0F0E-46DC-9B88-E455A14801DF}"/>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More ratings helped slowly and sometimes hurt</a:t>
            </a:r>
          </a:p>
        </p:txBody>
      </p:sp>
      <p:sp>
        <p:nvSpPr>
          <p:cNvPr id="2" name="">
            <a:extLst xmlns:a="http://schemas.openxmlformats.org/drawingml/2006/main">
              <a:ext uri="{FF2B5EF4-FFF2-40B4-BE49-F238E27FC236}">
                <a16:creationId xmlns:a16="http://schemas.microsoft.com/office/drawing/2014/main" id="{7ECF5BD1-F668-47F5-AF4B-962A58D90E29}"/>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Same 31 viewers, updated TMDB film details. Ordering score, higher is better.</a:t>
            </a:r>
          </a:p>
        </p:txBody>
      </p:sp>
      <p:sp>
        <p:nvSpPr>
          <p:cNvPr id="3" name="">
            <a:extLst xmlns:a="http://schemas.openxmlformats.org/drawingml/2006/main">
              <a:ext uri="{FF2B5EF4-FFF2-40B4-BE49-F238E27FC236}">
                <a16:creationId xmlns:a16="http://schemas.microsoft.com/office/drawing/2014/main" id="{C1A43E2B-6CD8-4940-BC18-C9E7E06A3B8F}"/>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04</a:t>
            </a:r>
          </a:p>
        </p:txBody>
      </p:sp>
      <p:graphicFrame>
        <p:nvGraphicFramePr>
          <p:cNvPr id="12" name="Chart"/>
          <p:cNvGraphicFramePr/>
          <p:nvPr/>
        </p:nvGraphicFramePr>
        <p:xfrm>
          <a:off xmlns:a="http://schemas.openxmlformats.org/drawingml/2006/main" x="609600" y="2276475"/>
          <a:ext xmlns:a="http://schemas.openxmlformats.org/drawingml/2006/main" cx="7524750" cy="3048000"/>
        </p:xfrm>
        <a:graphic xmlns:a="http://schemas.openxmlformats.org/drawingml/2006/main">
          <a:graphicData uri="http://schemas.openxmlformats.org/drawingml/2006/chart">
            <c:chart xmlns:r="http://schemas.openxmlformats.org/officeDocument/2006/relationships" xmlns:c="http://schemas.openxmlformats.org/drawingml/2006/chart" r:id="R6bd4c6c8070042f7"/>
          </a:graphicData>
        </a:graphic>
      </p:graphicFrame>
      <p:sp>
        <p:nvSpPr>
          <p:cNvPr id="5" name="">
            <a:extLst xmlns:a="http://schemas.openxmlformats.org/drawingml/2006/main">
              <a:ext uri="{FF2B5EF4-FFF2-40B4-BE49-F238E27FC236}">
                <a16:creationId xmlns:a16="http://schemas.microsoft.com/office/drawing/2014/main" id="{7B97D841-3CBD-415D-925F-60F1F422CC31}"/>
              </a:ext>
            </a:extLst>
          </p:cNvPr>
          <p:cNvSpPr>
            <a:spLocks xmlns:a="http://schemas.openxmlformats.org/drawingml/2006/main" noGrp="1"/>
          </p:cNvSpPr>
          <p:nvPr/>
        </p:nvSpPr>
        <p:spPr>
          <a:xfrm xmlns:a="http://schemas.openxmlformats.org/drawingml/2006/main">
            <a:off x="8553450" y="2266950"/>
            <a:ext cx="300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75" b="1">
                <a:solidFill>
                  <a:srgbClr val="DB624C"/>
                </a:solidFill>
                <a:latin typeface="Avenir Next"/>
                <a:ea typeface="Avenir Next"/>
                <a:cs typeface="Avenir Next"/>
              </a:defRPr>
            </a:pPr>
            <a:r>
              <a:rPr sz="3975" b="1">
                <a:solidFill>
                  <a:srgbClr val="DB624C"/>
                </a:solidFill>
                <a:latin typeface="Avenir Next"/>
                <a:ea typeface="Avenir Next"/>
                <a:cs typeface="Avenir Next"/>
              </a:rPr>
              <a:t>35 / 124</a:t>
            </a:r>
          </a:p>
        </p:txBody>
      </p:sp>
      <p:sp>
        <p:nvSpPr>
          <p:cNvPr id="6" name="">
            <a:extLst xmlns:a="http://schemas.openxmlformats.org/drawingml/2006/main">
              <a:ext uri="{FF2B5EF4-FFF2-40B4-BE49-F238E27FC236}">
                <a16:creationId xmlns:a16="http://schemas.microsoft.com/office/drawing/2014/main" id="{C42CCD4E-265D-4600-A121-C9D47E2CE0D5}"/>
              </a:ext>
            </a:extLst>
          </p:cNvPr>
          <p:cNvSpPr>
            <a:spLocks xmlns:a="http://schemas.openxmlformats.org/drawingml/2006/main" noGrp="1"/>
          </p:cNvSpPr>
          <p:nvPr/>
        </p:nvSpPr>
        <p:spPr>
          <a:xfrm xmlns:a="http://schemas.openxmlformats.org/drawingml/2006/main">
            <a:off x="8553450" y="3276600"/>
            <a:ext cx="3000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4262D"/>
                </a:solidFill>
                <a:latin typeface="Avenir Next"/>
                <a:ea typeface="Avenir Next"/>
                <a:cs typeface="Avenir Next"/>
              </a:defRPr>
            </a:pPr>
            <a:r>
              <a:rPr sz="1875" b="0">
                <a:solidFill>
                  <a:srgbClr val="14262D"/>
                </a:solidFill>
                <a:latin typeface="Avenir Next"/>
                <a:ea typeface="Avenir Next"/>
                <a:cs typeface="Avenir Next"/>
              </a:rPr>
              <a:t>sessions got worse</a:t>
            </a:r>
          </a:p>
          <a:p xmlns:a="http://schemas.openxmlformats.org/drawingml/2006/main">
            <a:pPr>
              <a:defRPr sz="1875" b="0">
                <a:solidFill>
                  <a:srgbClr val="14262D"/>
                </a:solidFill>
                <a:latin typeface="Avenir Next"/>
                <a:ea typeface="Avenir Next"/>
                <a:cs typeface="Avenir Next"/>
              </a:defRPr>
            </a:pPr>
            <a:r>
              <a:rPr sz="1875" b="0">
                <a:solidFill>
                  <a:srgbClr val="14262D"/>
                </a:solidFill>
                <a:latin typeface="Avenir Next"/>
                <a:ea typeface="Avenir Next"/>
                <a:cs typeface="Avenir Next"/>
              </a:rPr>
              <a:t>from 10 to 40 ratings</a:t>
            </a:r>
          </a:p>
        </p:txBody>
      </p:sp>
      <p:sp>
        <p:nvSpPr>
          <p:cNvPr id="7" name="">
            <a:extLst xmlns:a="http://schemas.openxmlformats.org/drawingml/2006/main">
              <a:ext uri="{FF2B5EF4-FFF2-40B4-BE49-F238E27FC236}">
                <a16:creationId xmlns:a16="http://schemas.microsoft.com/office/drawing/2014/main" id="{2EDA7486-062E-4A9B-8BBC-806C8DC8DF6F}"/>
              </a:ext>
            </a:extLst>
          </p:cNvPr>
          <p:cNvSpPr>
            <a:spLocks xmlns:a="http://schemas.openxmlformats.org/drawingml/2006/main" noGrp="1"/>
          </p:cNvSpPr>
          <p:nvPr/>
        </p:nvSpPr>
        <p:spPr>
          <a:xfrm xmlns:a="http://schemas.openxmlformats.org/drawingml/2006/main">
            <a:off x="8553450" y="4352925"/>
            <a:ext cx="30003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576B72"/>
                </a:solidFill>
                <a:latin typeface="Avenir Next"/>
                <a:ea typeface="Avenir Next"/>
                <a:cs typeface="Avenir Next"/>
              </a:defRPr>
            </a:pPr>
            <a:r>
              <a:rPr sz="1725" b="0">
                <a:solidFill>
                  <a:srgbClr val="576B72"/>
                </a:solidFill>
                <a:latin typeface="Avenir Next"/>
                <a:ea typeface="Avenir Next"/>
                <a:cs typeface="Avenir Next"/>
              </a:rPr>
              <a:t>Bad evidence hurt the mean:</a:t>
            </a:r>
          </a:p>
          <a:p xmlns:a="http://schemas.openxmlformats.org/drawingml/2006/main">
            <a:pPr>
              <a:defRPr sz="1725" b="0">
                <a:solidFill>
                  <a:srgbClr val="576B72"/>
                </a:solidFill>
                <a:latin typeface="Avenir Next"/>
                <a:ea typeface="Avenir Next"/>
                <a:cs typeface="Avenir Next"/>
              </a:defRPr>
            </a:pPr>
            <a:r>
              <a:rPr sz="1725" b="0">
                <a:solidFill>
                  <a:srgbClr val="576B72"/>
                </a:solidFill>
                <a:latin typeface="Avenir Next"/>
                <a:ea typeface="Avenir Next"/>
                <a:cs typeface="Avenir Next"/>
              </a:rPr>
              <a:t>ratings shuffled: −11 points</a:t>
            </a:r>
          </a:p>
          <a:p xmlns:a="http://schemas.openxmlformats.org/drawingml/2006/main">
            <a:pPr>
              <a:defRPr sz="1725" b="0">
                <a:solidFill>
                  <a:srgbClr val="576B72"/>
                </a:solidFill>
                <a:latin typeface="Avenir Next"/>
                <a:ea typeface="Avenir Next"/>
                <a:cs typeface="Avenir Next"/>
              </a:defRPr>
            </a:pPr>
            <a:r>
              <a:rPr sz="1725" b="0">
                <a:solidFill>
                  <a:srgbClr val="576B72"/>
                </a:solidFill>
                <a:latin typeface="Avenir Next"/>
                <a:ea typeface="Avenir Next"/>
                <a:cs typeface="Avenir Next"/>
              </a:rPr>
              <a:t>half reversed: −6.9 points</a:t>
            </a:r>
          </a:p>
        </p:txBody>
      </p:sp>
      <p:sp>
        <p:nvSpPr>
          <p:cNvPr id="8" name="">
            <a:extLst xmlns:a="http://schemas.openxmlformats.org/drawingml/2006/main">
              <a:ext uri="{FF2B5EF4-FFF2-40B4-BE49-F238E27FC236}">
                <a16:creationId xmlns:a16="http://schemas.microsoft.com/office/drawing/2014/main" id="{A5ACC68A-3337-41ED-9D6E-3A6C1EA75EEE}"/>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Adding ratings is not a reliable promise of better recommendations.</a:t>
            </a:r>
          </a:p>
        </p:txBody>
      </p:sp>
    </p:spTree>
    <p:extLst>
      <p:ext uri="{BB962C8B-B14F-4D97-AF65-F5344CB8AC3E}">
        <p14:creationId xmlns:p14="http://schemas.microsoft.com/office/powerpoint/2010/main" val="1104454263"/>
      </p:ext>
    </p:extLst>
  </p:cSld>
</p:sld>
</file>

<file path=ppt/slides/slide5.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323F11-ED53-4888-B17E-EB3D789463DB}"/>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Correcting claims did not guarantee better films</a:t>
            </a:r>
          </a:p>
        </p:txBody>
      </p:sp>
      <p:sp>
        <p:nvSpPr>
          <p:cNvPr id="2" name="">
            <a:extLst xmlns:a="http://schemas.openxmlformats.org/drawingml/2006/main">
              <a:ext uri="{FF2B5EF4-FFF2-40B4-BE49-F238E27FC236}">
                <a16:creationId xmlns:a16="http://schemas.microsoft.com/office/drawing/2014/main" id="{B615123C-ABE1-425C-B930-43D7EC75D7D0}"/>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The model can revise statements about taste. Its choice of questions still needs work.</a:t>
            </a:r>
          </a:p>
        </p:txBody>
      </p:sp>
      <p:sp>
        <p:nvSpPr>
          <p:cNvPr id="3" name="">
            <a:extLst xmlns:a="http://schemas.openxmlformats.org/drawingml/2006/main">
              <a:ext uri="{FF2B5EF4-FFF2-40B4-BE49-F238E27FC236}">
                <a16:creationId xmlns:a16="http://schemas.microsoft.com/office/drawing/2014/main" id="{818984AE-8E23-49D9-8945-D33F5FEC5246}"/>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05</a:t>
            </a:r>
          </a:p>
        </p:txBody>
      </p:sp>
      <p:graphicFrame>
        <p:nvGraphicFramePr>
          <p:cNvPr id="12" name="Chart"/>
          <p:cNvGraphicFramePr/>
          <p:nvPr/>
        </p:nvGraphicFramePr>
        <p:xfrm>
          <a:off xmlns:a="http://schemas.openxmlformats.org/drawingml/2006/main" x="609600" y="2200275"/>
          <a:ext xmlns:a="http://schemas.openxmlformats.org/drawingml/2006/main" cx="4000500" cy="2952750"/>
        </p:xfrm>
        <a:graphic xmlns:a="http://schemas.openxmlformats.org/drawingml/2006/main">
          <a:graphicData uri="http://schemas.openxmlformats.org/drawingml/2006/chart">
            <c:chart xmlns:r="http://schemas.openxmlformats.org/officeDocument/2006/relationships" xmlns:c="http://schemas.openxmlformats.org/drawingml/2006/chart" r:id="R6be681e3243e4b6c"/>
          </a:graphicData>
        </a:graphic>
      </p:graphicFrame>
      <p:sp>
        <p:nvSpPr>
          <p:cNvPr id="5" name="">
            <a:extLst xmlns:a="http://schemas.openxmlformats.org/drawingml/2006/main">
              <a:ext uri="{FF2B5EF4-FFF2-40B4-BE49-F238E27FC236}">
                <a16:creationId xmlns:a16="http://schemas.microsoft.com/office/drawing/2014/main" id="{C389A85A-6AB1-48C0-B49C-EF3544ED197B}"/>
              </a:ext>
            </a:extLst>
          </p:cNvPr>
          <p:cNvSpPr>
            <a:spLocks xmlns:a="http://schemas.openxmlformats.org/drawingml/2006/main" noGrp="1"/>
          </p:cNvSpPr>
          <p:nvPr/>
        </p:nvSpPr>
        <p:spPr>
          <a:xfrm xmlns:a="http://schemas.openxmlformats.org/drawingml/2006/main">
            <a:off x="1552575" y="3286125"/>
            <a:ext cx="22193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67B67"/>
                </a:solidFill>
                <a:latin typeface="Avenir Next"/>
                <a:ea typeface="Avenir Next"/>
                <a:cs typeface="Avenir Next"/>
              </a:defRPr>
            </a:pPr>
            <a:r>
              <a:rPr sz="3000" b="1">
                <a:solidFill>
                  <a:srgbClr val="267B67"/>
                </a:solidFill>
                <a:latin typeface="Avenir Next"/>
                <a:ea typeface="Avenir Next"/>
                <a:cs typeface="Avenir Next"/>
              </a:rPr>
              <a:t>26 / 28</a:t>
            </a:r>
          </a:p>
        </p:txBody>
      </p:sp>
      <p:sp>
        <p:nvSpPr>
          <p:cNvPr id="6" name="">
            <a:extLst xmlns:a="http://schemas.openxmlformats.org/drawingml/2006/main">
              <a:ext uri="{FF2B5EF4-FFF2-40B4-BE49-F238E27FC236}">
                <a16:creationId xmlns:a16="http://schemas.microsoft.com/office/drawing/2014/main" id="{24FF42FC-400E-4057-989C-22E8D86CE62C}"/>
              </a:ext>
            </a:extLst>
          </p:cNvPr>
          <p:cNvSpPr>
            <a:spLocks xmlns:a="http://schemas.openxmlformats.org/drawingml/2006/main" noGrp="1"/>
          </p:cNvSpPr>
          <p:nvPr/>
        </p:nvSpPr>
        <p:spPr>
          <a:xfrm xmlns:a="http://schemas.openxmlformats.org/drawingml/2006/main">
            <a:off x="771525" y="52101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14262D"/>
                </a:solidFill>
                <a:latin typeface="Avenir Next"/>
                <a:ea typeface="Avenir Next"/>
                <a:cs typeface="Avenir Next"/>
              </a:defRPr>
            </a:pPr>
            <a:r>
              <a:rPr sz="1950" b="1">
                <a:solidFill>
                  <a:srgbClr val="14262D"/>
                </a:solidFill>
                <a:latin typeface="Avenir Next"/>
                <a:ea typeface="Avenir Next"/>
                <a:cs typeface="Avenir Next"/>
              </a:rPr>
              <a:t>wrong claims corrected</a:t>
            </a:r>
          </a:p>
        </p:txBody>
      </p:sp>
      <p:graphicFrame>
        <p:nvGraphicFramePr>
          <p:cNvPr id="15" name="Chart"/>
          <p:cNvGraphicFramePr/>
          <p:nvPr/>
        </p:nvGraphicFramePr>
        <p:xfrm>
          <a:off xmlns:a="http://schemas.openxmlformats.org/drawingml/2006/main" x="5581650" y="2343150"/>
          <a:ext xmlns:a="http://schemas.openxmlformats.org/drawingml/2006/main" cx="5695950" cy="2876550"/>
        </p:xfrm>
        <a:graphic xmlns:a="http://schemas.openxmlformats.org/drawingml/2006/main">
          <a:graphicData uri="http://schemas.openxmlformats.org/drawingml/2006/chart">
            <c:chart xmlns:r="http://schemas.openxmlformats.org/officeDocument/2006/relationships" xmlns:c="http://schemas.openxmlformats.org/drawingml/2006/chart" r:id="Rbd1fdee15f264573"/>
          </a:graphicData>
        </a:graphic>
      </p:graphicFrame>
      <p:sp>
        <p:nvSpPr>
          <p:cNvPr id="8" name="">
            <a:extLst xmlns:a="http://schemas.openxmlformats.org/drawingml/2006/main">
              <a:ext uri="{FF2B5EF4-FFF2-40B4-BE49-F238E27FC236}">
                <a16:creationId xmlns:a16="http://schemas.microsoft.com/office/drawing/2014/main" id="{AF0EEA66-4038-41C5-9CAB-91B0C1C4EF82}"/>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People need better suggestions as well as more accurate statements about their taste.</a:t>
            </a:r>
          </a:p>
        </p:txBody>
      </p:sp>
    </p:spTree>
    <p:extLst>
      <p:ext uri="{BB962C8B-B14F-4D97-AF65-F5344CB8AC3E}">
        <p14:creationId xmlns:p14="http://schemas.microsoft.com/office/powerpoint/2010/main" val="706265400"/>
      </p:ext>
    </p:extLst>
  </p:cSld>
</p:sld>
</file>

<file path=ppt/slides/slide6.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AC843C-73DE-4857-9845-0C22504B2E36}"/>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Public reviews drove the strongest alternatives</a:t>
            </a:r>
          </a:p>
        </p:txBody>
      </p:sp>
      <p:sp>
        <p:nvSpPr>
          <p:cNvPr id="2" name="">
            <a:extLst xmlns:a="http://schemas.openxmlformats.org/drawingml/2006/main">
              <a:ext uri="{FF2B5EF4-FFF2-40B4-BE49-F238E27FC236}">
                <a16:creationId xmlns:a16="http://schemas.microsoft.com/office/drawing/2014/main" id="{C1BD9F3B-1F4F-471C-B151-476BE0E3DD8B}"/>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Same 31 viewers, after 20 ratings. Ordering score, higher is better.</a:t>
            </a:r>
          </a:p>
        </p:txBody>
      </p:sp>
      <p:sp>
        <p:nvSpPr>
          <p:cNvPr id="3" name="">
            <a:extLst xmlns:a="http://schemas.openxmlformats.org/drawingml/2006/main">
              <a:ext uri="{FF2B5EF4-FFF2-40B4-BE49-F238E27FC236}">
                <a16:creationId xmlns:a16="http://schemas.microsoft.com/office/drawing/2014/main" id="{4C8E1435-A7DA-448A-B038-34C3B54F7D46}"/>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06</a:t>
            </a:r>
          </a:p>
        </p:txBody>
      </p:sp>
      <p:graphicFrame>
        <p:nvGraphicFramePr>
          <p:cNvPr id="9" name="Chart"/>
          <p:cNvGraphicFramePr/>
          <p:nvPr/>
        </p:nvGraphicFramePr>
        <p:xfrm>
          <a:off xmlns:a="http://schemas.openxmlformats.org/drawingml/2006/main" x="609600" y="2247900"/>
          <a:ext xmlns:a="http://schemas.openxmlformats.org/drawingml/2006/main" cx="10572750" cy="3048000"/>
        </p:xfrm>
        <a:graphic xmlns:a="http://schemas.openxmlformats.org/drawingml/2006/main">
          <a:graphicData uri="http://schemas.openxmlformats.org/drawingml/2006/chart">
            <c:chart xmlns:r="http://schemas.openxmlformats.org/officeDocument/2006/relationships" xmlns:c="http://schemas.openxmlformats.org/drawingml/2006/chart" r:id="Rcd9d6cd763d34ed2"/>
          </a:graphicData>
        </a:graphic>
      </p:graphicFrame>
      <p:sp>
        <p:nvSpPr>
          <p:cNvPr id="5" name="">
            <a:extLst xmlns:a="http://schemas.openxmlformats.org/drawingml/2006/main">
              <a:ext uri="{FF2B5EF4-FFF2-40B4-BE49-F238E27FC236}">
                <a16:creationId xmlns:a16="http://schemas.microsoft.com/office/drawing/2014/main" id="{7433BB9F-489B-4EC5-B7BD-41EA542D824D}"/>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The 75% reviews / 25% tags method gained only 0.6 points. We tested it on new people.</a:t>
            </a:r>
          </a:p>
        </p:txBody>
      </p:sp>
    </p:spTree>
    <p:extLst>
      <p:ext uri="{BB962C8B-B14F-4D97-AF65-F5344CB8AC3E}">
        <p14:creationId xmlns:p14="http://schemas.microsoft.com/office/powerpoint/2010/main" val="466821856"/>
      </p:ext>
    </p:extLst>
  </p:cSld>
</p:sld>
</file>

<file path=ppt/slides/slide7.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0CF068-2626-4CE4-AD97-1F8A85906EF7}"/>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The small average benefit repeated</a:t>
            </a:r>
          </a:p>
        </p:txBody>
      </p:sp>
      <p:sp>
        <p:nvSpPr>
          <p:cNvPr id="2" name="">
            <a:extLst xmlns:a="http://schemas.openxmlformats.org/drawingml/2006/main">
              <a:ext uri="{FF2B5EF4-FFF2-40B4-BE49-F238E27FC236}">
                <a16:creationId xmlns:a16="http://schemas.microsoft.com/office/drawing/2014/main" id="{197FB458-6030-4872-95D0-DDA553E16927}"/>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47 previously unused viewers. Same unchanged reviews-plus-tags method, after 20 ratings.</a:t>
            </a:r>
          </a:p>
        </p:txBody>
      </p:sp>
      <p:sp>
        <p:nvSpPr>
          <p:cNvPr id="3" name="">
            <a:extLst xmlns:a="http://schemas.openxmlformats.org/drawingml/2006/main">
              <a:ext uri="{FF2B5EF4-FFF2-40B4-BE49-F238E27FC236}">
                <a16:creationId xmlns:a16="http://schemas.microsoft.com/office/drawing/2014/main" id="{BB8574D8-C11D-46F1-BB4F-70D2F2FF3BDC}"/>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07</a:t>
            </a:r>
          </a:p>
        </p:txBody>
      </p:sp>
      <p:graphicFrame>
        <p:nvGraphicFramePr>
          <p:cNvPr id="12" name="Chart"/>
          <p:cNvGraphicFramePr/>
          <p:nvPr/>
        </p:nvGraphicFramePr>
        <p:xfrm>
          <a:off xmlns:a="http://schemas.openxmlformats.org/drawingml/2006/main" x="609600" y="2305050"/>
          <a:ext xmlns:a="http://schemas.openxmlformats.org/drawingml/2006/main" cx="7381875" cy="3000375"/>
        </p:xfrm>
        <a:graphic xmlns:a="http://schemas.openxmlformats.org/drawingml/2006/main">
          <a:graphicData uri="http://schemas.openxmlformats.org/drawingml/2006/chart">
            <c:chart xmlns:r="http://schemas.openxmlformats.org/officeDocument/2006/relationships" xmlns:c="http://schemas.openxmlformats.org/drawingml/2006/chart" r:id="R19d7e88220de4a48"/>
          </a:graphicData>
        </a:graphic>
      </p:graphicFrame>
      <p:sp>
        <p:nvSpPr>
          <p:cNvPr id="5" name="">
            <a:extLst xmlns:a="http://schemas.openxmlformats.org/drawingml/2006/main">
              <a:ext uri="{FF2B5EF4-FFF2-40B4-BE49-F238E27FC236}">
                <a16:creationId xmlns:a16="http://schemas.microsoft.com/office/drawing/2014/main" id="{07CE396E-EE91-48F8-8CA4-A0E296802938}"/>
              </a:ext>
            </a:extLst>
          </p:cNvPr>
          <p:cNvSpPr>
            <a:spLocks xmlns:a="http://schemas.openxmlformats.org/drawingml/2006/main" noGrp="1"/>
          </p:cNvSpPr>
          <p:nvPr/>
        </p:nvSpPr>
        <p:spPr>
          <a:xfrm xmlns:a="http://schemas.openxmlformats.org/drawingml/2006/main">
            <a:off x="8553450" y="2552700"/>
            <a:ext cx="300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267B67"/>
                </a:solidFill>
                <a:latin typeface="Avenir Next"/>
                <a:ea typeface="Avenir Next"/>
                <a:cs typeface="Avenir Next"/>
              </a:defRPr>
            </a:pPr>
            <a:r>
              <a:rPr sz="4350" b="1">
                <a:solidFill>
                  <a:srgbClr val="267B67"/>
                </a:solidFill>
                <a:latin typeface="Avenir Next"/>
                <a:ea typeface="Avenir Next"/>
                <a:cs typeface="Avenir Next"/>
              </a:rPr>
              <a:t>1 extra</a:t>
            </a:r>
          </a:p>
        </p:txBody>
      </p:sp>
      <p:sp>
        <p:nvSpPr>
          <p:cNvPr id="6" name="">
            <a:extLst xmlns:a="http://schemas.openxmlformats.org/drawingml/2006/main">
              <a:ext uri="{FF2B5EF4-FFF2-40B4-BE49-F238E27FC236}">
                <a16:creationId xmlns:a16="http://schemas.microsoft.com/office/drawing/2014/main" id="{8B6287CB-29C5-4140-884D-C1048D365422}"/>
              </a:ext>
            </a:extLst>
          </p:cNvPr>
          <p:cNvSpPr>
            <a:spLocks xmlns:a="http://schemas.openxmlformats.org/drawingml/2006/main" noGrp="1"/>
          </p:cNvSpPr>
          <p:nvPr/>
        </p:nvSpPr>
        <p:spPr>
          <a:xfrm xmlns:a="http://schemas.openxmlformats.org/drawingml/2006/main">
            <a:off x="8553450" y="3524250"/>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62D"/>
                </a:solidFill>
                <a:latin typeface="Avenir Next"/>
                <a:ea typeface="Avenir Next"/>
                <a:cs typeface="Avenir Next"/>
              </a:defRPr>
            </a:pPr>
            <a:r>
              <a:rPr sz="2250" b="0">
                <a:solidFill>
                  <a:srgbClr val="14262D"/>
                </a:solidFill>
                <a:latin typeface="Avenir Next"/>
                <a:ea typeface="Avenir Next"/>
                <a:cs typeface="Avenir Next"/>
              </a:rPr>
              <a:t>liked film per</a:t>
            </a:r>
          </a:p>
          <a:p xmlns:a="http://schemas.openxmlformats.org/drawingml/2006/main">
            <a:pPr>
              <a:defRPr sz="2250" b="0">
                <a:solidFill>
                  <a:srgbClr val="14262D"/>
                </a:solidFill>
                <a:latin typeface="Avenir Next"/>
                <a:ea typeface="Avenir Next"/>
                <a:cs typeface="Avenir Next"/>
              </a:defRPr>
            </a:pPr>
            <a:r>
              <a:rPr sz="2250" b="0">
                <a:solidFill>
                  <a:srgbClr val="14262D"/>
                </a:solidFill>
                <a:latin typeface="Avenir Next"/>
                <a:ea typeface="Avenir Next"/>
                <a:cs typeface="Avenir Next"/>
              </a:rPr>
              <a:t>40 suggestions</a:t>
            </a:r>
          </a:p>
        </p:txBody>
      </p:sp>
      <p:sp>
        <p:nvSpPr>
          <p:cNvPr id="7" name="">
            <a:extLst xmlns:a="http://schemas.openxmlformats.org/drawingml/2006/main">
              <a:ext uri="{FF2B5EF4-FFF2-40B4-BE49-F238E27FC236}">
                <a16:creationId xmlns:a16="http://schemas.microsoft.com/office/drawing/2014/main" id="{51119C8F-6D54-45D3-9A58-48E633B4BE01}"/>
              </a:ext>
            </a:extLst>
          </p:cNvPr>
          <p:cNvSpPr>
            <a:spLocks xmlns:a="http://schemas.openxmlformats.org/drawingml/2006/main" noGrp="1"/>
          </p:cNvSpPr>
          <p:nvPr/>
        </p:nvSpPr>
        <p:spPr>
          <a:xfrm xmlns:a="http://schemas.openxmlformats.org/drawingml/2006/main">
            <a:off x="8553450" y="4686300"/>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on average in this test</a:t>
            </a:r>
          </a:p>
        </p:txBody>
      </p:sp>
      <p:sp>
        <p:nvSpPr>
          <p:cNvPr id="8" name="">
            <a:extLst xmlns:a="http://schemas.openxmlformats.org/drawingml/2006/main">
              <a:ext uri="{FF2B5EF4-FFF2-40B4-BE49-F238E27FC236}">
                <a16:creationId xmlns:a16="http://schemas.microsoft.com/office/drawing/2014/main" id="{177FF0D1-1F47-462E-A140-BCF516CA946A}"/>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The benefit is credible enough to keep testing. It is modest for an individual user.</a:t>
            </a:r>
          </a:p>
        </p:txBody>
      </p:sp>
    </p:spTree>
    <p:extLst>
      <p:ext uri="{BB962C8B-B14F-4D97-AF65-F5344CB8AC3E}">
        <p14:creationId xmlns:p14="http://schemas.microsoft.com/office/powerpoint/2010/main" val="1788276149"/>
      </p:ext>
    </p:extLst>
  </p:cSld>
</p:sld>
</file>

<file path=ppt/slides/slide8.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F4BC07-61A1-4099-B9F6-D13E30ADD134}"/>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Some people need a very different ranking</a:t>
            </a:r>
          </a:p>
        </p:txBody>
      </p:sp>
      <p:sp>
        <p:nvSpPr>
          <p:cNvPr id="2" name="">
            <a:extLst xmlns:a="http://schemas.openxmlformats.org/drawingml/2006/main">
              <a:ext uri="{FF2B5EF4-FFF2-40B4-BE49-F238E27FC236}">
                <a16:creationId xmlns:a16="http://schemas.microsoft.com/office/drawing/2014/main" id="{35F36A7F-D49B-4010-A9F8-A62BF5E3F691}"/>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Two viewers from the 47-person check, after 20 ratings. Ordering score, higher is better.</a:t>
            </a:r>
          </a:p>
        </p:txBody>
      </p:sp>
      <p:sp>
        <p:nvSpPr>
          <p:cNvPr id="3" name="">
            <a:extLst xmlns:a="http://schemas.openxmlformats.org/drawingml/2006/main">
              <a:ext uri="{FF2B5EF4-FFF2-40B4-BE49-F238E27FC236}">
                <a16:creationId xmlns:a16="http://schemas.microsoft.com/office/drawing/2014/main" id="{6CCC2B40-821B-4D7E-B861-406EC99237BD}"/>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08</a:t>
            </a:r>
          </a:p>
        </p:txBody>
      </p:sp>
      <p:graphicFrame>
        <p:nvGraphicFramePr>
          <p:cNvPr id="9" name="Chart"/>
          <p:cNvGraphicFramePr/>
          <p:nvPr/>
        </p:nvGraphicFramePr>
        <p:xfrm>
          <a:off xmlns:a="http://schemas.openxmlformats.org/drawingml/2006/main" x="609600" y="2238375"/>
          <a:ext xmlns:a="http://schemas.openxmlformats.org/drawingml/2006/main" cx="10572750" cy="3143250"/>
        </p:xfrm>
        <a:graphic xmlns:a="http://schemas.openxmlformats.org/drawingml/2006/main">
          <a:graphicData uri="http://schemas.openxmlformats.org/drawingml/2006/chart">
            <c:chart xmlns:r="http://schemas.openxmlformats.org/officeDocument/2006/relationships" xmlns:c="http://schemas.openxmlformats.org/drawingml/2006/chart" r:id="Rd7dd46e1ca194c8b"/>
          </a:graphicData>
        </a:graphic>
      </p:graphicFrame>
      <p:sp>
        <p:nvSpPr>
          <p:cNvPr id="5" name="">
            <a:extLst xmlns:a="http://schemas.openxmlformats.org/drawingml/2006/main">
              <a:ext uri="{FF2B5EF4-FFF2-40B4-BE49-F238E27FC236}">
                <a16:creationId xmlns:a16="http://schemas.microsoft.com/office/drawing/2014/main" id="{33BE6452-9FAE-4301-AEC7-C13CC1B55758}"/>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Changing everyone to the average winner would lose useful personalisation for these people.</a:t>
            </a:r>
          </a:p>
        </p:txBody>
      </p:sp>
    </p:spTree>
    <p:extLst>
      <p:ext uri="{BB962C8B-B14F-4D97-AF65-F5344CB8AC3E}">
        <p14:creationId xmlns:p14="http://schemas.microsoft.com/office/powerpoint/2010/main" val="1721512750"/>
      </p:ext>
    </p:extLst>
  </p:cSld>
</p:sld>
</file>

<file path=ppt/slides/slide9.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348670-B0AD-43CB-BAED-104E4A4B318F}"/>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We found how the worst learning failures happen</a:t>
            </a:r>
          </a:p>
        </p:txBody>
      </p:sp>
      <p:sp>
        <p:nvSpPr>
          <p:cNvPr id="2" name="">
            <a:extLst xmlns:a="http://schemas.openxmlformats.org/drawingml/2006/main">
              <a:ext uri="{FF2B5EF4-FFF2-40B4-BE49-F238E27FC236}">
                <a16:creationId xmlns:a16="http://schemas.microsoft.com/office/drawing/2014/main" id="{51BA7CFB-5D1A-48AA-9FD6-4EECB4100249}"/>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Five reproduced sessions. Ordering score fell sharply as the same people gave more ratings.</a:t>
            </a:r>
          </a:p>
        </p:txBody>
      </p:sp>
      <p:sp>
        <p:nvSpPr>
          <p:cNvPr id="3" name="">
            <a:extLst xmlns:a="http://schemas.openxmlformats.org/drawingml/2006/main">
              <a:ext uri="{FF2B5EF4-FFF2-40B4-BE49-F238E27FC236}">
                <a16:creationId xmlns:a16="http://schemas.microsoft.com/office/drawing/2014/main" id="{CF09DD81-D865-40A4-ABBB-23C984D80FFF}"/>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09</a:t>
            </a:r>
          </a:p>
        </p:txBody>
      </p:sp>
      <p:graphicFrame>
        <p:nvGraphicFramePr>
          <p:cNvPr id="12" name=""/>
          <p:cNvGraphicFramePr/>
          <p:nvPr/>
        </p:nvGraphicFramePr>
        <p:xfrm>
          <a:off xmlns:a="http://schemas.openxmlformats.org/drawingml/2006/main" x="609600" y="2162175"/>
          <a:ext xmlns:a="http://schemas.openxmlformats.org/drawingml/2006/main" cx="6210300" cy="3333750"/>
        </p:xfrm>
        <a:graphic xmlns:a="http://schemas.openxmlformats.org/drawingml/2006/main">
          <a:graphicData uri="http://schemas.openxmlformats.org/drawingml/2006/table">
            <a:tbl>
              <a:tblPr firstRow="0" bandRow="0"/>
              <a:tblGrid>
                <a:gridCol w="3257550"/>
                <a:gridCol w="1476375"/>
                <a:gridCol w="1476375"/>
              </a:tblGrid>
              <a:tr h="555625">
                <a:tc>
                  <a:txBody>
                    <a:bodyPr lIns="95250" tIns="19050" rIns="95250" bIns="19050">
                      <a:noAutofit/>
                    </a:bodyPr>
                    <a:lstStyle/>
                    <a:p>
                      <a:r>
                        <a:rPr sz="1875" b="1">
                          <a:solidFill>
                            <a:srgbClr val="F4F0E8"/>
                          </a:solidFill>
                          <a:latin typeface="Avenir Next"/>
                          <a:ea typeface="Avenir Next"/>
                          <a:cs typeface="Avenir Next"/>
                        </a:rPr>
                        <a:t>Viewer / rating order</a:t>
                      </a:r>
                    </a:p>
                  </a:txBody>
                  <a:tcPr marL="91440" marR="91440" marT="45720" marB="45720" anchor="ctr">
                    <a:solidFill>
                      <a:srgbClr val="14262D"/>
                    </a:solidFill>
                  </a:tcPr>
                </a:tc>
                <a:tc>
                  <a:txBody>
                    <a:bodyPr lIns="95250" tIns="19050" rIns="95250" bIns="19050">
                      <a:noAutofit/>
                    </a:bodyPr>
                    <a:lstStyle/>
                    <a:p>
                      <a:r>
                        <a:rPr sz="1875" b="1">
                          <a:solidFill>
                            <a:srgbClr val="F4F0E8"/>
                          </a:solidFill>
                          <a:latin typeface="Avenir Next"/>
                          <a:ea typeface="Avenir Next"/>
                          <a:cs typeface="Avenir Next"/>
                        </a:rPr>
                        <a:t>10 ratings</a:t>
                      </a:r>
                    </a:p>
                  </a:txBody>
                  <a:tcPr marL="91440" marR="91440" marT="45720" marB="45720" anchor="ctr">
                    <a:solidFill>
                      <a:srgbClr val="14262D"/>
                    </a:solidFill>
                  </a:tcPr>
                </a:tc>
                <a:tc>
                  <a:txBody>
                    <a:bodyPr lIns="95250" tIns="19050" rIns="95250" bIns="19050">
                      <a:noAutofit/>
                    </a:bodyPr>
                    <a:lstStyle/>
                    <a:p>
                      <a:r>
                        <a:rPr sz="1875" b="1">
                          <a:solidFill>
                            <a:srgbClr val="F4F0E8"/>
                          </a:solidFill>
                          <a:latin typeface="Avenir Next"/>
                          <a:ea typeface="Avenir Next"/>
                          <a:cs typeface="Avenir Next"/>
                        </a:rPr>
                        <a:t>40 ratings</a:t>
                      </a:r>
                    </a:p>
                  </a:txBody>
                  <a:tcPr marL="91440" marR="91440" marT="45720" marB="45720" anchor="ctr">
                    <a:solidFill>
                      <a:srgbClr val="14262D"/>
                    </a:solidFill>
                  </a:tcPr>
                </a:tc>
              </a:tr>
              <a:tr h="555625">
                <a:tc>
                  <a:txBody>
                    <a:bodyPr lIns="95250" tIns="19050" rIns="95250" bIns="19050">
                      <a:noAutofit/>
                    </a:bodyPr>
                    <a:lstStyle/>
                    <a:p>
                      <a:r>
                        <a:rPr sz="1875" b="1">
                          <a:solidFill>
                            <a:srgbClr val="14262D"/>
                          </a:solidFill>
                          <a:latin typeface="Avenir Next"/>
                          <a:ea typeface="Avenir Next"/>
                          <a:cs typeface="Avenir Next"/>
                        </a:rPr>
                        <a:t>21 / 83</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67.2%</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37.7%</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177 / 11</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79.4%</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55.5%</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483 / 83</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51.1%</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28.3%</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21 / 11</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68.7%</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46.3%</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603 / 29</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70.4%</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49.0%</a:t>
                      </a:r>
                    </a:p>
                  </a:txBody>
                  <a:tcPr marL="91440" marR="91440" marT="45720" marB="45720" anchor="ctr">
                    <a:solidFill>
                      <a:srgbClr val="F4F0E8"/>
                    </a:solidFill>
                  </a:tcPr>
                </a:tc>
              </a:tr>
            </a:tbl>
          </a:graphicData>
        </a:graphic>
      </p:graphicFrame>
      <p:sp>
        <p:nvSpPr>
          <p:cNvPr id="5" name="">
            <a:extLst xmlns:a="http://schemas.openxmlformats.org/drawingml/2006/main">
              <a:ext uri="{FF2B5EF4-FFF2-40B4-BE49-F238E27FC236}">
                <a16:creationId xmlns:a16="http://schemas.microsoft.com/office/drawing/2014/main" id="{56D5CC00-5394-4B30-8CBA-4F068CD99AF6}"/>
              </a:ext>
            </a:extLst>
          </p:cNvPr>
          <p:cNvSpPr>
            <a:spLocks xmlns:a="http://schemas.openxmlformats.org/drawingml/2006/main" noGrp="1"/>
          </p:cNvSpPr>
          <p:nvPr/>
        </p:nvSpPr>
        <p:spPr>
          <a:xfrm xmlns:a="http://schemas.openxmlformats.org/drawingml/2006/main">
            <a:off x="7419975" y="2238375"/>
            <a:ext cx="4048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DB624C"/>
                </a:solidFill>
                <a:latin typeface="Avenir Next"/>
                <a:ea typeface="Avenir Next"/>
                <a:cs typeface="Avenir Next"/>
              </a:defRPr>
            </a:pPr>
            <a:r>
              <a:rPr sz="2250" b="1">
                <a:solidFill>
                  <a:srgbClr val="DB624C"/>
                </a:solidFill>
                <a:latin typeface="Avenir Next"/>
                <a:ea typeface="Avenir Next"/>
                <a:cs typeface="Avenir Next"/>
              </a:rPr>
              <a:t>Similarity spreads too far</a:t>
            </a:r>
          </a:p>
        </p:txBody>
      </p:sp>
      <p:sp>
        <p:nvSpPr>
          <p:cNvPr id="6" name="">
            <a:extLst xmlns:a="http://schemas.openxmlformats.org/drawingml/2006/main">
              <a:ext uri="{FF2B5EF4-FFF2-40B4-BE49-F238E27FC236}">
                <a16:creationId xmlns:a16="http://schemas.microsoft.com/office/drawing/2014/main" id="{0DBD9D71-448A-4583-BC95-2589F587EA66}"/>
              </a:ext>
            </a:extLst>
          </p:cNvPr>
          <p:cNvSpPr>
            <a:spLocks xmlns:a="http://schemas.openxmlformats.org/drawingml/2006/main" noGrp="1"/>
          </p:cNvSpPr>
          <p:nvPr/>
        </p:nvSpPr>
        <p:spPr>
          <a:xfrm xmlns:a="http://schemas.openxmlformats.org/drawingml/2006/main">
            <a:off x="7419975" y="3028950"/>
            <a:ext cx="4048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62D"/>
                </a:solidFill>
                <a:latin typeface="Avenir Next"/>
                <a:ea typeface="Avenir Next"/>
                <a:cs typeface="Avenir Next"/>
              </a:defRPr>
            </a:pPr>
            <a:r>
              <a:rPr sz="2025" b="0">
                <a:solidFill>
                  <a:srgbClr val="14262D"/>
                </a:solidFill>
                <a:latin typeface="Avenir Next"/>
                <a:ea typeface="Avenir Next"/>
                <a:cs typeface="Avenir Next"/>
              </a:rPr>
              <a:t>A like for The Fellowship of the Ring boosts disliked Fantastic Four ahead of liked Adaptation.</a:t>
            </a:r>
          </a:p>
        </p:txBody>
      </p:sp>
      <p:sp>
        <p:nvSpPr>
          <p:cNvPr id="7" name="">
            <a:extLst xmlns:a="http://schemas.openxmlformats.org/drawingml/2006/main">
              <a:ext uri="{FF2B5EF4-FFF2-40B4-BE49-F238E27FC236}">
                <a16:creationId xmlns:a16="http://schemas.microsoft.com/office/drawing/2014/main" id="{26D844D7-2190-41DA-AE58-AD3D79DA5CE3}"/>
              </a:ext>
            </a:extLst>
          </p:cNvPr>
          <p:cNvSpPr>
            <a:spLocks xmlns:a="http://schemas.openxmlformats.org/drawingml/2006/main" noGrp="1"/>
          </p:cNvSpPr>
          <p:nvPr/>
        </p:nvSpPr>
        <p:spPr>
          <a:xfrm xmlns:a="http://schemas.openxmlformats.org/drawingml/2006/main">
            <a:off x="7419975" y="4686300"/>
            <a:ext cx="4048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76B72"/>
                </a:solidFill>
                <a:latin typeface="Avenir Next"/>
                <a:ea typeface="Avenir Next"/>
                <a:cs typeface="Avenir Next"/>
              </a:defRPr>
            </a:pPr>
            <a:r>
              <a:rPr sz="1950" b="0">
                <a:solidFill>
                  <a:srgbClr val="576B72"/>
                </a:solidFill>
                <a:latin typeface="Avenir Next"/>
                <a:ea typeface="Avenir Next"/>
                <a:cs typeface="Avenir Next"/>
              </a:rPr>
              <a:t>The same 40 ratings in a different order also changed the result.</a:t>
            </a:r>
          </a:p>
        </p:txBody>
      </p:sp>
      <p:sp>
        <p:nvSpPr>
          <p:cNvPr id="8" name="">
            <a:extLst xmlns:a="http://schemas.openxmlformats.org/drawingml/2006/main">
              <a:ext uri="{FF2B5EF4-FFF2-40B4-BE49-F238E27FC236}">
                <a16:creationId xmlns:a16="http://schemas.microsoft.com/office/drawing/2014/main" id="{94D515AC-4E3F-4ADA-A40E-F083F160AB9A}"/>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More evidence can reinforce a wrong match. Rating order can also change who Dossier thinks you are.</a:t>
            </a:r>
          </a:p>
        </p:txBody>
      </p:sp>
    </p:spTree>
    <p:extLst>
      <p:ext uri="{BB962C8B-B14F-4D97-AF65-F5344CB8AC3E}">
        <p14:creationId xmlns:p14="http://schemas.microsoft.com/office/powerpoint/2010/main" val="1649036763"/>
      </p:ext>
    </p:extLst>
  </p:cSld>
</p:sld>
</file>

<file path=ppt/slides/slide10.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198C34C-75ED-413C-98D8-CD2B71BD2CAC}"/>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The protection rule is not ready</a:t>
            </a:r>
          </a:p>
        </p:txBody>
      </p:sp>
      <p:sp>
        <p:nvSpPr>
          <p:cNvPr id="2" name="">
            <a:extLst xmlns:a="http://schemas.openxmlformats.org/drawingml/2006/main">
              <a:ext uri="{FF2B5EF4-FFF2-40B4-BE49-F238E27FC236}">
                <a16:creationId xmlns:a16="http://schemas.microsoft.com/office/drawing/2014/main" id="{87703291-6110-455F-9B46-54CC36F8FF5F}"/>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30 new viewers, four sessions each. The rule chose when to trust current Dossier over reviews plus tags.</a:t>
            </a:r>
          </a:p>
        </p:txBody>
      </p:sp>
      <p:sp>
        <p:nvSpPr>
          <p:cNvPr id="3" name="">
            <a:extLst xmlns:a="http://schemas.openxmlformats.org/drawingml/2006/main">
              <a:ext uri="{FF2B5EF4-FFF2-40B4-BE49-F238E27FC236}">
                <a16:creationId xmlns:a16="http://schemas.microsoft.com/office/drawing/2014/main" id="{66484529-E20D-4F49-AEF0-8499D6597B54}"/>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10</a:t>
            </a:r>
          </a:p>
        </p:txBody>
      </p:sp>
      <p:sp>
        <p:nvSpPr>
          <p:cNvPr id="4" name="">
            <a:extLst xmlns:a="http://schemas.openxmlformats.org/drawingml/2006/main">
              <a:ext uri="{FF2B5EF4-FFF2-40B4-BE49-F238E27FC236}">
                <a16:creationId xmlns:a16="http://schemas.microsoft.com/office/drawing/2014/main" id="{43404505-A6B8-44F3-B988-8AEAF5274D5F}"/>
              </a:ext>
            </a:extLst>
          </p:cNvPr>
          <p:cNvSpPr>
            <a:spLocks xmlns:a="http://schemas.openxmlformats.org/drawingml/2006/main" noGrp="1"/>
          </p:cNvSpPr>
          <p:nvPr/>
        </p:nvSpPr>
        <p:spPr>
          <a:xfrm xmlns:a="http://schemas.openxmlformats.org/drawingml/2006/main">
            <a:off x="609600" y="2352675"/>
            <a:ext cx="5000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850" b="1">
                <a:solidFill>
                  <a:srgbClr val="E6B86A"/>
                </a:solidFill>
                <a:latin typeface="Avenir Next"/>
                <a:ea typeface="Avenir Next"/>
                <a:cs typeface="Avenir Next"/>
              </a:defRPr>
            </a:pPr>
            <a:r>
              <a:rPr sz="5850" b="1">
                <a:solidFill>
                  <a:srgbClr val="E6B86A"/>
                </a:solidFill>
                <a:latin typeface="Avenir Next"/>
                <a:ea typeface="Avenir Next"/>
                <a:cs typeface="Avenir Next"/>
              </a:rPr>
              <a:t>0 / 120</a:t>
            </a:r>
          </a:p>
        </p:txBody>
      </p:sp>
      <p:sp>
        <p:nvSpPr>
          <p:cNvPr id="5" name="">
            <a:extLst xmlns:a="http://schemas.openxmlformats.org/drawingml/2006/main">
              <a:ext uri="{FF2B5EF4-FFF2-40B4-BE49-F238E27FC236}">
                <a16:creationId xmlns:a16="http://schemas.microsoft.com/office/drawing/2014/main" id="{3E9FC1D2-2BF4-4519-988D-4204CF2DAFF1}"/>
              </a:ext>
            </a:extLst>
          </p:cNvPr>
          <p:cNvSpPr>
            <a:spLocks xmlns:a="http://schemas.openxmlformats.org/drawingml/2006/main" noGrp="1"/>
          </p:cNvSpPr>
          <p:nvPr/>
        </p:nvSpPr>
        <p:spPr>
          <a:xfrm xmlns:a="http://schemas.openxmlformats.org/drawingml/2006/main">
            <a:off x="609600" y="35814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new sessions switched</a:t>
            </a:r>
          </a:p>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to the personal ranking</a:t>
            </a:r>
          </a:p>
        </p:txBody>
      </p:sp>
      <p:sp>
        <p:nvSpPr>
          <p:cNvPr id="6" name="">
            <a:extLst xmlns:a="http://schemas.openxmlformats.org/drawingml/2006/main">
              <a:ext uri="{FF2B5EF4-FFF2-40B4-BE49-F238E27FC236}">
                <a16:creationId xmlns:a16="http://schemas.microsoft.com/office/drawing/2014/main" id="{FA854A39-3FB9-4B71-BAFA-A17A33FF42A7}"/>
              </a:ext>
            </a:extLst>
          </p:cNvPr>
          <p:cNvSpPr>
            <a:spLocks xmlns:a="http://schemas.openxmlformats.org/drawingml/2006/main" noGrp="1"/>
          </p:cNvSpPr>
          <p:nvPr/>
        </p:nvSpPr>
        <p:spPr>
          <a:xfrm xmlns:a="http://schemas.openxmlformats.org/drawingml/2006/main">
            <a:off x="7029450" y="23526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850" b="1">
                <a:solidFill>
                  <a:srgbClr val="DB624C"/>
                </a:solidFill>
                <a:latin typeface="Avenir Next"/>
                <a:ea typeface="Avenir Next"/>
                <a:cs typeface="Avenir Next"/>
              </a:defRPr>
            </a:pPr>
            <a:r>
              <a:rPr sz="5850" b="1">
                <a:solidFill>
                  <a:srgbClr val="DB624C"/>
                </a:solidFill>
                <a:latin typeface="Avenir Next"/>
                <a:ea typeface="Avenir Next"/>
                <a:cs typeface="Avenir Next"/>
              </a:rPr>
              <a:t>19</a:t>
            </a:r>
          </a:p>
        </p:txBody>
      </p:sp>
      <p:sp>
        <p:nvSpPr>
          <p:cNvPr id="7" name="">
            <a:extLst xmlns:a="http://schemas.openxmlformats.org/drawingml/2006/main">
              <a:ext uri="{FF2B5EF4-FFF2-40B4-BE49-F238E27FC236}">
                <a16:creationId xmlns:a16="http://schemas.microsoft.com/office/drawing/2014/main" id="{C6E73271-2100-492E-8441-BFCD793462C5}"/>
              </a:ext>
            </a:extLst>
          </p:cNvPr>
          <p:cNvSpPr>
            <a:spLocks xmlns:a="http://schemas.openxmlformats.org/drawingml/2006/main" noGrp="1"/>
          </p:cNvSpPr>
          <p:nvPr/>
        </p:nvSpPr>
        <p:spPr>
          <a:xfrm xmlns:a="http://schemas.openxmlformats.org/drawingml/2006/main">
            <a:off x="7029450" y="3581400"/>
            <a:ext cx="4476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missed opportunities</a:t>
            </a:r>
          </a:p>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where Dossier was better</a:t>
            </a:r>
          </a:p>
        </p:txBody>
      </p:sp>
      <p:sp>
        <p:nvSpPr>
          <p:cNvPr id="8" name="">
            <a:extLst xmlns:a="http://schemas.openxmlformats.org/drawingml/2006/main">
              <a:ext uri="{FF2B5EF4-FFF2-40B4-BE49-F238E27FC236}">
                <a16:creationId xmlns:a16="http://schemas.microsoft.com/office/drawing/2014/main" id="{5A38F613-4C28-43FF-9D01-72EB2927EA9D}"/>
              </a:ext>
            </a:extLst>
          </p:cNvPr>
          <p:cNvSpPr>
            <a:spLocks xmlns:a="http://schemas.openxmlformats.org/drawingml/2006/main" noGrp="1"/>
          </p:cNvSpPr>
          <p:nvPr/>
        </p:nvSpPr>
        <p:spPr>
          <a:xfrm xmlns:a="http://schemas.openxmlformats.org/drawingml/2006/main">
            <a:off x="609600" y="499110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Next: recognise useful personal taste even when people provide few dislikes.</a:t>
            </a:r>
          </a:p>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Keep both comparison methods and all known failure cases in every test.</a:t>
            </a:r>
          </a:p>
        </p:txBody>
      </p:sp>
      <p:sp>
        <p:nvSpPr>
          <p:cNvPr id="9" name="">
            <a:extLst xmlns:a="http://schemas.openxmlformats.org/drawingml/2006/main">
              <a:ext uri="{FF2B5EF4-FFF2-40B4-BE49-F238E27FC236}">
                <a16:creationId xmlns:a16="http://schemas.microsoft.com/office/drawing/2014/main" id="{5F1DF597-36AD-4CFB-8006-2C5F209165E5}"/>
              </a:ext>
            </a:extLst>
          </p:cNvPr>
          <p:cNvSpPr>
            <a:spLocks xmlns:a="http://schemas.openxmlformats.org/drawingml/2006/main" noGrp="1"/>
          </p:cNvSpPr>
          <p:nvPr/>
        </p:nvSpPr>
        <p:spPr>
          <a:xfrm xmlns:a="http://schemas.openxmlformats.org/drawingml/2006/main">
            <a:off x="609600" y="6105525"/>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Keep the 75/25 candidate unchanged. Keep product defaults unchanged.</a:t>
            </a:r>
          </a:p>
        </p:txBody>
      </p:sp>
    </p:spTree>
    <p:extLst>
      <p:ext uri="{BB962C8B-B14F-4D97-AF65-F5344CB8AC3E}">
        <p14:creationId xmlns:p14="http://schemas.microsoft.com/office/powerpoint/2010/main" val="1183458436"/>
      </p:ext>
    </p:extLst>
  </p:cSld>
</p:sld>
</file>

<file path=ppt/theme/theme1.xml><?xml version="1.0" encoding="utf-8"?>
<a:theme xmlns:a="http://schemas.openxmlformats.org/drawingml/2006/main" name="ChatGPT">
  <a:themeElements>
    <a:clrScheme name="Dossier leadership">
      <a:dk1>
        <a:srgbClr val="000000"/>
      </a:dk1>
      <a:lt1>
        <a:srgbClr val="FFFFFF"/>
      </a:lt1>
      <a:dk2>
        <a:srgbClr val="14262D"/>
      </a:dk2>
      <a:lt2>
        <a:srgbClr val="F4F0E8"/>
      </a:lt2>
      <a:accent1>
        <a:srgbClr val="267B67"/>
      </a:accent1>
      <a:accent2>
        <a:srgbClr val="DB624C"/>
      </a:accent2>
      <a:accent3>
        <a:srgbClr val="E6B86A"/>
      </a:accent3>
      <a:accent4>
        <a:srgbClr val="7ED1BD"/>
      </a:accent4>
      <a:accent5>
        <a:srgbClr val="6286A8"/>
      </a:accent5>
      <a:accent6>
        <a:srgbClr val="92729C"/>
      </a:accent6>
      <a:hlink>
        <a:srgbClr val="267B67"/>
      </a:hlink>
      <a:folHlink>
        <a:srgbClr val="267B67"/>
      </a:folHlink>
    </a:clrScheme>
    <a:fontScheme name="Office">
      <a:majorFont>
        <a:latin typeface="Calibri Light"/>
        <a:ea typeface="Calibri Light"/>
        <a:cs typeface="Calibri Light"/>
      </a:majorFont>
      <a:minorFont>
        <a:latin typeface="Calibri"/>
        <a:ea typeface="Calibri"/>
        <a:cs typeface="Calibri"/>
      </a:minorFont>
    </a:fontScheme>
    <a:fmtScheme name="Dossier leadershi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2026-10-02T22:04:45.8790000Z</dcterms:created>
  <dcterms:modified xsi:type="dcterms:W3CDTF">2026-10-02T22:04:45.8790000Z</dcterms:modified>
</coreProperties>
</file>