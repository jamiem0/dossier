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f19df55eeb94f70" /><Relationship Type="http://schemas.openxmlformats.org/officeDocument/2006/relationships/extended-properties" Target="/docProps/app.xml" Id="R42de88cd674e4f33" /><Relationship Type="http://schemas.openxmlformats.org/officeDocument/2006/relationships/officeDocument" Target="/ppt/presentation.xml" Id="R6ce27bd318634898" /></Relationships>
</file>

<file path=ppt/presentation.xml><?xml version="1.0" encoding="utf-8"?>
<p:presentation xmlns:p="http://schemas.openxmlformats.org/presentationml/2006/main">
  <p:sldMasterIdLst>
    <p:sldMasterId xmlns:r="http://schemas.openxmlformats.org/officeDocument/2006/relationships" id="2147483648" r:id="R01fe60116a15473f"/>
  </p:sldMasterIdLst>
  <p:notesMasterIdLst>
    <p:notesMasterId xmlns:r="http://schemas.openxmlformats.org/officeDocument/2006/relationships" r:id="R2870742ff760411f"/>
  </p:notesMasterIdLst>
  <p:sldIdLst>
    <p:sldId xmlns:r="http://schemas.openxmlformats.org/officeDocument/2006/relationships" id="256" r:id="R3ebdbb498db64b51"/>
    <p:sldId xmlns:r="http://schemas.openxmlformats.org/officeDocument/2006/relationships" id="257" r:id="Rc2dfaae0a70841e4"/>
    <p:sldId xmlns:r="http://schemas.openxmlformats.org/officeDocument/2006/relationships" id="258" r:id="R5278ba5cc6234054"/>
    <p:sldId xmlns:r="http://schemas.openxmlformats.org/officeDocument/2006/relationships" id="259" r:id="R271cb9ea38734e12"/>
    <p:sldId xmlns:r="http://schemas.openxmlformats.org/officeDocument/2006/relationships" id="260" r:id="R7f96bff8df574756"/>
    <p:sldId xmlns:r="http://schemas.openxmlformats.org/officeDocument/2006/relationships" id="261" r:id="Rba58e6dbbedb47ce"/>
    <p:sldId xmlns:r="http://schemas.openxmlformats.org/officeDocument/2006/relationships" id="262" r:id="R1946f4984b30405d"/>
    <p:sldId xmlns:r="http://schemas.openxmlformats.org/officeDocument/2006/relationships" id="263" r:id="R229dcbb499614672"/>
    <p:sldId xmlns:r="http://schemas.openxmlformats.org/officeDocument/2006/relationships" id="264" r:id="Re5d7dd37c3d3414a"/>
    <p:sldId xmlns:r="http://schemas.openxmlformats.org/officeDocument/2006/relationships" id="265" r:id="R199b38344f384e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82966e3f46482b" /><Relationship Type="http://schemas.openxmlformats.org/officeDocument/2006/relationships/slideMaster" Target="/ppt/slideMasters/slideMaster1.xml" Id="R01fe60116a15473f" /><Relationship Type="http://schemas.openxmlformats.org/officeDocument/2006/relationships/notesMaster" Target="/ppt/notesMasters/notesMaster1.xml" Id="R2870742ff760411f" /><Relationship Type="http://schemas.openxmlformats.org/officeDocument/2006/relationships/presProps" Target="/ppt/presProps.xml" Id="R7950396a5b7b415f" /><Relationship Type="http://schemas.openxmlformats.org/officeDocument/2006/relationships/tableStyles" Target="/ppt/tableStyles.xml" Id="Re3b9993f49b5488a" /><Relationship Type="http://schemas.openxmlformats.org/officeDocument/2006/relationships/slide" Target="/ppt/slides/slide1.xml" Id="R3ebdbb498db64b51" /><Relationship Type="http://schemas.openxmlformats.org/officeDocument/2006/relationships/slide" Target="/ppt/slides/slide2.xml" Id="Rc2dfaae0a70841e4" /><Relationship Type="http://schemas.openxmlformats.org/officeDocument/2006/relationships/slide" Target="/ppt/slides/slide3.xml" Id="R5278ba5cc6234054" /><Relationship Type="http://schemas.openxmlformats.org/officeDocument/2006/relationships/slide" Target="/ppt/slides/slide4.xml" Id="R271cb9ea38734e12" /><Relationship Type="http://schemas.openxmlformats.org/officeDocument/2006/relationships/slide" Target="/ppt/slides/slide5.xml" Id="R7f96bff8df574756" /><Relationship Type="http://schemas.openxmlformats.org/officeDocument/2006/relationships/slide" Target="/ppt/slides/slide6.xml" Id="Rba58e6dbbedb47ce" /><Relationship Type="http://schemas.openxmlformats.org/officeDocument/2006/relationships/slide" Target="/ppt/slides/slide7.xml" Id="R1946f4984b30405d" /><Relationship Type="http://schemas.openxmlformats.org/officeDocument/2006/relationships/slide" Target="/ppt/slides/slide8.xml" Id="R229dcbb499614672" /><Relationship Type="http://schemas.openxmlformats.org/officeDocument/2006/relationships/slide" Target="/ppt/slides/slide9.xml" Id="Re5d7dd37c3d3414a" /><Relationship Type="http://schemas.openxmlformats.org/officeDocument/2006/relationships/slide" Target="/ppt/slides/slide10.xml" Id="R199b38344f384e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156a8f4d5548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8244dc64a74522" /><Relationship Type="http://schemas.openxmlformats.org/officeDocument/2006/relationships/notesMaster" Target="/ppt/notesMasters/notesMaster1.xml" Id="Refa752a31fb649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b3a1185d114ccc" /><Relationship Type="http://schemas.openxmlformats.org/officeDocument/2006/relationships/notesMaster" Target="/ppt/notesMasters/notesMaster1.xml" Id="Rb65828962eac48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d696e4db9c44e4" /><Relationship Type="http://schemas.openxmlformats.org/officeDocument/2006/relationships/notesMaster" Target="/ppt/notesMasters/notesMaster1.xml" Id="R5fb661baffd045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69178f256a4192" /><Relationship Type="http://schemas.openxmlformats.org/officeDocument/2006/relationships/notesMaster" Target="/ppt/notesMasters/notesMaster1.xml" Id="Rfdc2fe7cd00f4a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19edf6485846c9" /><Relationship Type="http://schemas.openxmlformats.org/officeDocument/2006/relationships/notesMaster" Target="/ppt/notesMasters/notesMaster1.xml" Id="R5286af1c061442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316b35e4544fd2" /><Relationship Type="http://schemas.openxmlformats.org/officeDocument/2006/relationships/notesMaster" Target="/ppt/notesMasters/notesMaster1.xml" Id="R523ca00220f245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40a9ab76cb46da" /><Relationship Type="http://schemas.openxmlformats.org/officeDocument/2006/relationships/notesMaster" Target="/ppt/notesMasters/notesMaster1.xml" Id="R7f457af4ddfd4d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25a34377064d56" /><Relationship Type="http://schemas.openxmlformats.org/officeDocument/2006/relationships/notesMaster" Target="/ppt/notesMasters/notesMaster1.xml" Id="R5a25462c974a4d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53fb8ae34d41fe" /><Relationship Type="http://schemas.openxmlformats.org/officeDocument/2006/relationships/notesMaster" Target="/ppt/notesMasters/notesMaster1.xml" Id="R80f601ac57af46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aff7916a624652" /><Relationship Type="http://schemas.openxmlformats.org/officeDocument/2006/relationships/notesMaster" Target="/ppt/notesMasters/notesMaster1.xml" Id="R47278c581d044a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decision summary of the full experiment programme. Reviews plus tags produced a small average benefit on new viewers. The rule intended to protect people with unusual taste did not work. Product defaults remain unchanged. The cover is a generated conceptual image of cinema, not a photograph of the experiment.</a:t>
            </a:r>
          </a:p>
          <a:p xmlns:a="http://schemas.openxmlformats.org/drawingml/2006/main">
            <a:r>
              <a:t/>
            </a:r>
          </a:p>
          <a:p xmlns:a="http://schemas.openxmlformats.org/drawingml/2006/main">
            <a:r>
              <a:t>Sources: reports/dossier-learning-study-tmdb.json;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gave disposable Dossier profiles some known ratings through the command tool. We kept other personal ratings hidden and used them only to score the completed recommendations. The later tests used historical MovieLens ratings from real people. The groups of 31, 47 and 30 viewers contain different people. Four rating orders create repeated sessions for each person. They do not create four independent people. We tested films those people previously rated, rather than every film in the catalogue.</a:t>
            </a:r>
          </a:p>
          <a:p xmlns:a="http://schemas.openxmlformats.org/drawingml/2006/main">
            <a:r>
              <a:t/>
            </a:r>
          </a:p>
          <a:p xmlns:a="http://schemas.openxmlformats.org/drawingml/2006/main">
            <a:r>
              <a:t>Sources: docs/real-benchmark.md; reports/dossier-learning-study-tmdb.json;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easy invented person reached a 98% ordering score after one rating and liked all ten suggestions after ten ratings. Those hidden answers used many of the same film properties as Dossier. Simple similarity matching also scored almost perfectly. Harder invented tastes reduced the scores: Dossier reached 76.1% after 20 ratings, against 75.4% for simple matching. In the first real-film study, Dossier scored 61.1% and public reviews scored 82.3%. Public reviews found 6.52 liked films per ten against 4.63 for Dossier. These are different tests, so the figures do not show a measured decline in the product over time.</a:t>
            </a:r>
          </a:p>
          <a:p xmlns:a="http://schemas.openxmlformats.org/drawingml/2006/main">
            <a:r>
              <a:t/>
            </a:r>
          </a:p>
          <a:p xmlns:a="http://schemas.openxmlformats.org/drawingml/2006/main">
            <a:r>
              <a:t>Sources: reports/presentations/evidence-summary.json; reports/dossier-real-v1-baseline.json; reports/dossier-hard-v1-baseline.html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kept the same 31 people and hidden answers while updating the public film information using TMDB. The average Dossier ordering score rose from 53.0% with one rating to 60.2% with 40. Public reviews stayed at 80.7%. However, 35 of 124 sessions lost more than three points between ten and 40 ratings. Deliberately damaged input also reduced the average score: shuffled ratings lost 11 points and reversing half lost 6.9. Removing important ratings lost 4.7, adding contradictions lost 3.4, and reducing 20 ratings to five lost 3.1. Some individuals still improved with worse evidence. A 50% ordering score means chance ordering of liked and disliked film pairs.</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deliberately supplied misleading early ratings, then added ratings that contradicted the resulting claims. Dossier corrected 26 of 28 wrong claims in the real-film test. Two corrections went too far. Three other people never formed a wrong claim. Separately, we compared the films Dossier chose to ask about with random reasonably popular films. Both methods started with the same five ratings. After 40 total ratings, Dossier questions produced a 58.1% ordering score against 61.9% for random questions. The test supplied a known answer to every question. It did not test whether someone recognised the film or wanted to answer.</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reviews means a published average audience rating. The proposed alternative gives this rating 75% of its score. The remaining 25% comes from matching genres and keywords to the person’s ratings. We kept that method unchanged in later studies. On the original 31 people, it scored 81.3% against 80.7% for public reviews alone. We tried eleven model variations on these same people, so choosing the best one could exaggerate its benefit. Removing claims or film groups did not close the average gap. We needed a separate test on people not used to choose the method.</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tested the unchanged method on 47 previously unused MovieLens viewers. Each had 60 hidden film ratings and four rating orders. The method found 6.78 liked films per ten, public reviews found 6.53, and current Dossier found 5.13. The difference from public reviews is about one extra liked film per 40 suggestions. The ordering score gain was about one point. The uncertainty range was roughly 0.3 to 1.6 points. This supports a small average benefit in the tested group. It does not establish a benefit for every person or for all future Dossier users.</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 numbers are anonymous identifiers. They let us follow the same people between reports. Viewer 82 scored 83.0% with current Dossier but 55.6% with reviews plus tags. Viewer 484 scored 69.0% against 52.3%. Public reviews alone scored 48.4% and 50.2% respectively. These exceptions matter because personal recommendations are central to Dossier. Across eight people whose supplied ratings differed from public reviews, the average benefit remained uncertain. Ordering and the first ten suggestions can disagree: viewer 484 received more liked films in the first ten from the candidate despite worse overall ordering.</a:t>
            </a:r>
          </a:p>
          <a:p xmlns:a="http://schemas.openxmlformats.org/drawingml/2006/main">
            <a:r>
              <a:t/>
            </a:r>
          </a:p>
          <a:p xmlns:a="http://schemas.openxmlformats.org/drawingml/2006/main">
            <a:r>
              <a:t>Sources: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replayed the five largest known learning losses through the CLI. They involve four people and five rating orders. Broad similarities can spread a new like or dislike to inappropriate films. For one person, liking The Fellowship of the Ring pushed disliked Fantastic Four ahead of liked Adaptation. For another, disliking The Two Towers pushed liked Total Recall below disliked It Takes Two. Reordering the same final 40 ratings while keeping claims fixed also changed results. One viewer ranged from 44.7% to 57.6%. The fixed alternative avoided all five large original losses, but one case still lost 3.3 points as ratings increased. We diagnosed the current model without changing it.</a:t>
            </a:r>
          </a:p>
          <a:p xmlns:a="http://schemas.openxmlformats.org/drawingml/2006/main">
            <a:r>
              <a:t/>
            </a:r>
          </a:p>
          <a:p xmlns:a="http://schemas.openxmlformats.org/drawingml/2006/main">
            <a:r>
              <a:t>Sources: reports/backwards-learning-diagnosis-v1.json;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fixed the protection rule before inspecting hidden outcomes. It tested ratings the person already supplied, temporarily hiding some to see whether current Dossier predicted them better. Switching required at least 20 supplied ratings, six likes and six dislikes, with a repeated advantage over both comparison methods. In 120 sessions from 30 new viewers, it never switched after 40 ratings. It missed 19 sessions across nine people where current Dossier was more than three points better. Requiring six dislikes blocked important known exceptions. Keeping answers hidden also left some training pools short of dislikes, which limits this test. Across all 108 viewers, one previously tested session switched successfully. That does not demonstrate protection on new people. Next work must preserve the eight unusual-taste cases and address all five known failures. Keep the 75/25 method and product defaults unchanged until that protection works.</a:t>
            </a:r>
          </a:p>
          <a:p xmlns:a="http://schemas.openxmlformats.org/drawingml/2006/main">
            <a:r>
              <a:t/>
            </a:r>
          </a:p>
          <a:p xmlns:a="http://schemas.openxmlformats.org/drawingml/2006/main">
            <a:r>
              <a:t>Sources: reports/observed-rating-override-decision-v1.json; reports/reviews-plus-tags-confirmation-v1.json;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46256a284f4a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4ccec85f9d46cc" /><Relationship Type="http://schemas.openxmlformats.org/officeDocument/2006/relationships/slideLayout" Target="/ppt/slideLayouts/slideLayout1.xml" Id="R9e4ded8b0a464c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4ded8b0a464c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aaf8a4eb14449f" /><Relationship Type="http://schemas.openxmlformats.org/officeDocument/2006/relationships/image" Target="/ppt/media/image.png" Id="Rbb7e30995e75475c" /><Relationship Type="http://schemas.openxmlformats.org/officeDocument/2006/relationships/image" Target="/ppt/media/image2.png" Id="Rdbe7732f047a438c" /><Relationship Type="http://schemas.openxmlformats.org/officeDocument/2006/relationships/notesSlide" Target="/ppt/notesSlides/notesSlide1.xml" Id="Rda1b1882f5fd49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97087860fe4bff" /><Relationship Type="http://schemas.openxmlformats.org/officeDocument/2006/relationships/notesSlide" Target="/ppt/notesSlides/notesSlide2.xml" Id="R367451782db246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909fa2a66648ba" /><Relationship Type="http://schemas.openxmlformats.org/officeDocument/2006/relationships/chart" Target="/ppt/slides/charts/chart1.xml" Id="Re14b6a78dfcc4db8" /><Relationship Type="http://schemas.openxmlformats.org/officeDocument/2006/relationships/notesSlide" Target="/ppt/notesSlides/notesSlide3.xml" Id="R1dab2e0af2264d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2ce703602a4125" /><Relationship Type="http://schemas.openxmlformats.org/officeDocument/2006/relationships/chart" Target="/ppt/slides/charts/chart2.xml" Id="R5e86df1b9b2a4df3" /><Relationship Type="http://schemas.openxmlformats.org/officeDocument/2006/relationships/notesSlide" Target="/ppt/notesSlides/notesSlide4.xml" Id="R492d21134e0c41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d1bc974d964ebc" /><Relationship Type="http://schemas.openxmlformats.org/officeDocument/2006/relationships/chart" Target="/ppt/slides/charts/chart3.xml" Id="R69ac0e06c3a14e9a" /><Relationship Type="http://schemas.openxmlformats.org/officeDocument/2006/relationships/chart" Target="/ppt/slides/charts/chart4.xml" Id="Rac9c57d320de45a4" /><Relationship Type="http://schemas.openxmlformats.org/officeDocument/2006/relationships/notesSlide" Target="/ppt/notesSlides/notesSlide5.xml" Id="Rfebf04e679bd4e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cefaef1a0f4342" /><Relationship Type="http://schemas.openxmlformats.org/officeDocument/2006/relationships/chart" Target="/ppt/slides/charts/chart5.xml" Id="Re2c95a219eec432b" /><Relationship Type="http://schemas.openxmlformats.org/officeDocument/2006/relationships/notesSlide" Target="/ppt/notesSlides/notesSlide6.xml" Id="Rf64d47bd4ac145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14849bee8e4d3e" /><Relationship Type="http://schemas.openxmlformats.org/officeDocument/2006/relationships/chart" Target="/ppt/slides/charts/chart6.xml" Id="Rd7e4f54468094a84" /><Relationship Type="http://schemas.openxmlformats.org/officeDocument/2006/relationships/notesSlide" Target="/ppt/notesSlides/notesSlide7.xml" Id="R956d868b81d141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8fb94d1b7f4b1b" /><Relationship Type="http://schemas.openxmlformats.org/officeDocument/2006/relationships/chart" Target="/ppt/slides/charts/chart7.xml" Id="R61d5e0122fe24312" /><Relationship Type="http://schemas.openxmlformats.org/officeDocument/2006/relationships/notesSlide" Target="/ppt/notesSlides/notesSlide8.xml" Id="R9c9e3de0c2e841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21b5d0237a446e" /><Relationship Type="http://schemas.openxmlformats.org/officeDocument/2006/relationships/notesSlide" Target="/ppt/notesSlides/notesSlide9.xml" Id="R44c0bef081ac43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3f60d50a0ee4432" /><Relationship Type="http://schemas.openxmlformats.org/officeDocument/2006/relationships/notesSlide" Target="/ppt/notesSlides/notesSlide10.xml" Id="Rca6783f7c0e74f0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viewers, 20 ratings</c:v>
          </c:tx>
          <c:spPr>
            <a:solidFill xmlns:a="http://schemas.openxmlformats.org/drawingml/2006/main">
              <a:srgbClr val="7ED1BD"/>
            </a:solidFill>
          </c:spPr>
          <c:cat>
            <c:strRef>
              <c:f>'Chart Data'!$A$2:$A$3</c:f>
              <c:strCache>
                <c:ptCount val="2"/>
                <c:pt idx="0">
                  <c:v>Dossier</c:v>
                </c:pt>
                <c:pt idx="1">
                  <c:v>Public reviews</c:v>
                </c:pt>
              </c:strCache>
            </c:strRef>
          </c:cat>
          <c:val>
            <c:numRef>
              <c:f>'Chart Data'!$B$2:$B$3</c:f>
              <c:numCache>
                <c:formatCode>0.0%</c:formatCode>
                <c:ptCount val="2"/>
                <c:pt idx="0">
                  <c:v>0.6113</c:v>
                </c:pt>
                <c:pt idx="1">
                  <c:v>0.8231</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plotVisOnly val="1"/>
  </c:chart>
  <c:spPr>
    <a:solidFill xmlns:a="http://schemas.openxmlformats.org/drawingml/2006/main">
      <a:srgbClr val="14262D"/>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Dossier</c:v>
          </c:tx>
          <c:spPr>
            <a:ln xmlns:a="http://schemas.openxmlformats.org/drawingml/2006/main" w="38100">
              <a:solidFill>
                <a:srgbClr val="DB624C"/>
              </a:solidFill>
            </a:ln>
          </c:spPr>
          <c:marker>
            <c:symbol val="circle"/>
            <c:size val="8"/>
            <c:spPr>
              <a:solidFill xmlns:a="http://schemas.openxmlformats.org/drawingml/2006/main">
                <a:srgbClr val="DB624C"/>
              </a:solidFill>
            </c:spPr>
          </c:marker>
          <c:cat>
            <c:numRef>
              <c:f>'Chart Data'!$A$2:$A$7</c:f>
              <c:numCache>
                <c:formatCode>General</c:formatCode>
                <c:ptCount val="6"/>
                <c:pt idx="0">
                  <c:v>1</c:v>
                </c:pt>
                <c:pt idx="1">
                  <c:v>3</c:v>
                </c:pt>
                <c:pt idx="2">
                  <c:v>5</c:v>
                </c:pt>
                <c:pt idx="3">
                  <c:v>10</c:v>
                </c:pt>
                <c:pt idx="4">
                  <c:v>20</c:v>
                </c:pt>
                <c:pt idx="5">
                  <c:v>40</c:v>
                </c:pt>
              </c:numCache>
            </c:numRef>
          </c:cat>
          <c:val>
            <c:numRef>
              <c:f>'Chart Data'!$B$2:$B$7</c:f>
              <c:numCache>
                <c:formatCode>0%</c:formatCode>
                <c:ptCount val="6"/>
                <c:pt idx="0">
                  <c:v>0.5298</c:v>
                </c:pt>
                <c:pt idx="1">
                  <c:v>0.5494</c:v>
                </c:pt>
                <c:pt idx="2">
                  <c:v>0.5653</c:v>
                </c:pt>
                <c:pt idx="3">
                  <c:v>0.576</c:v>
                </c:pt>
                <c:pt idx="4">
                  <c:v>0.5924</c:v>
                </c:pt>
                <c:pt idx="5">
                  <c:v>0.6018</c:v>
                </c:pt>
              </c:numCache>
            </c:numRef>
          </c:val>
        </c:ser>
        <c:ser>
          <c:idx val="1"/>
          <c:order val="1"/>
          <c:tx>
            <c:v>Public reviews</c:v>
          </c:tx>
          <c:spPr>
            <a:ln xmlns:a="http://schemas.openxmlformats.org/drawingml/2006/main" w="38100">
              <a:solidFill>
                <a:srgbClr val="267B67"/>
              </a:solidFill>
            </a:ln>
          </c:spPr>
          <c:marker>
            <c:symbol val="none"/>
          </c:marker>
          <c:cat>
            <c:numRef>
              <c:f>'Chart Data'!$C$2:$C$7</c:f>
              <c:numCache>
                <c:formatCode>General</c:formatCode>
                <c:ptCount val="6"/>
                <c:pt idx="0">
                  <c:v>1</c:v>
                </c:pt>
                <c:pt idx="1">
                  <c:v>3</c:v>
                </c:pt>
                <c:pt idx="2">
                  <c:v>5</c:v>
                </c:pt>
                <c:pt idx="3">
                  <c:v>10</c:v>
                </c:pt>
                <c:pt idx="4">
                  <c:v>20</c:v>
                </c:pt>
                <c:pt idx="5">
                  <c:v>40</c:v>
                </c:pt>
              </c:numCache>
            </c:numRef>
          </c:cat>
          <c:val>
            <c:numRef>
              <c:f>'Chart Data'!$D$2:$D$7</c:f>
              <c:numCache>
                <c:formatCode>0%</c:formatCode>
                <c:ptCount val="6"/>
                <c:pt idx="0">
                  <c:v>0.8067</c:v>
                </c:pt>
                <c:pt idx="1">
                  <c:v>0.8067</c:v>
                </c:pt>
                <c:pt idx="2">
                  <c:v>0.8067</c:v>
                </c:pt>
                <c:pt idx="3">
                  <c:v>0.8067</c:v>
                </c:pt>
                <c:pt idx="4">
                  <c:v>0.8067</c:v>
                </c:pt>
                <c:pt idx="5">
                  <c:v>0.8067</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Ratings supplied</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venir Next"/>
                <a:ea typeface="Avenir Next"/>
                <a:cs typeface="Avenir Next"/>
              </a:defRPr>
            </a:pPr>
          </a:p>
        </c:txPr>
        <c:crossAx val="48672768"/>
      </c:catAx>
      <c:valAx>
        <c:axId val="48672768"/>
        <c:scaling>
          <c:orientation val="minMax"/>
          <c:max val="1"/>
          <c:min val="0.5"/>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venir Next"/>
                <a:ea typeface="Avenir Next"/>
                <a:cs typeface="Avenir Next"/>
              </a:defRPr>
            </a:pPr>
          </a:p>
        </c:txPr>
        <c:crossAx val="48650112"/>
        <c:crossBetween val="between"/>
        <c:majorUnit val="0.1"/>
      </c:valAx>
      <c:spPr>
        <a:solidFill xmlns:a="http://schemas.openxmlformats.org/drawingml/2006/main">
          <a:srgbClr val="F4F0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262D"/>
              </a:solidFill>
              <a:latin typeface="Avenir Next"/>
              <a:ea typeface="Avenir Next"/>
              <a:cs typeface="Avenir Next"/>
            </a:defRPr>
          </a:pPr>
        </a:p>
      </c:txPr>
    </c:legend>
    <c:plotVisOnly val="1"/>
  </c:chart>
  <c:spPr>
    <a:solidFill xmlns:a="http://schemas.openxmlformats.org/drawingml/2006/main">
      <a:srgbClr val="F4F0E8"/>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doughnutChart>
        <c:ser>
          <c:idx val="0"/>
          <c:order val="0"/>
          <c:tx>
            <c:v>Controlled claim revision</c:v>
          </c:tx>
          <c:cat>
            <c:strRef>
              <c:f>'Chart Data'!$A$2:$A$3</c:f>
              <c:strCache>
                <c:ptCount val="2"/>
                <c:pt idx="0">
                  <c:v>Corrected</c:v>
                </c:pt>
                <c:pt idx="1">
                  <c:v>Went too far</c:v>
                </c:pt>
              </c:strCache>
            </c:strRef>
          </c:cat>
          <c:val>
            <c:numRef>
              <c:f>'Chart Data'!$B$2:$B$3</c:f>
              <c:numCache>
                <c:formatCode>General</c:formatCode>
                <c:ptCount val="2"/>
                <c:pt idx="0">
                  <c:v>26</c:v>
                </c:pt>
                <c:pt idx="1">
                  <c:v>2</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holeSize val="76"/>
      </c:doughnutChart>
      <c:spPr>
        <a:solidFill xmlns:a="http://schemas.openxmlformats.org/drawingml/2006/main">
          <a:srgbClr val="F4F0E8"/>
        </a:solidFill>
      </c:spPr>
    </c:plotArea>
    <c:plotVisOnly val="1"/>
  </c:chart>
  <c:spPr>
    <a:solidFill xmlns:a="http://schemas.openxmlformats.org/drawingml/2006/main">
      <a:srgbClr val="F4F0E8"/>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Ordering after 40 ratings</c:v>
          </c:tx>
          <c:spPr>
            <a:solidFill xmlns:a="http://schemas.openxmlformats.org/drawingml/2006/main">
              <a:srgbClr val="267B67"/>
            </a:solidFill>
          </c:spPr>
          <c:cat>
            <c:strRef>
              <c:f>'Chart Data'!$A$2:$A$3</c:f>
              <c:strCache>
                <c:ptCount val="2"/>
                <c:pt idx="0">
                  <c:v>Dossier asks</c:v>
                </c:pt>
                <c:pt idx="1">
                  <c:v>Random film</c:v>
                </c:pt>
              </c:strCache>
            </c:strRef>
          </c:cat>
          <c:val>
            <c:numRef>
              <c:f>'Chart Data'!$B$2:$B$3</c:f>
              <c:numCache>
                <c:formatCode>0.0%</c:formatCode>
                <c:ptCount val="2"/>
                <c:pt idx="0">
                  <c:v>0.5806</c:v>
                </c:pt>
                <c:pt idx="1">
                  <c:v>0.6189</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62D"/>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62D"/>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62D"/>
                </a:solidFill>
                <a:latin typeface="Avenir Next"/>
                <a:ea typeface="Avenir Next"/>
                <a:cs typeface="Avenir Next"/>
              </a:defRPr>
            </a:pPr>
          </a:p>
        </c:txPr>
        <c:crossAx val="48650112"/>
        <c:crossBetween val="between"/>
        <c:majorUnit val="0.2"/>
      </c:valAx>
      <c:spPr>
        <a:solidFill xmlns:a="http://schemas.openxmlformats.org/drawingml/2006/main">
          <a:srgbClr val="F4F0E8"/>
        </a:solidFill>
      </c:spPr>
    </c:plotArea>
    <c:plotVisOnly val="1"/>
  </c:chart>
  <c:spPr>
    <a:solidFill xmlns:a="http://schemas.openxmlformats.org/drawingml/2006/main">
      <a:srgbClr val="F4F0E8"/>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Ordering score</c:v>
          </c:tx>
          <c:spPr>
            <a:solidFill xmlns:a="http://schemas.openxmlformats.org/drawingml/2006/main">
              <a:srgbClr val="7ED1BD"/>
            </a:solidFill>
          </c:spPr>
          <c:cat>
            <c:strRef>
              <c:f>'Chart Data'!$A$2:$A$5</c:f>
              <c:strCache>
                <c:ptCount val="4"/>
                <c:pt idx="0">
                  <c:v>Current Dossier</c:v>
                </c:pt>
                <c:pt idx="1">
                  <c:v>More review weight</c:v>
                </c:pt>
                <c:pt idx="2">
                  <c:v>Public reviews</c:v>
                </c:pt>
                <c:pt idx="3">
                  <c:v>Reviews + tags</c:v>
                </c:pt>
              </c:strCache>
            </c:strRef>
          </c:cat>
          <c:val>
            <c:numRef>
              <c:f>'Chart Data'!$B$2:$B$5</c:f>
              <c:numCache>
                <c:formatCode>0.0%</c:formatCode>
                <c:ptCount val="4"/>
                <c:pt idx="0">
                  <c:v>0.5924</c:v>
                </c:pt>
                <c:pt idx="1">
                  <c:v>0.7498</c:v>
                </c:pt>
                <c:pt idx="2">
                  <c:v>0.8067</c:v>
                </c:pt>
                <c:pt idx="3">
                  <c:v>0.8126</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plotVisOnly val="1"/>
  </c:chart>
  <c:spPr>
    <a:solidFill xmlns:a="http://schemas.openxmlformats.org/drawingml/2006/main">
      <a:srgbClr val="14262D"/>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Liked films per ten</c:v>
          </c:tx>
          <c:spPr>
            <a:solidFill xmlns:a="http://schemas.openxmlformats.org/drawingml/2006/main">
              <a:srgbClr val="267B67"/>
            </a:solidFill>
          </c:spPr>
          <c:cat>
            <c:strRef>
              <c:f>'Chart Data'!$A$2:$A$4</c:f>
              <c:strCache>
                <c:ptCount val="3"/>
                <c:pt idx="0">
                  <c:v>Current Dossier</c:v>
                </c:pt>
                <c:pt idx="1">
                  <c:v>Public reviews</c:v>
                </c:pt>
                <c:pt idx="2">
                  <c:v>Reviews + tags</c:v>
                </c:pt>
              </c:strCache>
            </c:strRef>
          </c:cat>
          <c:val>
            <c:numRef>
              <c:f>'Chart Data'!$B$2:$B$4</c:f>
              <c:numCache>
                <c:formatCode>0.00</c:formatCode>
                <c:ptCount val="3"/>
                <c:pt idx="0">
                  <c:v>5.133</c:v>
                </c:pt>
                <c:pt idx="1">
                  <c:v>6.532</c:v>
                </c:pt>
                <c:pt idx="2">
                  <c:v>6.777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62D"/>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62D"/>
                </a:solidFill>
                <a:latin typeface="Avenir Next"/>
                <a:ea typeface="Avenir Next"/>
                <a:cs typeface="Avenir Next"/>
              </a:defRPr>
            </a:pPr>
          </a:p>
        </c:txPr>
        <c:crossAx val="48672768"/>
      </c:catAx>
      <c:valAx>
        <c:axId val="48672768"/>
        <c:scaling>
          <c:orientation val="minMax"/>
          <c:max val="10"/>
          <c:min val="0"/>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62D"/>
                </a:solidFill>
                <a:latin typeface="Avenir Next"/>
                <a:ea typeface="Avenir Next"/>
                <a:cs typeface="Avenir Next"/>
              </a:defRPr>
            </a:pPr>
          </a:p>
        </c:txPr>
        <c:crossAx val="48650112"/>
        <c:crossBetween val="between"/>
        <c:majorUnit val="2"/>
      </c:valAx>
      <c:spPr>
        <a:solidFill xmlns:a="http://schemas.openxmlformats.org/drawingml/2006/main">
          <a:srgbClr val="F4F0E8"/>
        </a:solidFill>
      </c:spPr>
    </c:plotArea>
    <c:plotVisOnly val="1"/>
  </c:chart>
  <c:spPr>
    <a:solidFill xmlns:a="http://schemas.openxmlformats.org/drawingml/2006/main">
      <a:srgbClr val="F4F0E8"/>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Current Dossier</c:v>
          </c:tx>
          <c:spPr>
            <a:solidFill xmlns:a="http://schemas.openxmlformats.org/drawingml/2006/main">
              <a:srgbClr val="7ED1BD"/>
            </a:solidFill>
          </c:spPr>
          <c:cat>
            <c:strRef>
              <c:f>'Chart Data'!$A$2:$A$3</c:f>
              <c:strCache>
                <c:ptCount val="2"/>
                <c:pt idx="0">
                  <c:v>Viewer 82</c:v>
                </c:pt>
                <c:pt idx="1">
                  <c:v>Viewer 484</c:v>
                </c:pt>
              </c:strCache>
            </c:strRef>
          </c:cat>
          <c:val>
            <c:numRef>
              <c:f>'Chart Data'!$B$2:$B$3</c:f>
              <c:numCache>
                <c:formatCode>0.0%</c:formatCode>
                <c:ptCount val="2"/>
                <c:pt idx="0">
                  <c:v>0.8301</c:v>
                </c:pt>
                <c:pt idx="1">
                  <c:v>0.6903</c:v>
                </c:pt>
              </c:numCache>
            </c:numRef>
          </c:val>
        </c:ser>
        <c:ser>
          <c:idx val="1"/>
          <c:order val="1"/>
          <c:tx>
            <c:v>Reviews + tags</c:v>
          </c:tx>
          <c:spPr>
            <a:solidFill xmlns:a="http://schemas.openxmlformats.org/drawingml/2006/main">
              <a:srgbClr val="E6B86A"/>
            </a:solidFill>
          </c:spPr>
          <c:cat>
            <c:strRef>
              <c:f>'Chart Data'!$C$2:$C$3</c:f>
              <c:strCache>
                <c:ptCount val="2"/>
                <c:pt idx="0">
                  <c:v>Viewer 82</c:v>
                </c:pt>
                <c:pt idx="1">
                  <c:v>Viewer 484</c:v>
                </c:pt>
              </c:strCache>
            </c:strRef>
          </c:cat>
          <c:val>
            <c:numRef>
              <c:f>'Chart Data'!$D$2:$D$3</c:f>
              <c:numCache>
                <c:formatCode>0.0%</c:formatCode>
                <c:ptCount val="2"/>
                <c:pt idx="0">
                  <c:v>0.5559</c:v>
                </c:pt>
                <c:pt idx="1">
                  <c:v>0.5225</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F4F0E8"/>
              </a:solidFill>
              <a:latin typeface="Avenir Next"/>
              <a:ea typeface="Avenir Next"/>
              <a:cs typeface="Avenir Next"/>
            </a:defRPr>
          </a:pPr>
        </a:p>
      </c:txPr>
    </c:legend>
    <c:plotVisOnly val="1"/>
  </c:chart>
  <c:spPr>
    <a:solidFill xmlns:a="http://schemas.openxmlformats.org/drawingml/2006/main">
      <a:srgbClr val="14262D"/>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9E2BF1-A38E-4DC6-B90C-EB34282F339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BA7E856-3B12-4AB1-9EB2-C778757CEB3C}"/>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b7e30995e75475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FEE23E-9717-4D33-80C9-52EABA044AE9}"/>
              </a:ext>
            </a:extLst>
          </p:cNvPr>
          <p:cNvSpPr>
            <a:spLocks xmlns:a="http://schemas.openxmlformats.org/drawingml/2006/main" noGrp="1"/>
          </p:cNvSpPr>
          <p:nvPr/>
        </p:nvSpPr>
        <p:spPr>
          <a:xfrm xmlns:a="http://schemas.openxmlformats.org/drawingml/2006/main">
            <a:off x="609600" y="1143000"/>
            <a:ext cx="7429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F4F0E8"/>
                </a:solidFill>
                <a:latin typeface="Iowan Old Style"/>
                <a:ea typeface="Iowan Old Style"/>
                <a:cs typeface="Iowan Old Style"/>
              </a:defRPr>
            </a:pPr>
            <a:r>
              <a:rPr sz="5700" b="0">
                <a:solidFill>
                  <a:srgbClr val="F4F0E8"/>
                </a:solidFill>
                <a:latin typeface="Iowan Old Style"/>
                <a:ea typeface="Iowan Old Style"/>
                <a:cs typeface="Iowan Old Style"/>
              </a:rPr>
              <a:t>Learning who</a:t>
            </a:r>
          </a:p>
          <a:p xmlns:a="http://schemas.openxmlformats.org/drawingml/2006/main">
            <a:pPr>
              <a:defRPr sz="5700" b="0">
                <a:solidFill>
                  <a:srgbClr val="F4F0E8"/>
                </a:solidFill>
                <a:latin typeface="Iowan Old Style"/>
                <a:ea typeface="Iowan Old Style"/>
                <a:cs typeface="Iowan Old Style"/>
              </a:defRPr>
            </a:pPr>
            <a:r>
              <a:rPr sz="5700" b="0">
                <a:solidFill>
                  <a:srgbClr val="F4F0E8"/>
                </a:solidFill>
                <a:latin typeface="Iowan Old Style"/>
                <a:ea typeface="Iowan Old Style"/>
                <a:cs typeface="Iowan Old Style"/>
              </a:rPr>
              <a:t>a person is</a:t>
            </a:r>
          </a:p>
        </p:txBody>
      </p:sp>
      <p:sp>
        <p:nvSpPr>
          <p:cNvPr id="5" name="">
            <a:extLst xmlns:a="http://schemas.openxmlformats.org/drawingml/2006/main">
              <a:ext uri="{FF2B5EF4-FFF2-40B4-BE49-F238E27FC236}">
                <a16:creationId xmlns:a16="http://schemas.microsoft.com/office/drawing/2014/main" id="{F0DF4A18-74B0-4AEC-AD59-BC05DD988C5B}"/>
              </a:ext>
            </a:extLst>
          </p:cNvPr>
          <p:cNvSpPr>
            <a:spLocks xmlns:a="http://schemas.openxmlformats.org/drawingml/2006/main" noGrp="1"/>
          </p:cNvSpPr>
          <p:nvPr/>
        </p:nvSpPr>
        <p:spPr>
          <a:xfrm xmlns:a="http://schemas.openxmlformats.org/drawingml/2006/main">
            <a:off x="647700" y="3505200"/>
            <a:ext cx="723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4F0E8"/>
                </a:solidFill>
                <a:latin typeface="Avenir Next"/>
                <a:ea typeface="Avenir Next"/>
                <a:cs typeface="Avenir Next"/>
              </a:defRPr>
            </a:pPr>
            <a:r>
              <a:rPr sz="2550" b="0">
                <a:solidFill>
                  <a:srgbClr val="F4F0E8"/>
                </a:solidFill>
                <a:latin typeface="Avenir Next"/>
                <a:ea typeface="Avenir Next"/>
                <a:cs typeface="Avenir Next"/>
              </a:rPr>
              <a:t>What Dossier’s experiments tell us</a:t>
            </a:r>
          </a:p>
          <a:p xmlns:a="http://schemas.openxmlformats.org/drawingml/2006/main">
            <a:pPr>
              <a:defRPr sz="2550" b="0">
                <a:solidFill>
                  <a:srgbClr val="F4F0E8"/>
                </a:solidFill>
                <a:latin typeface="Avenir Next"/>
                <a:ea typeface="Avenir Next"/>
                <a:cs typeface="Avenir Next"/>
              </a:defRPr>
            </a:pPr>
            <a:r>
              <a:rPr sz="2550" b="0">
                <a:solidFill>
                  <a:srgbClr val="F4F0E8"/>
                </a:solidFill>
                <a:latin typeface="Avenir Next"/>
                <a:ea typeface="Avenir Next"/>
                <a:cs typeface="Avenir Next"/>
              </a:rPr>
              <a:t>about better recommendations</a:t>
            </a:r>
          </a:p>
        </p:txBody>
      </p:sp>
      <p:sp>
        <p:nvSpPr>
          <p:cNvPr id="6" name="">
            <a:extLst xmlns:a="http://schemas.openxmlformats.org/drawingml/2006/main">
              <a:ext uri="{FF2B5EF4-FFF2-40B4-BE49-F238E27FC236}">
                <a16:creationId xmlns:a16="http://schemas.microsoft.com/office/drawing/2014/main" id="{C32DF23F-482E-4FF5-954C-1DEEB3B7554C}"/>
              </a:ext>
            </a:extLst>
          </p:cNvPr>
          <p:cNvSpPr>
            <a:spLocks xmlns:a="http://schemas.openxmlformats.org/drawingml/2006/main" noGrp="1"/>
          </p:cNvSpPr>
          <p:nvPr/>
        </p:nvSpPr>
        <p:spPr>
          <a:xfrm xmlns:a="http://schemas.openxmlformats.org/drawingml/2006/main">
            <a:off x="647700" y="5562600"/>
            <a:ext cx="714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7ED1BD"/>
                </a:solidFill>
                <a:latin typeface="Avenir Next"/>
                <a:ea typeface="Avenir Next"/>
                <a:cs typeface="Avenir Next"/>
              </a:defRPr>
            </a:pPr>
            <a:r>
              <a:rPr sz="1725" b="0">
                <a:solidFill>
                  <a:srgbClr val="7ED1BD"/>
                </a:solidFill>
                <a:latin typeface="Avenir Next"/>
                <a:ea typeface="Avenir Next"/>
                <a:cs typeface="Avenir Next"/>
              </a:rPr>
              <a:t>Leadership review</a:t>
            </a:r>
          </a:p>
          <a:p xmlns:a="http://schemas.openxmlformats.org/drawingml/2006/main">
            <a:pPr>
              <a:defRPr sz="1725" b="0">
                <a:solidFill>
                  <a:srgbClr val="7ED1BD"/>
                </a:solidFill>
                <a:latin typeface="Avenir Next"/>
                <a:ea typeface="Avenir Next"/>
                <a:cs typeface="Avenir Next"/>
              </a:defRPr>
            </a:pPr>
            <a:r>
              <a:rPr sz="1725" b="0">
                <a:solidFill>
                  <a:srgbClr val="7ED1BD"/>
                </a:solidFill>
                <a:latin typeface="Avenir Next"/>
                <a:ea typeface="Avenir Next"/>
                <a:cs typeface="Avenir Next"/>
              </a:rPr>
              <a:t>2 October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be7732f047a438c"/>
          <a:stretch xmlns:a="http://schemas.openxmlformats.org/drawingml/2006/main"/>
        </p:blipFill>
        <p:spPr>
          <a:xfrm xmlns:a="http://schemas.openxmlformats.org/drawingml/2006/main">
            <a:off x="10668000" y="5429250"/>
            <a:ext cx="904875" cy="904875"/>
          </a:xfrm>
          <a:prstGeom xmlns:a="http://schemas.openxmlformats.org/drawingml/2006/main" prst="rect">
            <a:avLst/>
          </a:prstGeom>
        </p:spPr>
      </p:pic>
    </p:spTree>
    <p:extLst>
      <p:ext uri="{BB962C8B-B14F-4D97-AF65-F5344CB8AC3E}">
        <p14:creationId xmlns:p14="http://schemas.microsoft.com/office/powerpoint/2010/main" val="802356969"/>
      </p:ext>
    </p:extLst>
  </p:cSld>
</p:sld>
</file>

<file path=ppt/slides/slide2.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0A5DCF1-87C9-468C-8BBD-76522FB298A5}"/>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We tested learning against answers kept hidden</a:t>
            </a:r>
          </a:p>
        </p:txBody>
      </p:sp>
      <p:sp>
        <p:nvSpPr>
          <p:cNvPr id="2" name="">
            <a:extLst xmlns:a="http://schemas.openxmlformats.org/drawingml/2006/main">
              <a:ext uri="{FF2B5EF4-FFF2-40B4-BE49-F238E27FC236}">
                <a16:creationId xmlns:a16="http://schemas.microsoft.com/office/drawing/2014/main" id="{1447B62C-83E2-4BEB-8AD5-14194C4549BE}"/>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The objective: learn from a few ratings, then suggest films that person actually likes.</a:t>
            </a:r>
          </a:p>
        </p:txBody>
      </p:sp>
      <p:sp>
        <p:nvSpPr>
          <p:cNvPr id="3" name="">
            <a:extLst xmlns:a="http://schemas.openxmlformats.org/drawingml/2006/main">
              <a:ext uri="{FF2B5EF4-FFF2-40B4-BE49-F238E27FC236}">
                <a16:creationId xmlns:a16="http://schemas.microsoft.com/office/drawing/2014/main" id="{FEF7F0EF-98ED-4D08-A1A3-4D842B5A1EB0}"/>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9DF55F7D-6B9B-48FF-9F26-95B676C3E601}"/>
              </a:ext>
            </a:extLst>
          </p:cNvPr>
          <p:cNvSpPr>
            <a:spLocks xmlns:a="http://schemas.openxmlformats.org/drawingml/2006/main" noGrp="1"/>
          </p:cNvSpPr>
          <p:nvPr/>
        </p:nvSpPr>
        <p:spPr>
          <a:xfrm xmlns:a="http://schemas.openxmlformats.org/drawingml/2006/main">
            <a:off x="6096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01</a:t>
            </a:r>
          </a:p>
        </p:txBody>
      </p:sp>
      <p:sp>
        <p:nvSpPr>
          <p:cNvPr id="5" name="">
            <a:extLst xmlns:a="http://schemas.openxmlformats.org/drawingml/2006/main">
              <a:ext uri="{FF2B5EF4-FFF2-40B4-BE49-F238E27FC236}">
                <a16:creationId xmlns:a16="http://schemas.microsoft.com/office/drawing/2014/main" id="{5058EAA9-CC09-4459-B79B-6DBF8770317E}"/>
              </a:ext>
            </a:extLst>
          </p:cNvPr>
          <p:cNvSpPr>
            <a:spLocks xmlns:a="http://schemas.openxmlformats.org/drawingml/2006/main" noGrp="1"/>
          </p:cNvSpPr>
          <p:nvPr/>
        </p:nvSpPr>
        <p:spPr>
          <a:xfrm xmlns:a="http://schemas.openxmlformats.org/drawingml/2006/main">
            <a:off x="6096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Known taste</a:t>
            </a:r>
          </a:p>
        </p:txBody>
      </p:sp>
      <p:sp>
        <p:nvSpPr>
          <p:cNvPr id="6" name="">
            <a:extLst xmlns:a="http://schemas.openxmlformats.org/drawingml/2006/main">
              <a:ext uri="{FF2B5EF4-FFF2-40B4-BE49-F238E27FC236}">
                <a16:creationId xmlns:a16="http://schemas.microsoft.com/office/drawing/2014/main" id="{00BDA220-5430-463E-A21A-3701E19BEDBA}"/>
              </a:ext>
            </a:extLst>
          </p:cNvPr>
          <p:cNvSpPr>
            <a:spLocks xmlns:a="http://schemas.openxmlformats.org/drawingml/2006/main" noGrp="1"/>
          </p:cNvSpPr>
          <p:nvPr/>
        </p:nvSpPr>
        <p:spPr>
          <a:xfrm xmlns:a="http://schemas.openxmlformats.org/drawingml/2006/main">
            <a:off x="6096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Start with recorded</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film ratings.</a:t>
            </a:r>
          </a:p>
        </p:txBody>
      </p:sp>
      <p:sp>
        <p:nvSpPr>
          <p:cNvPr id="7" name="">
            <a:extLst xmlns:a="http://schemas.openxmlformats.org/drawingml/2006/main">
              <a:ext uri="{FF2B5EF4-FFF2-40B4-BE49-F238E27FC236}">
                <a16:creationId xmlns:a16="http://schemas.microsoft.com/office/drawing/2014/main" id="{730BE311-C818-4CDC-8232-BFBAF5A46864}"/>
              </a:ext>
            </a:extLst>
          </p:cNvPr>
          <p:cNvSpPr>
            <a:spLocks xmlns:a="http://schemas.openxmlformats.org/drawingml/2006/main" noGrp="1"/>
          </p:cNvSpPr>
          <p:nvPr/>
        </p:nvSpPr>
        <p:spPr>
          <a:xfrm xmlns:a="http://schemas.openxmlformats.org/drawingml/2006/main">
            <a:off x="33909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02</a:t>
            </a:r>
          </a:p>
        </p:txBody>
      </p:sp>
      <p:sp>
        <p:nvSpPr>
          <p:cNvPr id="8" name="">
            <a:extLst xmlns:a="http://schemas.openxmlformats.org/drawingml/2006/main">
              <a:ext uri="{FF2B5EF4-FFF2-40B4-BE49-F238E27FC236}">
                <a16:creationId xmlns:a16="http://schemas.microsoft.com/office/drawing/2014/main" id="{BE12B298-7C92-4D13-87FC-829D91196435}"/>
              </a:ext>
            </a:extLst>
          </p:cNvPr>
          <p:cNvSpPr>
            <a:spLocks xmlns:a="http://schemas.openxmlformats.org/drawingml/2006/main" noGrp="1"/>
          </p:cNvSpPr>
          <p:nvPr/>
        </p:nvSpPr>
        <p:spPr>
          <a:xfrm xmlns:a="http://schemas.openxmlformats.org/drawingml/2006/main">
            <a:off x="33909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Limited evidence</a:t>
            </a:r>
          </a:p>
        </p:txBody>
      </p:sp>
      <p:sp>
        <p:nvSpPr>
          <p:cNvPr id="9" name="">
            <a:extLst xmlns:a="http://schemas.openxmlformats.org/drawingml/2006/main">
              <a:ext uri="{FF2B5EF4-FFF2-40B4-BE49-F238E27FC236}">
                <a16:creationId xmlns:a16="http://schemas.microsoft.com/office/drawing/2014/main" id="{79A2829D-A118-4247-9AD5-07564684E9A9}"/>
              </a:ext>
            </a:extLst>
          </p:cNvPr>
          <p:cNvSpPr>
            <a:spLocks xmlns:a="http://schemas.openxmlformats.org/drawingml/2006/main" noGrp="1"/>
          </p:cNvSpPr>
          <p:nvPr/>
        </p:nvSpPr>
        <p:spPr>
          <a:xfrm xmlns:a="http://schemas.openxmlformats.org/drawingml/2006/main">
            <a:off x="33909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Reveal only a few</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through the CLI.</a:t>
            </a:r>
          </a:p>
        </p:txBody>
      </p:sp>
      <p:sp>
        <p:nvSpPr>
          <p:cNvPr id="10" name="">
            <a:extLst xmlns:a="http://schemas.openxmlformats.org/drawingml/2006/main">
              <a:ext uri="{FF2B5EF4-FFF2-40B4-BE49-F238E27FC236}">
                <a16:creationId xmlns:a16="http://schemas.microsoft.com/office/drawing/2014/main" id="{5E868F77-FD8F-4597-9DD6-83A2F12FE07C}"/>
              </a:ext>
            </a:extLst>
          </p:cNvPr>
          <p:cNvSpPr>
            <a:spLocks xmlns:a="http://schemas.openxmlformats.org/drawingml/2006/main" noGrp="1"/>
          </p:cNvSpPr>
          <p:nvPr/>
        </p:nvSpPr>
        <p:spPr>
          <a:xfrm xmlns:a="http://schemas.openxmlformats.org/drawingml/2006/main">
            <a:off x="61722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03</a:t>
            </a:r>
          </a:p>
        </p:txBody>
      </p:sp>
      <p:sp>
        <p:nvSpPr>
          <p:cNvPr id="11" name="">
            <a:extLst xmlns:a="http://schemas.openxmlformats.org/drawingml/2006/main">
              <a:ext uri="{FF2B5EF4-FFF2-40B4-BE49-F238E27FC236}">
                <a16:creationId xmlns:a16="http://schemas.microsoft.com/office/drawing/2014/main" id="{2B9CA5EC-D452-437B-89A5-6C8509775433}"/>
              </a:ext>
            </a:extLst>
          </p:cNvPr>
          <p:cNvSpPr>
            <a:spLocks xmlns:a="http://schemas.openxmlformats.org/drawingml/2006/main" noGrp="1"/>
          </p:cNvSpPr>
          <p:nvPr/>
        </p:nvSpPr>
        <p:spPr>
          <a:xfrm xmlns:a="http://schemas.openxmlformats.org/drawingml/2006/main">
            <a:off x="61722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Film ranking</a:t>
            </a:r>
          </a:p>
        </p:txBody>
      </p:sp>
      <p:sp>
        <p:nvSpPr>
          <p:cNvPr id="12" name="">
            <a:extLst xmlns:a="http://schemas.openxmlformats.org/drawingml/2006/main">
              <a:ext uri="{FF2B5EF4-FFF2-40B4-BE49-F238E27FC236}">
                <a16:creationId xmlns:a16="http://schemas.microsoft.com/office/drawing/2014/main" id="{7166968A-C35C-4A0A-A3ED-09DFFE9A3B47}"/>
              </a:ext>
            </a:extLst>
          </p:cNvPr>
          <p:cNvSpPr>
            <a:spLocks xmlns:a="http://schemas.openxmlformats.org/drawingml/2006/main" noGrp="1"/>
          </p:cNvSpPr>
          <p:nvPr/>
        </p:nvSpPr>
        <p:spPr>
          <a:xfrm xmlns:a="http://schemas.openxmlformats.org/drawingml/2006/main">
            <a:off x="61722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Ask Dossier to rank</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other rated films.</a:t>
            </a:r>
          </a:p>
        </p:txBody>
      </p:sp>
      <p:sp>
        <p:nvSpPr>
          <p:cNvPr id="13" name="">
            <a:extLst xmlns:a="http://schemas.openxmlformats.org/drawingml/2006/main">
              <a:ext uri="{FF2B5EF4-FFF2-40B4-BE49-F238E27FC236}">
                <a16:creationId xmlns:a16="http://schemas.microsoft.com/office/drawing/2014/main" id="{7682EDAF-D764-47D5-964C-589E313A8C86}"/>
              </a:ext>
            </a:extLst>
          </p:cNvPr>
          <p:cNvSpPr>
            <a:spLocks xmlns:a="http://schemas.openxmlformats.org/drawingml/2006/main" noGrp="1"/>
          </p:cNvSpPr>
          <p:nvPr/>
        </p:nvSpPr>
        <p:spPr>
          <a:xfrm xmlns:a="http://schemas.openxmlformats.org/drawingml/2006/main">
            <a:off x="89535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04</a:t>
            </a:r>
          </a:p>
        </p:txBody>
      </p:sp>
      <p:sp>
        <p:nvSpPr>
          <p:cNvPr id="14" name="">
            <a:extLst xmlns:a="http://schemas.openxmlformats.org/drawingml/2006/main">
              <a:ext uri="{FF2B5EF4-FFF2-40B4-BE49-F238E27FC236}">
                <a16:creationId xmlns:a16="http://schemas.microsoft.com/office/drawing/2014/main" id="{C61358C9-08BF-4445-ADA3-17F013FA9309}"/>
              </a:ext>
            </a:extLst>
          </p:cNvPr>
          <p:cNvSpPr>
            <a:spLocks xmlns:a="http://schemas.openxmlformats.org/drawingml/2006/main" noGrp="1"/>
          </p:cNvSpPr>
          <p:nvPr/>
        </p:nvSpPr>
        <p:spPr>
          <a:xfrm xmlns:a="http://schemas.openxmlformats.org/drawingml/2006/main">
            <a:off x="89535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Hidden answers</a:t>
            </a:r>
          </a:p>
        </p:txBody>
      </p:sp>
      <p:sp>
        <p:nvSpPr>
          <p:cNvPr id="15" name="">
            <a:extLst xmlns:a="http://schemas.openxmlformats.org/drawingml/2006/main">
              <a:ext uri="{FF2B5EF4-FFF2-40B4-BE49-F238E27FC236}">
                <a16:creationId xmlns:a16="http://schemas.microsoft.com/office/drawing/2014/main" id="{9868EEC5-DDFC-419E-95A8-76BD7F0EC0D6}"/>
              </a:ext>
            </a:extLst>
          </p:cNvPr>
          <p:cNvSpPr>
            <a:spLocks xmlns:a="http://schemas.openxmlformats.org/drawingml/2006/main" noGrp="1"/>
          </p:cNvSpPr>
          <p:nvPr/>
        </p:nvSpPr>
        <p:spPr>
          <a:xfrm xmlns:a="http://schemas.openxmlformats.org/drawingml/2006/main">
            <a:off x="89535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Check that liked films</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come before dislikes.</a:t>
            </a:r>
          </a:p>
        </p:txBody>
      </p:sp>
      <p:sp>
        <p:nvSpPr>
          <p:cNvPr id="16" name="">
            <a:extLst xmlns:a="http://schemas.openxmlformats.org/drawingml/2006/main">
              <a:ext uri="{FF2B5EF4-FFF2-40B4-BE49-F238E27FC236}">
                <a16:creationId xmlns:a16="http://schemas.microsoft.com/office/drawing/2014/main" id="{0D1B11DA-1429-4373-AFD3-1A0A8D9657FE}"/>
              </a:ext>
            </a:extLst>
          </p:cNvPr>
          <p:cNvSpPr>
            <a:spLocks xmlns:a="http://schemas.openxmlformats.org/drawingml/2006/main" noGrp="1"/>
          </p:cNvSpPr>
          <p:nvPr/>
        </p:nvSpPr>
        <p:spPr>
          <a:xfrm xmlns:a="http://schemas.openxmlformats.org/drawingml/2006/main">
            <a:off x="609600" y="526732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Invented tastes first. Then 31, 47 and 30 real viewers, with four rating orders each.</a:t>
            </a:r>
          </a:p>
        </p:txBody>
      </p:sp>
      <p:sp>
        <p:nvSpPr>
          <p:cNvPr id="17" name="">
            <a:extLst xmlns:a="http://schemas.openxmlformats.org/drawingml/2006/main">
              <a:ext uri="{FF2B5EF4-FFF2-40B4-BE49-F238E27FC236}">
                <a16:creationId xmlns:a16="http://schemas.microsoft.com/office/drawing/2014/main" id="{62FE5564-F07C-4CD8-A828-FFC4D4E4F11B}"/>
              </a:ext>
            </a:extLst>
          </p:cNvPr>
          <p:cNvSpPr>
            <a:spLocks xmlns:a="http://schemas.openxmlformats.org/drawingml/2006/main" noGrp="1"/>
          </p:cNvSpPr>
          <p:nvPr/>
        </p:nvSpPr>
        <p:spPr>
          <a:xfrm xmlns:a="http://schemas.openxmlformats.org/drawingml/2006/main">
            <a:off x="609600" y="6096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76B72"/>
                </a:solidFill>
                <a:latin typeface="Avenir Next"/>
                <a:ea typeface="Avenir Next"/>
                <a:cs typeface="Avenir Next"/>
              </a:defRPr>
            </a:pPr>
            <a:r>
              <a:rPr sz="1575" b="0">
                <a:solidFill>
                  <a:srgbClr val="576B72"/>
                </a:solidFill>
                <a:latin typeface="Avenir Next"/>
                <a:ea typeface="Avenir Next"/>
                <a:cs typeface="Avenir Next"/>
              </a:rPr>
              <a:t>CLI means the command tool we used to add ratings and inspect the model automatically.</a:t>
            </a:r>
          </a:p>
        </p:txBody>
      </p:sp>
    </p:spTree>
    <p:extLst>
      <p:ext uri="{BB962C8B-B14F-4D97-AF65-F5344CB8AC3E}">
        <p14:creationId xmlns:p14="http://schemas.microsoft.com/office/powerpoint/2010/main" val="1360109785"/>
      </p:ext>
    </p:extLst>
  </p:cSld>
</p:sld>
</file>

<file path=ppt/slides/slide3.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C8056D-1F63-4329-A97E-BB262D85B84A}"/>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Real viewers changed the conclusion</a:t>
            </a:r>
          </a:p>
        </p:txBody>
      </p:sp>
      <p:sp>
        <p:nvSpPr>
          <p:cNvPr id="2" name="">
            <a:extLst xmlns:a="http://schemas.openxmlformats.org/drawingml/2006/main">
              <a:ext uri="{FF2B5EF4-FFF2-40B4-BE49-F238E27FC236}">
                <a16:creationId xmlns:a16="http://schemas.microsoft.com/office/drawing/2014/main" id="{5C9CB9E0-B8AD-4014-82C1-B6525985CA33}"/>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Ordering score: how often a liked film comes first. Higher is better. Public reviews use average audience ratings.</a:t>
            </a:r>
          </a:p>
        </p:txBody>
      </p:sp>
      <p:sp>
        <p:nvSpPr>
          <p:cNvPr id="3" name="">
            <a:extLst xmlns:a="http://schemas.openxmlformats.org/drawingml/2006/main">
              <a:ext uri="{FF2B5EF4-FFF2-40B4-BE49-F238E27FC236}">
                <a16:creationId xmlns:a16="http://schemas.microsoft.com/office/drawing/2014/main" id="{256BB6D5-83E2-42DB-AE6C-35BD2988ADBD}"/>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746BD501-8057-4B82-89AF-B5F3DDD1C3A8}"/>
              </a:ext>
            </a:extLst>
          </p:cNvPr>
          <p:cNvSpPr>
            <a:spLocks xmlns:a="http://schemas.openxmlformats.org/drawingml/2006/main" noGrp="1"/>
          </p:cNvSpPr>
          <p:nvPr/>
        </p:nvSpPr>
        <p:spPr>
          <a:xfrm xmlns:a="http://schemas.openxmlformats.org/drawingml/2006/main">
            <a:off x="609600" y="2314575"/>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450" b="1">
                <a:solidFill>
                  <a:srgbClr val="E6B86A"/>
                </a:solidFill>
                <a:latin typeface="Avenir Next"/>
                <a:ea typeface="Avenir Next"/>
                <a:cs typeface="Avenir Next"/>
              </a:defRPr>
            </a:pPr>
            <a:r>
              <a:rPr sz="6450" b="1">
                <a:solidFill>
                  <a:srgbClr val="E6B86A"/>
                </a:solidFill>
                <a:latin typeface="Avenir Next"/>
                <a:ea typeface="Avenir Next"/>
                <a:cs typeface="Avenir Next"/>
              </a:rPr>
              <a:t>98%</a:t>
            </a:r>
          </a:p>
        </p:txBody>
      </p:sp>
      <p:sp>
        <p:nvSpPr>
          <p:cNvPr id="5" name="">
            <a:extLst xmlns:a="http://schemas.openxmlformats.org/drawingml/2006/main">
              <a:ext uri="{FF2B5EF4-FFF2-40B4-BE49-F238E27FC236}">
                <a16:creationId xmlns:a16="http://schemas.microsoft.com/office/drawing/2014/main" id="{D59A8A39-2D74-4123-BD87-98AF011290B1}"/>
              </a:ext>
            </a:extLst>
          </p:cNvPr>
          <p:cNvSpPr>
            <a:spLocks xmlns:a="http://schemas.openxmlformats.org/drawingml/2006/main" noGrp="1"/>
          </p:cNvSpPr>
          <p:nvPr/>
        </p:nvSpPr>
        <p:spPr>
          <a:xfrm xmlns:a="http://schemas.openxmlformats.org/drawingml/2006/main">
            <a:off x="609600" y="35528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after one rating</a:t>
            </a:r>
          </a:p>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for an easy invented person</a:t>
            </a:r>
          </a:p>
        </p:txBody>
      </p:sp>
      <p:sp>
        <p:nvSpPr>
          <p:cNvPr id="6" name="">
            <a:extLst xmlns:a="http://schemas.openxmlformats.org/drawingml/2006/main">
              <a:ext uri="{FF2B5EF4-FFF2-40B4-BE49-F238E27FC236}">
                <a16:creationId xmlns:a16="http://schemas.microsoft.com/office/drawing/2014/main" id="{8D3707A7-EC21-498D-864B-2B3E8A782BC7}"/>
              </a:ext>
            </a:extLst>
          </p:cNvPr>
          <p:cNvSpPr>
            <a:spLocks xmlns:a="http://schemas.openxmlformats.org/drawingml/2006/main" noGrp="1"/>
          </p:cNvSpPr>
          <p:nvPr/>
        </p:nvSpPr>
        <p:spPr>
          <a:xfrm xmlns:a="http://schemas.openxmlformats.org/drawingml/2006/main">
            <a:off x="609600" y="4676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D0CC"/>
                </a:solidFill>
                <a:latin typeface="Avenir Next"/>
                <a:ea typeface="Avenir Next"/>
                <a:cs typeface="Avenir Next"/>
              </a:defRPr>
            </a:pPr>
            <a:r>
              <a:rPr sz="1950" b="0">
                <a:solidFill>
                  <a:srgbClr val="BDD0CC"/>
                </a:solidFill>
                <a:latin typeface="Avenir Next"/>
                <a:ea typeface="Avenir Next"/>
                <a:cs typeface="Avenir Next"/>
              </a:rPr>
              <a:t>The test shared too many</a:t>
            </a:r>
          </a:p>
          <a:p xmlns:a="http://schemas.openxmlformats.org/drawingml/2006/main">
            <a:pPr>
              <a:defRPr sz="1950" b="0">
                <a:solidFill>
                  <a:srgbClr val="BDD0CC"/>
                </a:solidFill>
                <a:latin typeface="Avenir Next"/>
                <a:ea typeface="Avenir Next"/>
                <a:cs typeface="Avenir Next"/>
              </a:defRPr>
            </a:pPr>
            <a:r>
              <a:rPr sz="1950" b="0">
                <a:solidFill>
                  <a:srgbClr val="BDD0CC"/>
                </a:solidFill>
                <a:latin typeface="Avenir Next"/>
                <a:ea typeface="Avenir Next"/>
                <a:cs typeface="Avenir Next"/>
              </a:rPr>
              <a:t>of Dossier’s assumptions.</a:t>
            </a:r>
          </a:p>
        </p:txBody>
      </p:sp>
      <p:sp>
        <p:nvSpPr>
          <p:cNvPr id="7" name="">
            <a:extLst xmlns:a="http://schemas.openxmlformats.org/drawingml/2006/main">
              <a:ext uri="{FF2B5EF4-FFF2-40B4-BE49-F238E27FC236}">
                <a16:creationId xmlns:a16="http://schemas.microsoft.com/office/drawing/2014/main" id="{A7333D32-569D-4958-B0B6-1BCBBE2F1350}"/>
              </a:ext>
            </a:extLst>
          </p:cNvPr>
          <p:cNvSpPr>
            <a:spLocks xmlns:a="http://schemas.openxmlformats.org/drawingml/2006/main" noGrp="1"/>
          </p:cNvSpPr>
          <p:nvPr/>
        </p:nvSpPr>
        <p:spPr>
          <a:xfrm xmlns:a="http://schemas.openxmlformats.org/drawingml/2006/main">
            <a:off x="5295900" y="20764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BDD0CC"/>
                </a:solidFill>
                <a:latin typeface="Avenir Next"/>
                <a:ea typeface="Avenir Next"/>
                <a:cs typeface="Avenir Next"/>
              </a:defRPr>
            </a:pPr>
            <a:r>
              <a:rPr sz="1650" b="0">
                <a:solidFill>
                  <a:srgbClr val="BDD0CC"/>
                </a:solidFill>
                <a:latin typeface="Avenir Next"/>
                <a:ea typeface="Avenir Next"/>
                <a:cs typeface="Avenir Next"/>
              </a:rPr>
              <a:t>31 real viewers, after 20 ratings</a:t>
            </a:r>
          </a:p>
        </p:txBody>
      </p:sp>
      <p:graphicFrame>
        <p:nvGraphicFramePr>
          <p:cNvPr id="17" name="Chart"/>
          <p:cNvGraphicFramePr/>
          <p:nvPr/>
        </p:nvGraphicFramePr>
        <p:xfrm>
          <a:off xmlns:a="http://schemas.openxmlformats.org/drawingml/2006/main" x="5029200" y="2286000"/>
          <a:ext xmlns:a="http://schemas.openxmlformats.org/drawingml/2006/main" cx="6238875" cy="2952750"/>
        </p:xfrm>
        <a:graphic xmlns:a="http://schemas.openxmlformats.org/drawingml/2006/main">
          <a:graphicData uri="http://schemas.openxmlformats.org/drawingml/2006/chart">
            <c:chart xmlns:r="http://schemas.openxmlformats.org/officeDocument/2006/relationships" xmlns:c="http://schemas.openxmlformats.org/drawingml/2006/chart" r:id="Re14b6a78dfcc4db8"/>
          </a:graphicData>
        </a:graphic>
      </p:graphicFrame>
      <p:sp>
        <p:nvSpPr>
          <p:cNvPr id="9" name="">
            <a:extLst xmlns:a="http://schemas.openxmlformats.org/drawingml/2006/main">
              <a:ext uri="{FF2B5EF4-FFF2-40B4-BE49-F238E27FC236}">
                <a16:creationId xmlns:a16="http://schemas.microsoft.com/office/drawing/2014/main" id="{8C57820F-8DBD-4AE7-85F1-A359DFC45F98}"/>
              </a:ext>
            </a:extLst>
          </p:cNvPr>
          <p:cNvSpPr>
            <a:spLocks xmlns:a="http://schemas.openxmlformats.org/drawingml/2006/main" noGrp="1"/>
          </p:cNvSpPr>
          <p:nvPr/>
        </p:nvSpPr>
        <p:spPr>
          <a:xfrm xmlns:a="http://schemas.openxmlformats.org/drawingml/2006/main">
            <a:off x="609600" y="58293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In the real-viewer test, public reviews found nearly two more liked films per ten.</a:t>
            </a:r>
          </a:p>
        </p:txBody>
      </p:sp>
    </p:spTree>
    <p:extLst>
      <p:ext uri="{BB962C8B-B14F-4D97-AF65-F5344CB8AC3E}">
        <p14:creationId xmlns:p14="http://schemas.microsoft.com/office/powerpoint/2010/main" val="55683323"/>
      </p:ext>
    </p:extLst>
  </p:cSld>
</p:sld>
</file>

<file path=ppt/slides/slide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BF958C-C30D-47A9-93E3-46D9BA7F3069}"/>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More ratings helped slowly and sometimes hurt</a:t>
            </a:r>
          </a:p>
        </p:txBody>
      </p:sp>
      <p:sp>
        <p:nvSpPr>
          <p:cNvPr id="2" name="">
            <a:extLst xmlns:a="http://schemas.openxmlformats.org/drawingml/2006/main">
              <a:ext uri="{FF2B5EF4-FFF2-40B4-BE49-F238E27FC236}">
                <a16:creationId xmlns:a16="http://schemas.microsoft.com/office/drawing/2014/main" id="{1D5FC788-6FAF-4013-99F6-03A670DC8249}"/>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Same 31 viewers, updated public film details. Ordering score, higher is better.</a:t>
            </a:r>
          </a:p>
        </p:txBody>
      </p:sp>
      <p:sp>
        <p:nvSpPr>
          <p:cNvPr id="3" name="">
            <a:extLst xmlns:a="http://schemas.openxmlformats.org/drawingml/2006/main">
              <a:ext uri="{FF2B5EF4-FFF2-40B4-BE49-F238E27FC236}">
                <a16:creationId xmlns:a16="http://schemas.microsoft.com/office/drawing/2014/main" id="{29556FE4-CBD1-4D5A-963A-8E6D0982CAC0}"/>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04</a:t>
            </a:r>
          </a:p>
        </p:txBody>
      </p:sp>
      <p:graphicFrame>
        <p:nvGraphicFramePr>
          <p:cNvPr id="12" name="Chart"/>
          <p:cNvGraphicFramePr/>
          <p:nvPr/>
        </p:nvGraphicFramePr>
        <p:xfrm>
          <a:off xmlns:a="http://schemas.openxmlformats.org/drawingml/2006/main" x="609600" y="2276475"/>
          <a:ext xmlns:a="http://schemas.openxmlformats.org/drawingml/2006/main" cx="7524750" cy="3048000"/>
        </p:xfrm>
        <a:graphic xmlns:a="http://schemas.openxmlformats.org/drawingml/2006/main">
          <a:graphicData uri="http://schemas.openxmlformats.org/drawingml/2006/chart">
            <c:chart xmlns:r="http://schemas.openxmlformats.org/officeDocument/2006/relationships" xmlns:c="http://schemas.openxmlformats.org/drawingml/2006/chart" r:id="R5e86df1b9b2a4df3"/>
          </a:graphicData>
        </a:graphic>
      </p:graphicFrame>
      <p:sp>
        <p:nvSpPr>
          <p:cNvPr id="5" name="">
            <a:extLst xmlns:a="http://schemas.openxmlformats.org/drawingml/2006/main">
              <a:ext uri="{FF2B5EF4-FFF2-40B4-BE49-F238E27FC236}">
                <a16:creationId xmlns:a16="http://schemas.microsoft.com/office/drawing/2014/main" id="{6DE1FA6C-9CF3-4F1E-AB3C-B40495B4E38D}"/>
              </a:ext>
            </a:extLst>
          </p:cNvPr>
          <p:cNvSpPr>
            <a:spLocks xmlns:a="http://schemas.openxmlformats.org/drawingml/2006/main" noGrp="1"/>
          </p:cNvSpPr>
          <p:nvPr/>
        </p:nvSpPr>
        <p:spPr>
          <a:xfrm xmlns:a="http://schemas.openxmlformats.org/drawingml/2006/main">
            <a:off x="8553450" y="2266950"/>
            <a:ext cx="300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75" b="1">
                <a:solidFill>
                  <a:srgbClr val="DB624C"/>
                </a:solidFill>
                <a:latin typeface="Avenir Next"/>
                <a:ea typeface="Avenir Next"/>
                <a:cs typeface="Avenir Next"/>
              </a:defRPr>
            </a:pPr>
            <a:r>
              <a:rPr sz="3975" b="1">
                <a:solidFill>
                  <a:srgbClr val="DB624C"/>
                </a:solidFill>
                <a:latin typeface="Avenir Next"/>
                <a:ea typeface="Avenir Next"/>
                <a:cs typeface="Avenir Next"/>
              </a:rPr>
              <a:t>35 / 124</a:t>
            </a:r>
          </a:p>
        </p:txBody>
      </p:sp>
      <p:sp>
        <p:nvSpPr>
          <p:cNvPr id="6" name="">
            <a:extLst xmlns:a="http://schemas.openxmlformats.org/drawingml/2006/main">
              <a:ext uri="{FF2B5EF4-FFF2-40B4-BE49-F238E27FC236}">
                <a16:creationId xmlns:a16="http://schemas.microsoft.com/office/drawing/2014/main" id="{E320A2CE-EA5D-4B24-BA0A-7B239B93A656}"/>
              </a:ext>
            </a:extLst>
          </p:cNvPr>
          <p:cNvSpPr>
            <a:spLocks xmlns:a="http://schemas.openxmlformats.org/drawingml/2006/main" noGrp="1"/>
          </p:cNvSpPr>
          <p:nvPr/>
        </p:nvSpPr>
        <p:spPr>
          <a:xfrm xmlns:a="http://schemas.openxmlformats.org/drawingml/2006/main">
            <a:off x="8553450" y="3276600"/>
            <a:ext cx="3000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4262D"/>
                </a:solidFill>
                <a:latin typeface="Avenir Next"/>
                <a:ea typeface="Avenir Next"/>
                <a:cs typeface="Avenir Next"/>
              </a:defRPr>
            </a:pPr>
            <a:r>
              <a:rPr sz="1875" b="0">
                <a:solidFill>
                  <a:srgbClr val="14262D"/>
                </a:solidFill>
                <a:latin typeface="Avenir Next"/>
                <a:ea typeface="Avenir Next"/>
                <a:cs typeface="Avenir Next"/>
              </a:rPr>
              <a:t>sessions got worse</a:t>
            </a:r>
          </a:p>
          <a:p xmlns:a="http://schemas.openxmlformats.org/drawingml/2006/main">
            <a:pPr>
              <a:defRPr sz="1875" b="0">
                <a:solidFill>
                  <a:srgbClr val="14262D"/>
                </a:solidFill>
                <a:latin typeface="Avenir Next"/>
                <a:ea typeface="Avenir Next"/>
                <a:cs typeface="Avenir Next"/>
              </a:defRPr>
            </a:pPr>
            <a:r>
              <a:rPr sz="1875" b="0">
                <a:solidFill>
                  <a:srgbClr val="14262D"/>
                </a:solidFill>
                <a:latin typeface="Avenir Next"/>
                <a:ea typeface="Avenir Next"/>
                <a:cs typeface="Avenir Next"/>
              </a:rPr>
              <a:t>from 10 to 40 ratings</a:t>
            </a:r>
          </a:p>
        </p:txBody>
      </p:sp>
      <p:sp>
        <p:nvSpPr>
          <p:cNvPr id="7" name="">
            <a:extLst xmlns:a="http://schemas.openxmlformats.org/drawingml/2006/main">
              <a:ext uri="{FF2B5EF4-FFF2-40B4-BE49-F238E27FC236}">
                <a16:creationId xmlns:a16="http://schemas.microsoft.com/office/drawing/2014/main" id="{6097597C-3099-422B-A5F2-14BCF77AE6B8}"/>
              </a:ext>
            </a:extLst>
          </p:cNvPr>
          <p:cNvSpPr>
            <a:spLocks xmlns:a="http://schemas.openxmlformats.org/drawingml/2006/main" noGrp="1"/>
          </p:cNvSpPr>
          <p:nvPr/>
        </p:nvSpPr>
        <p:spPr>
          <a:xfrm xmlns:a="http://schemas.openxmlformats.org/drawingml/2006/main">
            <a:off x="8553450" y="4352925"/>
            <a:ext cx="30003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Bad evidence hurt the average:</a:t>
            </a:r>
          </a:p>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ratings shuffled: −11 points</a:t>
            </a:r>
          </a:p>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half reversed: −6.9 points</a:t>
            </a:r>
          </a:p>
        </p:txBody>
      </p:sp>
      <p:sp>
        <p:nvSpPr>
          <p:cNvPr id="8" name="">
            <a:extLst xmlns:a="http://schemas.openxmlformats.org/drawingml/2006/main">
              <a:ext uri="{FF2B5EF4-FFF2-40B4-BE49-F238E27FC236}">
                <a16:creationId xmlns:a16="http://schemas.microsoft.com/office/drawing/2014/main" id="{98B98585-34CC-43C1-87DF-42D8A5556719}"/>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Adding ratings is not a reliable promise of better recommendations.</a:t>
            </a:r>
          </a:p>
        </p:txBody>
      </p:sp>
    </p:spTree>
    <p:extLst>
      <p:ext uri="{BB962C8B-B14F-4D97-AF65-F5344CB8AC3E}">
        <p14:creationId xmlns:p14="http://schemas.microsoft.com/office/powerpoint/2010/main" val="1191987498"/>
      </p:ext>
    </p:extLst>
  </p:cSld>
</p:sld>
</file>

<file path=ppt/slides/slide5.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B2F3C8-29D2-4ACD-BB0F-5A7675CB4049}"/>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Correcting claims did not guarantee better films</a:t>
            </a:r>
          </a:p>
        </p:txBody>
      </p:sp>
      <p:sp>
        <p:nvSpPr>
          <p:cNvPr id="2" name="">
            <a:extLst xmlns:a="http://schemas.openxmlformats.org/drawingml/2006/main">
              <a:ext uri="{FF2B5EF4-FFF2-40B4-BE49-F238E27FC236}">
                <a16:creationId xmlns:a16="http://schemas.microsoft.com/office/drawing/2014/main" id="{86A47ECE-D191-47F1-8AF4-218D450AB80B}"/>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The model can revise statements about taste. Its choice of questions still needs work.</a:t>
            </a:r>
          </a:p>
        </p:txBody>
      </p:sp>
      <p:sp>
        <p:nvSpPr>
          <p:cNvPr id="3" name="">
            <a:extLst xmlns:a="http://schemas.openxmlformats.org/drawingml/2006/main">
              <a:ext uri="{FF2B5EF4-FFF2-40B4-BE49-F238E27FC236}">
                <a16:creationId xmlns:a16="http://schemas.microsoft.com/office/drawing/2014/main" id="{F39EA711-1E32-4267-AFAB-37A0D54275B3}"/>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05</a:t>
            </a:r>
          </a:p>
        </p:txBody>
      </p:sp>
      <p:graphicFrame>
        <p:nvGraphicFramePr>
          <p:cNvPr id="13" name="Chart"/>
          <p:cNvGraphicFramePr/>
          <p:nvPr/>
        </p:nvGraphicFramePr>
        <p:xfrm>
          <a:off xmlns:a="http://schemas.openxmlformats.org/drawingml/2006/main" x="609600" y="2200275"/>
          <a:ext xmlns:a="http://schemas.openxmlformats.org/drawingml/2006/main" cx="4000500" cy="2952750"/>
        </p:xfrm>
        <a:graphic xmlns:a="http://schemas.openxmlformats.org/drawingml/2006/main">
          <a:graphicData uri="http://schemas.openxmlformats.org/drawingml/2006/chart">
            <c:chart xmlns:r="http://schemas.openxmlformats.org/officeDocument/2006/relationships" xmlns:c="http://schemas.openxmlformats.org/drawingml/2006/chart" r:id="R69ac0e06c3a14e9a"/>
          </a:graphicData>
        </a:graphic>
      </p:graphicFrame>
      <p:sp>
        <p:nvSpPr>
          <p:cNvPr id="5" name="">
            <a:extLst xmlns:a="http://schemas.openxmlformats.org/drawingml/2006/main">
              <a:ext uri="{FF2B5EF4-FFF2-40B4-BE49-F238E27FC236}">
                <a16:creationId xmlns:a16="http://schemas.microsoft.com/office/drawing/2014/main" id="{E9D77DFD-F967-4AD1-A781-D237CDBDEF75}"/>
              </a:ext>
            </a:extLst>
          </p:cNvPr>
          <p:cNvSpPr>
            <a:spLocks xmlns:a="http://schemas.openxmlformats.org/drawingml/2006/main" noGrp="1"/>
          </p:cNvSpPr>
          <p:nvPr/>
        </p:nvSpPr>
        <p:spPr>
          <a:xfrm xmlns:a="http://schemas.openxmlformats.org/drawingml/2006/main">
            <a:off x="1552575" y="3286125"/>
            <a:ext cx="22193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67B67"/>
                </a:solidFill>
                <a:latin typeface="Avenir Next"/>
                <a:ea typeface="Avenir Next"/>
                <a:cs typeface="Avenir Next"/>
              </a:defRPr>
            </a:pPr>
            <a:r>
              <a:rPr sz="3000" b="1">
                <a:solidFill>
                  <a:srgbClr val="267B67"/>
                </a:solidFill>
                <a:latin typeface="Avenir Next"/>
                <a:ea typeface="Avenir Next"/>
                <a:cs typeface="Avenir Next"/>
              </a:rPr>
              <a:t>26 / 28</a:t>
            </a:r>
          </a:p>
        </p:txBody>
      </p:sp>
      <p:sp>
        <p:nvSpPr>
          <p:cNvPr id="6" name="">
            <a:extLst xmlns:a="http://schemas.openxmlformats.org/drawingml/2006/main">
              <a:ext uri="{FF2B5EF4-FFF2-40B4-BE49-F238E27FC236}">
                <a16:creationId xmlns:a16="http://schemas.microsoft.com/office/drawing/2014/main" id="{EEB420AA-7241-4539-9D77-375524B365C2}"/>
              </a:ext>
            </a:extLst>
          </p:cNvPr>
          <p:cNvSpPr>
            <a:spLocks xmlns:a="http://schemas.openxmlformats.org/drawingml/2006/main" noGrp="1"/>
          </p:cNvSpPr>
          <p:nvPr/>
        </p:nvSpPr>
        <p:spPr>
          <a:xfrm xmlns:a="http://schemas.openxmlformats.org/drawingml/2006/main">
            <a:off x="771525" y="52101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14262D"/>
                </a:solidFill>
                <a:latin typeface="Avenir Next"/>
                <a:ea typeface="Avenir Next"/>
                <a:cs typeface="Avenir Next"/>
              </a:defRPr>
            </a:pPr>
            <a:r>
              <a:rPr sz="1950" b="1">
                <a:solidFill>
                  <a:srgbClr val="14262D"/>
                </a:solidFill>
                <a:latin typeface="Avenir Next"/>
                <a:ea typeface="Avenir Next"/>
                <a:cs typeface="Avenir Next"/>
              </a:rPr>
              <a:t>wrong claims corrected</a:t>
            </a:r>
          </a:p>
        </p:txBody>
      </p:sp>
      <p:sp>
        <p:nvSpPr>
          <p:cNvPr id="7" name="">
            <a:extLst xmlns:a="http://schemas.openxmlformats.org/drawingml/2006/main">
              <a:ext uri="{FF2B5EF4-FFF2-40B4-BE49-F238E27FC236}">
                <a16:creationId xmlns:a16="http://schemas.microsoft.com/office/drawing/2014/main" id="{859570E8-1E8D-4AF2-A24D-C90D06B96BD3}"/>
              </a:ext>
            </a:extLst>
          </p:cNvPr>
          <p:cNvSpPr>
            <a:spLocks xmlns:a="http://schemas.openxmlformats.org/drawingml/2006/main" noGrp="1"/>
          </p:cNvSpPr>
          <p:nvPr/>
        </p:nvSpPr>
        <p:spPr>
          <a:xfrm xmlns:a="http://schemas.openxmlformats.org/drawingml/2006/main">
            <a:off x="5581650" y="2076450"/>
            <a:ext cx="5953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After 40 ratings: who asks better questions?</a:t>
            </a:r>
          </a:p>
        </p:txBody>
      </p:sp>
      <p:graphicFrame>
        <p:nvGraphicFramePr>
          <p:cNvPr id="17" name="Chart"/>
          <p:cNvGraphicFramePr/>
          <p:nvPr/>
        </p:nvGraphicFramePr>
        <p:xfrm>
          <a:off xmlns:a="http://schemas.openxmlformats.org/drawingml/2006/main" x="5581650" y="2343150"/>
          <a:ext xmlns:a="http://schemas.openxmlformats.org/drawingml/2006/main" cx="5695950" cy="2876550"/>
        </p:xfrm>
        <a:graphic xmlns:a="http://schemas.openxmlformats.org/drawingml/2006/main">
          <a:graphicData uri="http://schemas.openxmlformats.org/drawingml/2006/chart">
            <c:chart xmlns:r="http://schemas.openxmlformats.org/officeDocument/2006/relationships" xmlns:c="http://schemas.openxmlformats.org/drawingml/2006/chart" r:id="Rac9c57d320de45a4"/>
          </a:graphicData>
        </a:graphic>
      </p:graphicFrame>
      <p:sp>
        <p:nvSpPr>
          <p:cNvPr id="9" name="">
            <a:extLst xmlns:a="http://schemas.openxmlformats.org/drawingml/2006/main">
              <a:ext uri="{FF2B5EF4-FFF2-40B4-BE49-F238E27FC236}">
                <a16:creationId xmlns:a16="http://schemas.microsoft.com/office/drawing/2014/main" id="{4F70C289-2F18-49D4-9B18-B38A7684BDF6}"/>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People need better suggestions as well as more accurate statements about their taste.</a:t>
            </a:r>
          </a:p>
        </p:txBody>
      </p:sp>
    </p:spTree>
    <p:extLst>
      <p:ext uri="{BB962C8B-B14F-4D97-AF65-F5344CB8AC3E}">
        <p14:creationId xmlns:p14="http://schemas.microsoft.com/office/powerpoint/2010/main" val="960712953"/>
      </p:ext>
    </p:extLst>
  </p:cSld>
</p:sld>
</file>

<file path=ppt/slides/slide6.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864CF9-D084-4FA4-BB9F-8FEE27D07DF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Public reviews drove the strongest alternatives</a:t>
            </a:r>
          </a:p>
        </p:txBody>
      </p:sp>
      <p:sp>
        <p:nvSpPr>
          <p:cNvPr id="2" name="">
            <a:extLst xmlns:a="http://schemas.openxmlformats.org/drawingml/2006/main">
              <a:ext uri="{FF2B5EF4-FFF2-40B4-BE49-F238E27FC236}">
                <a16:creationId xmlns:a16="http://schemas.microsoft.com/office/drawing/2014/main" id="{1FABEC6B-BFAB-4F42-9432-F7630474303F}"/>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Same 31 viewers, after 20 ratings. Ordering score, higher is better.</a:t>
            </a:r>
          </a:p>
        </p:txBody>
      </p:sp>
      <p:sp>
        <p:nvSpPr>
          <p:cNvPr id="3" name="">
            <a:extLst xmlns:a="http://schemas.openxmlformats.org/drawingml/2006/main">
              <a:ext uri="{FF2B5EF4-FFF2-40B4-BE49-F238E27FC236}">
                <a16:creationId xmlns:a16="http://schemas.microsoft.com/office/drawing/2014/main" id="{9EBCDBC2-B9AF-4E85-8995-193D333DBBFF}"/>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06</a:t>
            </a:r>
          </a:p>
        </p:txBody>
      </p:sp>
      <p:graphicFrame>
        <p:nvGraphicFramePr>
          <p:cNvPr id="10" name="Chart"/>
          <p:cNvGraphicFramePr/>
          <p:nvPr/>
        </p:nvGraphicFramePr>
        <p:xfrm>
          <a:off xmlns:a="http://schemas.openxmlformats.org/drawingml/2006/main" x="609600" y="2247900"/>
          <a:ext xmlns:a="http://schemas.openxmlformats.org/drawingml/2006/main" cx="10572750" cy="3048000"/>
        </p:xfrm>
        <a:graphic xmlns:a="http://schemas.openxmlformats.org/drawingml/2006/main">
          <a:graphicData uri="http://schemas.openxmlformats.org/drawingml/2006/chart">
            <c:chart xmlns:r="http://schemas.openxmlformats.org/officeDocument/2006/relationships" xmlns:c="http://schemas.openxmlformats.org/drawingml/2006/chart" r:id="Re2c95a219eec432b"/>
          </a:graphicData>
        </a:graphic>
      </p:graphicFrame>
      <p:sp>
        <p:nvSpPr>
          <p:cNvPr id="5" name="">
            <a:extLst xmlns:a="http://schemas.openxmlformats.org/drawingml/2006/main">
              <a:ext uri="{FF2B5EF4-FFF2-40B4-BE49-F238E27FC236}">
                <a16:creationId xmlns:a16="http://schemas.microsoft.com/office/drawing/2014/main" id="{36436BAA-FC7F-4347-AA13-54B2A57139CC}"/>
              </a:ext>
            </a:extLst>
          </p:cNvPr>
          <p:cNvSpPr>
            <a:spLocks xmlns:a="http://schemas.openxmlformats.org/drawingml/2006/main" noGrp="1"/>
          </p:cNvSpPr>
          <p:nvPr/>
        </p:nvSpPr>
        <p:spPr>
          <a:xfrm xmlns:a="http://schemas.openxmlformats.org/drawingml/2006/main">
            <a:off x="609600" y="54006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BDD0CC"/>
                </a:solidFill>
                <a:latin typeface="Avenir Next"/>
                <a:ea typeface="Avenir Next"/>
                <a:cs typeface="Avenir Next"/>
              </a:defRPr>
            </a:pPr>
            <a:r>
              <a:rPr sz="1650" b="0">
                <a:solidFill>
                  <a:srgbClr val="BDD0CC"/>
                </a:solidFill>
                <a:latin typeface="Avenir Next"/>
                <a:ea typeface="Avenir Next"/>
                <a:cs typeface="Avenir Next"/>
              </a:rPr>
              <a:t>Tags match genres and keywords to the person’s ratings.</a:t>
            </a:r>
          </a:p>
        </p:txBody>
      </p:sp>
      <p:sp>
        <p:nvSpPr>
          <p:cNvPr id="6" name="">
            <a:extLst xmlns:a="http://schemas.openxmlformats.org/drawingml/2006/main">
              <a:ext uri="{FF2B5EF4-FFF2-40B4-BE49-F238E27FC236}">
                <a16:creationId xmlns:a16="http://schemas.microsoft.com/office/drawing/2014/main" id="{C8B5E7B3-78BF-4419-9C67-B143B3BA4A70}"/>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The 75% reviews / 25% tags method gained only 0.6 points. We tested it on new people.</a:t>
            </a:r>
          </a:p>
        </p:txBody>
      </p:sp>
    </p:spTree>
    <p:extLst>
      <p:ext uri="{BB962C8B-B14F-4D97-AF65-F5344CB8AC3E}">
        <p14:creationId xmlns:p14="http://schemas.microsoft.com/office/powerpoint/2010/main" val="1044736383"/>
      </p:ext>
    </p:extLst>
  </p:cSld>
</p:sld>
</file>

<file path=ppt/slides/slide7.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2CBB77A-B794-4B62-826D-098605F0225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The small average benefit repeated</a:t>
            </a:r>
          </a:p>
        </p:txBody>
      </p:sp>
      <p:sp>
        <p:nvSpPr>
          <p:cNvPr id="2" name="">
            <a:extLst xmlns:a="http://schemas.openxmlformats.org/drawingml/2006/main">
              <a:ext uri="{FF2B5EF4-FFF2-40B4-BE49-F238E27FC236}">
                <a16:creationId xmlns:a16="http://schemas.microsoft.com/office/drawing/2014/main" id="{2B53F67A-2EB7-4981-8328-00B534167FF7}"/>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47 previously unused viewers. Same unchanged reviews-plus-tags method, after 20 ratings.</a:t>
            </a:r>
          </a:p>
        </p:txBody>
      </p:sp>
      <p:sp>
        <p:nvSpPr>
          <p:cNvPr id="3" name="">
            <a:extLst xmlns:a="http://schemas.openxmlformats.org/drawingml/2006/main">
              <a:ext uri="{FF2B5EF4-FFF2-40B4-BE49-F238E27FC236}">
                <a16:creationId xmlns:a16="http://schemas.microsoft.com/office/drawing/2014/main" id="{C7E7F412-BC40-449C-A264-EB6528943E92}"/>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07</a:t>
            </a:r>
          </a:p>
        </p:txBody>
      </p:sp>
      <p:sp>
        <p:nvSpPr>
          <p:cNvPr id="4" name="">
            <a:extLst xmlns:a="http://schemas.openxmlformats.org/drawingml/2006/main">
              <a:ext uri="{FF2B5EF4-FFF2-40B4-BE49-F238E27FC236}">
                <a16:creationId xmlns:a16="http://schemas.microsoft.com/office/drawing/2014/main" id="{6DF6E212-9B3C-4D9C-81E5-28A289C5EE82}"/>
              </a:ext>
            </a:extLst>
          </p:cNvPr>
          <p:cNvSpPr>
            <a:spLocks xmlns:a="http://schemas.openxmlformats.org/drawingml/2006/main" noGrp="1"/>
          </p:cNvSpPr>
          <p:nvPr/>
        </p:nvSpPr>
        <p:spPr>
          <a:xfrm xmlns:a="http://schemas.openxmlformats.org/drawingml/2006/main">
            <a:off x="609600" y="20764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Liked films per ten suggestions. Higher is better.</a:t>
            </a:r>
          </a:p>
        </p:txBody>
      </p:sp>
      <p:graphicFrame>
        <p:nvGraphicFramePr>
          <p:cNvPr id="14" name="Chart"/>
          <p:cNvGraphicFramePr/>
          <p:nvPr/>
        </p:nvGraphicFramePr>
        <p:xfrm>
          <a:off xmlns:a="http://schemas.openxmlformats.org/drawingml/2006/main" x="609600" y="2305050"/>
          <a:ext xmlns:a="http://schemas.openxmlformats.org/drawingml/2006/main" cx="7381875" cy="3000375"/>
        </p:xfrm>
        <a:graphic xmlns:a="http://schemas.openxmlformats.org/drawingml/2006/main">
          <a:graphicData uri="http://schemas.openxmlformats.org/drawingml/2006/chart">
            <c:chart xmlns:r="http://schemas.openxmlformats.org/officeDocument/2006/relationships" xmlns:c="http://schemas.openxmlformats.org/drawingml/2006/chart" r:id="Rd7e4f54468094a84"/>
          </a:graphicData>
        </a:graphic>
      </p:graphicFrame>
      <p:sp>
        <p:nvSpPr>
          <p:cNvPr id="6" name="">
            <a:extLst xmlns:a="http://schemas.openxmlformats.org/drawingml/2006/main">
              <a:ext uri="{FF2B5EF4-FFF2-40B4-BE49-F238E27FC236}">
                <a16:creationId xmlns:a16="http://schemas.microsoft.com/office/drawing/2014/main" id="{CC9E4085-334E-41C1-9AC3-A781E980F370}"/>
              </a:ext>
            </a:extLst>
          </p:cNvPr>
          <p:cNvSpPr>
            <a:spLocks xmlns:a="http://schemas.openxmlformats.org/drawingml/2006/main" noGrp="1"/>
          </p:cNvSpPr>
          <p:nvPr/>
        </p:nvSpPr>
        <p:spPr>
          <a:xfrm xmlns:a="http://schemas.openxmlformats.org/drawingml/2006/main">
            <a:off x="8553450" y="2552700"/>
            <a:ext cx="300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267B67"/>
                </a:solidFill>
                <a:latin typeface="Avenir Next"/>
                <a:ea typeface="Avenir Next"/>
                <a:cs typeface="Avenir Next"/>
              </a:defRPr>
            </a:pPr>
            <a:r>
              <a:rPr sz="4350" b="1">
                <a:solidFill>
                  <a:srgbClr val="267B67"/>
                </a:solidFill>
                <a:latin typeface="Avenir Next"/>
                <a:ea typeface="Avenir Next"/>
                <a:cs typeface="Avenir Next"/>
              </a:rPr>
              <a:t>1 extra</a:t>
            </a:r>
          </a:p>
        </p:txBody>
      </p:sp>
      <p:sp>
        <p:nvSpPr>
          <p:cNvPr id="7" name="">
            <a:extLst xmlns:a="http://schemas.openxmlformats.org/drawingml/2006/main">
              <a:ext uri="{FF2B5EF4-FFF2-40B4-BE49-F238E27FC236}">
                <a16:creationId xmlns:a16="http://schemas.microsoft.com/office/drawing/2014/main" id="{13575C1A-40EE-4BDC-A774-069EBC7F9AAE}"/>
              </a:ext>
            </a:extLst>
          </p:cNvPr>
          <p:cNvSpPr>
            <a:spLocks xmlns:a="http://schemas.openxmlformats.org/drawingml/2006/main" noGrp="1"/>
          </p:cNvSpPr>
          <p:nvPr/>
        </p:nvSpPr>
        <p:spPr>
          <a:xfrm xmlns:a="http://schemas.openxmlformats.org/drawingml/2006/main">
            <a:off x="8553450" y="352425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62D"/>
                </a:solidFill>
                <a:latin typeface="Avenir Next"/>
                <a:ea typeface="Avenir Next"/>
                <a:cs typeface="Avenir Next"/>
              </a:defRPr>
            </a:pPr>
            <a:r>
              <a:rPr sz="2250" b="0">
                <a:solidFill>
                  <a:srgbClr val="14262D"/>
                </a:solidFill>
                <a:latin typeface="Avenir Next"/>
                <a:ea typeface="Avenir Next"/>
                <a:cs typeface="Avenir Next"/>
              </a:rPr>
              <a:t>liked film per</a:t>
            </a:r>
          </a:p>
          <a:p xmlns:a="http://schemas.openxmlformats.org/drawingml/2006/main">
            <a:pPr>
              <a:defRPr sz="2250" b="0">
                <a:solidFill>
                  <a:srgbClr val="14262D"/>
                </a:solidFill>
                <a:latin typeface="Avenir Next"/>
                <a:ea typeface="Avenir Next"/>
                <a:cs typeface="Avenir Next"/>
              </a:defRPr>
            </a:pPr>
            <a:r>
              <a:rPr sz="2250" b="0">
                <a:solidFill>
                  <a:srgbClr val="14262D"/>
                </a:solidFill>
                <a:latin typeface="Avenir Next"/>
                <a:ea typeface="Avenir Next"/>
                <a:cs typeface="Avenir Next"/>
              </a:rPr>
              <a:t>40 suggestions</a:t>
            </a:r>
          </a:p>
        </p:txBody>
      </p:sp>
      <p:sp>
        <p:nvSpPr>
          <p:cNvPr id="8" name="">
            <a:extLst xmlns:a="http://schemas.openxmlformats.org/drawingml/2006/main">
              <a:ext uri="{FF2B5EF4-FFF2-40B4-BE49-F238E27FC236}">
                <a16:creationId xmlns:a16="http://schemas.microsoft.com/office/drawing/2014/main" id="{A78DAA19-B507-4FB0-8523-7EEAB5DCA69F}"/>
              </a:ext>
            </a:extLst>
          </p:cNvPr>
          <p:cNvSpPr>
            <a:spLocks xmlns:a="http://schemas.openxmlformats.org/drawingml/2006/main" noGrp="1"/>
          </p:cNvSpPr>
          <p:nvPr/>
        </p:nvSpPr>
        <p:spPr>
          <a:xfrm xmlns:a="http://schemas.openxmlformats.org/drawingml/2006/main">
            <a:off x="8553450" y="4686300"/>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on average in this test</a:t>
            </a:r>
          </a:p>
        </p:txBody>
      </p:sp>
      <p:sp>
        <p:nvSpPr>
          <p:cNvPr id="9" name="">
            <a:extLst xmlns:a="http://schemas.openxmlformats.org/drawingml/2006/main">
              <a:ext uri="{FF2B5EF4-FFF2-40B4-BE49-F238E27FC236}">
                <a16:creationId xmlns:a16="http://schemas.microsoft.com/office/drawing/2014/main" id="{163F02E4-49BB-4F63-B0F1-C5428690D879}"/>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The benefit is credible enough to keep testing. It is modest for an individual user.</a:t>
            </a:r>
          </a:p>
        </p:txBody>
      </p:sp>
    </p:spTree>
    <p:extLst>
      <p:ext uri="{BB962C8B-B14F-4D97-AF65-F5344CB8AC3E}">
        <p14:creationId xmlns:p14="http://schemas.microsoft.com/office/powerpoint/2010/main" val="101627394"/>
      </p:ext>
    </p:extLst>
  </p:cSld>
</p:sld>
</file>

<file path=ppt/slides/slide8.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6226E4-A859-4B19-AF29-A115F0DA9C90}"/>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Some people need a very different ranking</a:t>
            </a:r>
          </a:p>
        </p:txBody>
      </p:sp>
      <p:sp>
        <p:nvSpPr>
          <p:cNvPr id="2" name="">
            <a:extLst xmlns:a="http://schemas.openxmlformats.org/drawingml/2006/main">
              <a:ext uri="{FF2B5EF4-FFF2-40B4-BE49-F238E27FC236}">
                <a16:creationId xmlns:a16="http://schemas.microsoft.com/office/drawing/2014/main" id="{B4C9E477-16CE-43AF-8666-767EFA4680A2}"/>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Two viewers from the 47-person check, after 20 ratings. Ordering score, higher is better.</a:t>
            </a:r>
          </a:p>
        </p:txBody>
      </p:sp>
      <p:sp>
        <p:nvSpPr>
          <p:cNvPr id="3" name="">
            <a:extLst xmlns:a="http://schemas.openxmlformats.org/drawingml/2006/main">
              <a:ext uri="{FF2B5EF4-FFF2-40B4-BE49-F238E27FC236}">
                <a16:creationId xmlns:a16="http://schemas.microsoft.com/office/drawing/2014/main" id="{46170219-2A9E-4DB4-8428-34F823237DB8}"/>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08</a:t>
            </a:r>
          </a:p>
        </p:txBody>
      </p:sp>
      <p:graphicFrame>
        <p:nvGraphicFramePr>
          <p:cNvPr id="9" name="Chart"/>
          <p:cNvGraphicFramePr/>
          <p:nvPr/>
        </p:nvGraphicFramePr>
        <p:xfrm>
          <a:off xmlns:a="http://schemas.openxmlformats.org/drawingml/2006/main" x="609600" y="2238375"/>
          <a:ext xmlns:a="http://schemas.openxmlformats.org/drawingml/2006/main" cx="10572750" cy="3143250"/>
        </p:xfrm>
        <a:graphic xmlns:a="http://schemas.openxmlformats.org/drawingml/2006/main">
          <a:graphicData uri="http://schemas.openxmlformats.org/drawingml/2006/chart">
            <c:chart xmlns:r="http://schemas.openxmlformats.org/officeDocument/2006/relationships" xmlns:c="http://schemas.openxmlformats.org/drawingml/2006/chart" r:id="R61d5e0122fe24312"/>
          </a:graphicData>
        </a:graphic>
      </p:graphicFrame>
      <p:sp>
        <p:nvSpPr>
          <p:cNvPr id="5" name="">
            <a:extLst xmlns:a="http://schemas.openxmlformats.org/drawingml/2006/main">
              <a:ext uri="{FF2B5EF4-FFF2-40B4-BE49-F238E27FC236}">
                <a16:creationId xmlns:a16="http://schemas.microsoft.com/office/drawing/2014/main" id="{0DE0469D-343A-490F-9E48-9FAE21B570BD}"/>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Changing everyone to the average winner would lose useful personalisation for these people.</a:t>
            </a:r>
          </a:p>
        </p:txBody>
      </p:sp>
    </p:spTree>
    <p:extLst>
      <p:ext uri="{BB962C8B-B14F-4D97-AF65-F5344CB8AC3E}">
        <p14:creationId xmlns:p14="http://schemas.microsoft.com/office/powerpoint/2010/main" val="21315442"/>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66DF86-D1EE-4B50-A14B-F31B39993CB4}"/>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We found how the worst learning failures happen</a:t>
            </a:r>
          </a:p>
        </p:txBody>
      </p:sp>
      <p:sp>
        <p:nvSpPr>
          <p:cNvPr id="2" name="">
            <a:extLst xmlns:a="http://schemas.openxmlformats.org/drawingml/2006/main">
              <a:ext uri="{FF2B5EF4-FFF2-40B4-BE49-F238E27FC236}">
                <a16:creationId xmlns:a16="http://schemas.microsoft.com/office/drawing/2014/main" id="{03CFA98D-F02F-447B-B1E9-2AA2924F67B2}"/>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Five reproduced sessions. Ordering score fell sharply as the same people gave more ratings.</a:t>
            </a:r>
          </a:p>
        </p:txBody>
      </p:sp>
      <p:sp>
        <p:nvSpPr>
          <p:cNvPr id="3" name="">
            <a:extLst xmlns:a="http://schemas.openxmlformats.org/drawingml/2006/main">
              <a:ext uri="{FF2B5EF4-FFF2-40B4-BE49-F238E27FC236}">
                <a16:creationId xmlns:a16="http://schemas.microsoft.com/office/drawing/2014/main" id="{1A7A0B53-ED06-4BE8-9328-AEA54561015D}"/>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09</a:t>
            </a:r>
          </a:p>
        </p:txBody>
      </p:sp>
      <p:graphicFrame>
        <p:nvGraphicFramePr>
          <p:cNvPr id="12" name=""/>
          <p:cNvGraphicFramePr/>
          <p:nvPr/>
        </p:nvGraphicFramePr>
        <p:xfrm>
          <a:off xmlns:a="http://schemas.openxmlformats.org/drawingml/2006/main" x="609600" y="2162175"/>
          <a:ext xmlns:a="http://schemas.openxmlformats.org/drawingml/2006/main" cx="6210300" cy="3333750"/>
        </p:xfrm>
        <a:graphic xmlns:a="http://schemas.openxmlformats.org/drawingml/2006/main">
          <a:graphicData uri="http://schemas.openxmlformats.org/drawingml/2006/table">
            <a:tbl>
              <a:tblPr firstRow="0" bandRow="0"/>
              <a:tblGrid>
                <a:gridCol w="3257550"/>
                <a:gridCol w="1476375"/>
                <a:gridCol w="1476375"/>
              </a:tblGrid>
              <a:tr h="555625">
                <a:tc>
                  <a:txBody>
                    <a:bodyPr lIns="95250" tIns="19050" rIns="95250" bIns="19050">
                      <a:noAutofit/>
                    </a:bodyPr>
                    <a:lstStyle/>
                    <a:p>
                      <a:r>
                        <a:rPr sz="1875" b="1">
                          <a:solidFill>
                            <a:srgbClr val="F4F0E8"/>
                          </a:solidFill>
                          <a:latin typeface="Avenir Next"/>
                          <a:ea typeface="Avenir Next"/>
                          <a:cs typeface="Avenir Next"/>
                        </a:rPr>
                        <a:t>Viewer / rating order</a:t>
                      </a:r>
                    </a:p>
                  </a:txBody>
                  <a:tcPr marL="91440" marR="91440" marT="45720" marB="45720" anchor="ctr">
                    <a:solidFill>
                      <a:srgbClr val="14262D"/>
                    </a:solidFill>
                  </a:tcPr>
                </a:tc>
                <a:tc>
                  <a:txBody>
                    <a:bodyPr lIns="95250" tIns="19050" rIns="95250" bIns="19050">
                      <a:noAutofit/>
                    </a:bodyPr>
                    <a:lstStyle/>
                    <a:p>
                      <a:r>
                        <a:rPr sz="1875" b="1">
                          <a:solidFill>
                            <a:srgbClr val="F4F0E8"/>
                          </a:solidFill>
                          <a:latin typeface="Avenir Next"/>
                          <a:ea typeface="Avenir Next"/>
                          <a:cs typeface="Avenir Next"/>
                        </a:rPr>
                        <a:t>10 ratings</a:t>
                      </a:r>
                    </a:p>
                  </a:txBody>
                  <a:tcPr marL="91440" marR="91440" marT="45720" marB="45720" anchor="ctr">
                    <a:solidFill>
                      <a:srgbClr val="14262D"/>
                    </a:solidFill>
                  </a:tcPr>
                </a:tc>
                <a:tc>
                  <a:txBody>
                    <a:bodyPr lIns="95250" tIns="19050" rIns="95250" bIns="19050">
                      <a:noAutofit/>
                    </a:bodyPr>
                    <a:lstStyle/>
                    <a:p>
                      <a:r>
                        <a:rPr sz="1875" b="1">
                          <a:solidFill>
                            <a:srgbClr val="F4F0E8"/>
                          </a:solidFill>
                          <a:latin typeface="Avenir Next"/>
                          <a:ea typeface="Avenir Next"/>
                          <a:cs typeface="Avenir Next"/>
                        </a:rPr>
                        <a:t>40 ratings</a:t>
                      </a:r>
                    </a:p>
                  </a:txBody>
                  <a:tcPr marL="91440" marR="91440" marT="45720" marB="45720" anchor="ctr">
                    <a:solidFill>
                      <a:srgbClr val="14262D"/>
                    </a:solidFill>
                  </a:tcPr>
                </a:tc>
              </a:tr>
              <a:tr h="555625">
                <a:tc>
                  <a:txBody>
                    <a:bodyPr lIns="95250" tIns="19050" rIns="95250" bIns="19050">
                      <a:noAutofit/>
                    </a:bodyPr>
                    <a:lstStyle/>
                    <a:p>
                      <a:r>
                        <a:rPr sz="1875" b="1">
                          <a:solidFill>
                            <a:srgbClr val="14262D"/>
                          </a:solidFill>
                          <a:latin typeface="Avenir Next"/>
                          <a:ea typeface="Avenir Next"/>
                          <a:cs typeface="Avenir Next"/>
                        </a:rPr>
                        <a:t>21 / 83</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67.2%</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37.7%</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177 / 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79.4%</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55.5%</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483 / 83</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51.1%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28.3%</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21 / 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68.7%</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46.3%</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603 / 29</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70.4%</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49.0%</a:t>
                      </a:r>
                    </a:p>
                  </a:txBody>
                  <a:tcPr marL="91440" marR="91440" marT="45720" marB="45720" anchor="ctr">
                    <a:solidFill>
                      <a:srgbClr val="F4F0E8"/>
                    </a:solidFill>
                  </a:tcPr>
                </a:tc>
              </a:tr>
            </a:tbl>
          </a:graphicData>
        </a:graphic>
      </p:graphicFrame>
      <p:sp>
        <p:nvSpPr>
          <p:cNvPr id="5" name="">
            <a:extLst xmlns:a="http://schemas.openxmlformats.org/drawingml/2006/main">
              <a:ext uri="{FF2B5EF4-FFF2-40B4-BE49-F238E27FC236}">
                <a16:creationId xmlns:a16="http://schemas.microsoft.com/office/drawing/2014/main" id="{1DCCD341-1957-4A52-83D3-21027C7FFFCA}"/>
              </a:ext>
            </a:extLst>
          </p:cNvPr>
          <p:cNvSpPr>
            <a:spLocks xmlns:a="http://schemas.openxmlformats.org/drawingml/2006/main" noGrp="1"/>
          </p:cNvSpPr>
          <p:nvPr/>
        </p:nvSpPr>
        <p:spPr>
          <a:xfrm xmlns:a="http://schemas.openxmlformats.org/drawingml/2006/main">
            <a:off x="7419975" y="2238375"/>
            <a:ext cx="4048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DB624C"/>
                </a:solidFill>
                <a:latin typeface="Avenir Next"/>
                <a:ea typeface="Avenir Next"/>
                <a:cs typeface="Avenir Next"/>
              </a:defRPr>
            </a:pPr>
            <a:r>
              <a:rPr sz="2250" b="1">
                <a:solidFill>
                  <a:srgbClr val="DB624C"/>
                </a:solidFill>
                <a:latin typeface="Avenir Next"/>
                <a:ea typeface="Avenir Next"/>
                <a:cs typeface="Avenir Next"/>
              </a:rPr>
              <a:t>Similarity spreads too far</a:t>
            </a:r>
          </a:p>
        </p:txBody>
      </p:sp>
      <p:sp>
        <p:nvSpPr>
          <p:cNvPr id="6" name="">
            <a:extLst xmlns:a="http://schemas.openxmlformats.org/drawingml/2006/main">
              <a:ext uri="{FF2B5EF4-FFF2-40B4-BE49-F238E27FC236}">
                <a16:creationId xmlns:a16="http://schemas.microsoft.com/office/drawing/2014/main" id="{A77F03E0-7525-4EE3-9D2D-6C842011596F}"/>
              </a:ext>
            </a:extLst>
          </p:cNvPr>
          <p:cNvSpPr>
            <a:spLocks xmlns:a="http://schemas.openxmlformats.org/drawingml/2006/main" noGrp="1"/>
          </p:cNvSpPr>
          <p:nvPr/>
        </p:nvSpPr>
        <p:spPr>
          <a:xfrm xmlns:a="http://schemas.openxmlformats.org/drawingml/2006/main">
            <a:off x="7419975" y="3028950"/>
            <a:ext cx="4048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62D"/>
                </a:solidFill>
                <a:latin typeface="Avenir Next"/>
                <a:ea typeface="Avenir Next"/>
                <a:cs typeface="Avenir Next"/>
              </a:defRPr>
            </a:pPr>
            <a:r>
              <a:rPr sz="2025" b="0">
                <a:solidFill>
                  <a:srgbClr val="14262D"/>
                </a:solidFill>
                <a:latin typeface="Avenir Next"/>
                <a:ea typeface="Avenir Next"/>
                <a:cs typeface="Avenir Next"/>
              </a:rPr>
              <a:t>A like for The Fellowship of the Ring boosts disliked Fantastic Four ahead of liked Adaptation.</a:t>
            </a:r>
          </a:p>
        </p:txBody>
      </p:sp>
      <p:sp>
        <p:nvSpPr>
          <p:cNvPr id="7" name="">
            <a:extLst xmlns:a="http://schemas.openxmlformats.org/drawingml/2006/main">
              <a:ext uri="{FF2B5EF4-FFF2-40B4-BE49-F238E27FC236}">
                <a16:creationId xmlns:a16="http://schemas.microsoft.com/office/drawing/2014/main" id="{9BFBF213-82FA-4D6B-AB67-FC34E1D1C3D8}"/>
              </a:ext>
            </a:extLst>
          </p:cNvPr>
          <p:cNvSpPr>
            <a:spLocks xmlns:a="http://schemas.openxmlformats.org/drawingml/2006/main" noGrp="1"/>
          </p:cNvSpPr>
          <p:nvPr/>
        </p:nvSpPr>
        <p:spPr>
          <a:xfrm xmlns:a="http://schemas.openxmlformats.org/drawingml/2006/main">
            <a:off x="7419975" y="4686300"/>
            <a:ext cx="4048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76B72"/>
                </a:solidFill>
                <a:latin typeface="Avenir Next"/>
                <a:ea typeface="Avenir Next"/>
                <a:cs typeface="Avenir Next"/>
              </a:defRPr>
            </a:pPr>
            <a:r>
              <a:rPr sz="1950" b="0">
                <a:solidFill>
                  <a:srgbClr val="576B72"/>
                </a:solidFill>
                <a:latin typeface="Avenir Next"/>
                <a:ea typeface="Avenir Next"/>
                <a:cs typeface="Avenir Next"/>
              </a:rPr>
              <a:t>The same 40 ratings in a different order also changed the result.</a:t>
            </a:r>
          </a:p>
        </p:txBody>
      </p:sp>
      <p:sp>
        <p:nvSpPr>
          <p:cNvPr id="8" name="">
            <a:extLst xmlns:a="http://schemas.openxmlformats.org/drawingml/2006/main">
              <a:ext uri="{FF2B5EF4-FFF2-40B4-BE49-F238E27FC236}">
                <a16:creationId xmlns:a16="http://schemas.microsoft.com/office/drawing/2014/main" id="{CF3EE5E8-AA27-4996-B544-14C204D6FF18}"/>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More evidence can reinforce a wrong match. Rating order can also change who Dossier thinks you are.</a:t>
            </a:r>
          </a:p>
        </p:txBody>
      </p:sp>
    </p:spTree>
    <p:extLst>
      <p:ext uri="{BB962C8B-B14F-4D97-AF65-F5344CB8AC3E}">
        <p14:creationId xmlns:p14="http://schemas.microsoft.com/office/powerpoint/2010/main" val="970573948"/>
      </p:ext>
    </p:extLst>
  </p:cSld>
</p:sld>
</file>

<file path=ppt/slides/slide10.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133FB7-6201-4E13-9044-0BB6DC2ECF7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The protection rule is not ready</a:t>
            </a:r>
          </a:p>
        </p:txBody>
      </p:sp>
      <p:sp>
        <p:nvSpPr>
          <p:cNvPr id="2" name="">
            <a:extLst xmlns:a="http://schemas.openxmlformats.org/drawingml/2006/main">
              <a:ext uri="{FF2B5EF4-FFF2-40B4-BE49-F238E27FC236}">
                <a16:creationId xmlns:a16="http://schemas.microsoft.com/office/drawing/2014/main" id="{3661D320-50E5-4952-B8BF-01C85D4906B7}"/>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30 new viewers, four sessions each. The rule chose when to trust current Dossier over reviews plus tags.</a:t>
            </a:r>
          </a:p>
        </p:txBody>
      </p:sp>
      <p:sp>
        <p:nvSpPr>
          <p:cNvPr id="3" name="">
            <a:extLst xmlns:a="http://schemas.openxmlformats.org/drawingml/2006/main">
              <a:ext uri="{FF2B5EF4-FFF2-40B4-BE49-F238E27FC236}">
                <a16:creationId xmlns:a16="http://schemas.microsoft.com/office/drawing/2014/main" id="{683F42D5-A0B3-48A8-B995-2F9CB89D7DF2}"/>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10</a:t>
            </a:r>
          </a:p>
        </p:txBody>
      </p:sp>
      <p:sp>
        <p:nvSpPr>
          <p:cNvPr id="4" name="">
            <a:extLst xmlns:a="http://schemas.openxmlformats.org/drawingml/2006/main">
              <a:ext uri="{FF2B5EF4-FFF2-40B4-BE49-F238E27FC236}">
                <a16:creationId xmlns:a16="http://schemas.microsoft.com/office/drawing/2014/main" id="{87A24652-33DB-493E-B8C4-EAB82561C794}"/>
              </a:ext>
            </a:extLst>
          </p:cNvPr>
          <p:cNvSpPr>
            <a:spLocks xmlns:a="http://schemas.openxmlformats.org/drawingml/2006/main" noGrp="1"/>
          </p:cNvSpPr>
          <p:nvPr/>
        </p:nvSpPr>
        <p:spPr>
          <a:xfrm xmlns:a="http://schemas.openxmlformats.org/drawingml/2006/main">
            <a:off x="609600" y="2352675"/>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E6B86A"/>
                </a:solidFill>
                <a:latin typeface="Avenir Next"/>
                <a:ea typeface="Avenir Next"/>
                <a:cs typeface="Avenir Next"/>
              </a:defRPr>
            </a:pPr>
            <a:r>
              <a:rPr sz="5850" b="1">
                <a:solidFill>
                  <a:srgbClr val="E6B86A"/>
                </a:solidFill>
                <a:latin typeface="Avenir Next"/>
                <a:ea typeface="Avenir Next"/>
                <a:cs typeface="Avenir Next"/>
              </a:rPr>
              <a:t>0 / 120</a:t>
            </a:r>
          </a:p>
        </p:txBody>
      </p:sp>
      <p:sp>
        <p:nvSpPr>
          <p:cNvPr id="5" name="">
            <a:extLst xmlns:a="http://schemas.openxmlformats.org/drawingml/2006/main">
              <a:ext uri="{FF2B5EF4-FFF2-40B4-BE49-F238E27FC236}">
                <a16:creationId xmlns:a16="http://schemas.microsoft.com/office/drawing/2014/main" id="{D2052524-BB5E-4785-8DED-45EE4C9CC949}"/>
              </a:ext>
            </a:extLst>
          </p:cNvPr>
          <p:cNvSpPr>
            <a:spLocks xmlns:a="http://schemas.openxmlformats.org/drawingml/2006/main" noGrp="1"/>
          </p:cNvSpPr>
          <p:nvPr/>
        </p:nvSpPr>
        <p:spPr>
          <a:xfrm xmlns:a="http://schemas.openxmlformats.org/drawingml/2006/main">
            <a:off x="609600" y="35814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new sessions switched</a:t>
            </a:r>
          </a:p>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to the personal ranking</a:t>
            </a:r>
          </a:p>
        </p:txBody>
      </p:sp>
      <p:sp>
        <p:nvSpPr>
          <p:cNvPr id="6" name="">
            <a:extLst xmlns:a="http://schemas.openxmlformats.org/drawingml/2006/main">
              <a:ext uri="{FF2B5EF4-FFF2-40B4-BE49-F238E27FC236}">
                <a16:creationId xmlns:a16="http://schemas.microsoft.com/office/drawing/2014/main" id="{BA732A79-E40E-49CD-9BD4-3285F98252E2}"/>
              </a:ext>
            </a:extLst>
          </p:cNvPr>
          <p:cNvSpPr>
            <a:spLocks xmlns:a="http://schemas.openxmlformats.org/drawingml/2006/main" noGrp="1"/>
          </p:cNvSpPr>
          <p:nvPr/>
        </p:nvSpPr>
        <p:spPr>
          <a:xfrm xmlns:a="http://schemas.openxmlformats.org/drawingml/2006/main">
            <a:off x="7029450" y="2352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DB624C"/>
                </a:solidFill>
                <a:latin typeface="Avenir Next"/>
                <a:ea typeface="Avenir Next"/>
                <a:cs typeface="Avenir Next"/>
              </a:defRPr>
            </a:pPr>
            <a:r>
              <a:rPr sz="5850" b="1">
                <a:solidFill>
                  <a:srgbClr val="DB624C"/>
                </a:solidFill>
                <a:latin typeface="Avenir Next"/>
                <a:ea typeface="Avenir Next"/>
                <a:cs typeface="Avenir Next"/>
              </a:rPr>
              <a:t>19</a:t>
            </a:r>
          </a:p>
        </p:txBody>
      </p:sp>
      <p:sp>
        <p:nvSpPr>
          <p:cNvPr id="7" name="">
            <a:extLst xmlns:a="http://schemas.openxmlformats.org/drawingml/2006/main">
              <a:ext uri="{FF2B5EF4-FFF2-40B4-BE49-F238E27FC236}">
                <a16:creationId xmlns:a16="http://schemas.microsoft.com/office/drawing/2014/main" id="{D8D5AB3A-B6D0-4672-9DDA-501EA60DD9EC}"/>
              </a:ext>
            </a:extLst>
          </p:cNvPr>
          <p:cNvSpPr>
            <a:spLocks xmlns:a="http://schemas.openxmlformats.org/drawingml/2006/main" noGrp="1"/>
          </p:cNvSpPr>
          <p:nvPr/>
        </p:nvSpPr>
        <p:spPr>
          <a:xfrm xmlns:a="http://schemas.openxmlformats.org/drawingml/2006/main">
            <a:off x="7029450" y="3581400"/>
            <a:ext cx="447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missed opportunities</a:t>
            </a:r>
          </a:p>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where Dossier was better</a:t>
            </a:r>
          </a:p>
        </p:txBody>
      </p:sp>
      <p:sp>
        <p:nvSpPr>
          <p:cNvPr id="8" name="">
            <a:extLst xmlns:a="http://schemas.openxmlformats.org/drawingml/2006/main">
              <a:ext uri="{FF2B5EF4-FFF2-40B4-BE49-F238E27FC236}">
                <a16:creationId xmlns:a16="http://schemas.microsoft.com/office/drawing/2014/main" id="{03F495A2-D53B-425A-995E-C5F6EAB90FC9}"/>
              </a:ext>
            </a:extLst>
          </p:cNvPr>
          <p:cNvSpPr>
            <a:spLocks xmlns:a="http://schemas.openxmlformats.org/drawingml/2006/main" noGrp="1"/>
          </p:cNvSpPr>
          <p:nvPr/>
        </p:nvSpPr>
        <p:spPr>
          <a:xfrm xmlns:a="http://schemas.openxmlformats.org/drawingml/2006/main">
            <a:off x="609600" y="499110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Next: recognise useful personal taste even when people provide few dislikes.</a:t>
            </a:r>
          </a:p>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Keep both comparison methods and all known failure cases in every test.</a:t>
            </a:r>
          </a:p>
        </p:txBody>
      </p:sp>
      <p:sp>
        <p:nvSpPr>
          <p:cNvPr id="9" name="">
            <a:extLst xmlns:a="http://schemas.openxmlformats.org/drawingml/2006/main">
              <a:ext uri="{FF2B5EF4-FFF2-40B4-BE49-F238E27FC236}">
                <a16:creationId xmlns:a16="http://schemas.microsoft.com/office/drawing/2014/main" id="{92BC4F31-8A70-4695-8D69-6D0EEC07334D}"/>
              </a:ext>
            </a:extLst>
          </p:cNvPr>
          <p:cNvSpPr>
            <a:spLocks xmlns:a="http://schemas.openxmlformats.org/drawingml/2006/main" noGrp="1"/>
          </p:cNvSpPr>
          <p:nvPr/>
        </p:nvSpPr>
        <p:spPr>
          <a:xfrm xmlns:a="http://schemas.openxmlformats.org/drawingml/2006/main">
            <a:off x="609600" y="610552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Keep the 75/25 candidate unchanged. Keep product defaults unchanged.</a:t>
            </a:r>
          </a:p>
        </p:txBody>
      </p:sp>
    </p:spTree>
    <p:extLst>
      <p:ext uri="{BB962C8B-B14F-4D97-AF65-F5344CB8AC3E}">
        <p14:creationId xmlns:p14="http://schemas.microsoft.com/office/powerpoint/2010/main" val="1105592306"/>
      </p:ext>
    </p:extLst>
  </p:cSld>
</p:sld>
</file>

<file path=ppt/theme/theme1.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2026-10-02T22:07:12.4310000Z</dcterms:created>
  <dcterms:modified xsi:type="dcterms:W3CDTF">2026-10-02T22:07:12.4310000Z</dcterms:modified>
</coreProperties>
</file>