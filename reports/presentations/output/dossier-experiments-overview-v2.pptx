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1.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slides/charts/chart2.xml" ContentType="application/vnd.openxmlformats-officedocument.drawingml.chart+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bac265cc63b4598" /><Relationship Type="http://schemas.openxmlformats.org/officeDocument/2006/relationships/extended-properties" Target="/docProps/app.xml" Id="R0ecd8839a4964b70" /><Relationship Type="http://schemas.openxmlformats.org/officeDocument/2006/relationships/officeDocument" Target="/ppt/presentation.xml" Id="R0d46e568221f4c26" /></Relationships>
</file>

<file path=ppt/presentation.xml><?xml version="1.0" encoding="utf-8"?>
<p:presentation xmlns:p="http://schemas.openxmlformats.org/presentationml/2006/main">
  <p:sldMasterIdLst>
    <p:sldMasterId xmlns:r="http://schemas.openxmlformats.org/officeDocument/2006/relationships" id="2147483648" r:id="R45ea233f6e5e494a"/>
  </p:sldMasterIdLst>
  <p:notesMasterIdLst>
    <p:notesMasterId xmlns:r="http://schemas.openxmlformats.org/officeDocument/2006/relationships" r:id="R46cda822b7b740aa"/>
  </p:notesMasterIdLst>
  <p:sldIdLst>
    <p:sldId xmlns:r="http://schemas.openxmlformats.org/officeDocument/2006/relationships" id="256" r:id="Rd9934bea9ec9440e"/>
    <p:sldId xmlns:r="http://schemas.openxmlformats.org/officeDocument/2006/relationships" id="257" r:id="R3b8e6e23acb84198"/>
    <p:sldId xmlns:r="http://schemas.openxmlformats.org/officeDocument/2006/relationships" id="258" r:id="Rbcf2efa16f504a1f"/>
    <p:sldId xmlns:r="http://schemas.openxmlformats.org/officeDocument/2006/relationships" id="259" r:id="R8549952c6a694171"/>
    <p:sldId xmlns:r="http://schemas.openxmlformats.org/officeDocument/2006/relationships" id="260" r:id="R15b536b78828477e"/>
    <p:sldId xmlns:r="http://schemas.openxmlformats.org/officeDocument/2006/relationships" id="261" r:id="Re3802c728d4e4e0e"/>
    <p:sldId xmlns:r="http://schemas.openxmlformats.org/officeDocument/2006/relationships" id="262" r:id="R2d5616b7bb94428f"/>
    <p:sldId xmlns:r="http://schemas.openxmlformats.org/officeDocument/2006/relationships" id="263" r:id="R48ffa036581b4d2f"/>
    <p:sldId xmlns:r="http://schemas.openxmlformats.org/officeDocument/2006/relationships" id="264" r:id="R2d0050a06dd645ee"/>
    <p:sldId xmlns:r="http://schemas.openxmlformats.org/officeDocument/2006/relationships" id="265" r:id="R64209cff2a2b41b7"/>
    <p:sldId xmlns:r="http://schemas.openxmlformats.org/officeDocument/2006/relationships" id="266" r:id="Rfc17e5dd8a174c34"/>
    <p:sldId xmlns:r="http://schemas.openxmlformats.org/officeDocument/2006/relationships" id="267" r:id="Rd5dc9c08f0a74ab8"/>
    <p:sldId xmlns:r="http://schemas.openxmlformats.org/officeDocument/2006/relationships" id="268" r:id="R50c602e567fe4354"/>
    <p:sldId xmlns:r="http://schemas.openxmlformats.org/officeDocument/2006/relationships" id="269" r:id="Rb6ee2fe255cb46ce"/>
    <p:sldId xmlns:r="http://schemas.openxmlformats.org/officeDocument/2006/relationships" id="270" r:id="Re0a88e2d382a4b36"/>
    <p:sldId xmlns:r="http://schemas.openxmlformats.org/officeDocument/2006/relationships" id="271" r:id="R093cc1476f834b0a"/>
    <p:sldId xmlns:r="http://schemas.openxmlformats.org/officeDocument/2006/relationships" id="272" r:id="R99bce08a9c334265"/>
    <p:sldId xmlns:r="http://schemas.openxmlformats.org/officeDocument/2006/relationships" id="273" r:id="Rbad18c727d0a4291"/>
    <p:sldId xmlns:r="http://schemas.openxmlformats.org/officeDocument/2006/relationships" id="274" r:id="R234be8fb90694e35"/>
    <p:sldId xmlns:r="http://schemas.openxmlformats.org/officeDocument/2006/relationships" id="275" r:id="R90a9b93b64e94c85"/>
    <p:sldId xmlns:r="http://schemas.openxmlformats.org/officeDocument/2006/relationships" id="276" r:id="Rc4f0d2bf05d043da"/>
    <p:sldId xmlns:r="http://schemas.openxmlformats.org/officeDocument/2006/relationships" id="277" r:id="Ree8b5d1a751a490e"/>
    <p:sldId xmlns:r="http://schemas.openxmlformats.org/officeDocument/2006/relationships" id="278" r:id="R322265e16cfe4cfa"/>
    <p:sldId xmlns:r="http://schemas.openxmlformats.org/officeDocument/2006/relationships" id="279" r:id="Rb5f77d6a8a4146f5"/>
    <p:sldId xmlns:r="http://schemas.openxmlformats.org/officeDocument/2006/relationships" id="280" r:id="Rb5bfa27029314cc2"/>
    <p:sldId xmlns:r="http://schemas.openxmlformats.org/officeDocument/2006/relationships" id="281" r:id="Rdbe136fe7e884968"/>
    <p:sldId xmlns:r="http://schemas.openxmlformats.org/officeDocument/2006/relationships" id="282" r:id="Ra3e727acce414212"/>
    <p:sldId xmlns:r="http://schemas.openxmlformats.org/officeDocument/2006/relationships" id="283" r:id="R15285da95f45438c"/>
    <p:sldId xmlns:r="http://schemas.openxmlformats.org/officeDocument/2006/relationships" id="284" r:id="R7bef0f70ba4441b0"/>
    <p:sldId xmlns:r="http://schemas.openxmlformats.org/officeDocument/2006/relationships" id="285" r:id="R5165278ff3aa41eb"/>
    <p:sldId xmlns:r="http://schemas.openxmlformats.org/officeDocument/2006/relationships" id="286" r:id="R14912918f2ce409c"/>
    <p:sldId xmlns:r="http://schemas.openxmlformats.org/officeDocument/2006/relationships" id="287" r:id="Rd8f114000d6744ca"/>
    <p:sldId xmlns:r="http://schemas.openxmlformats.org/officeDocument/2006/relationships" id="288" r:id="R61965a40bd7743f1"/>
    <p:sldId xmlns:r="http://schemas.openxmlformats.org/officeDocument/2006/relationships" id="289" r:id="Ra1730eb5aa8c480b"/>
    <p:sldId xmlns:r="http://schemas.openxmlformats.org/officeDocument/2006/relationships" id="290" r:id="Rac8df48fb57e406b"/>
    <p:sldId xmlns:r="http://schemas.openxmlformats.org/officeDocument/2006/relationships" id="291" r:id="Rd3f5f69b6d29479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e7c876325094235" /><Relationship Type="http://schemas.openxmlformats.org/officeDocument/2006/relationships/slideMaster" Target="/ppt/slideMasters/slideMaster1.xml" Id="R45ea233f6e5e494a" /><Relationship Type="http://schemas.openxmlformats.org/officeDocument/2006/relationships/notesMaster" Target="/ppt/notesMasters/notesMaster1.xml" Id="R46cda822b7b740aa" /><Relationship Type="http://schemas.openxmlformats.org/officeDocument/2006/relationships/presProps" Target="/ppt/presProps.xml" Id="Rc1aac0606a314700" /><Relationship Type="http://schemas.openxmlformats.org/officeDocument/2006/relationships/tableStyles" Target="/ppt/tableStyles.xml" Id="R5286151ec81444cf" /><Relationship Type="http://schemas.openxmlformats.org/officeDocument/2006/relationships/slide" Target="/ppt/slides/slide1.xml" Id="Rd9934bea9ec9440e" /><Relationship Type="http://schemas.openxmlformats.org/officeDocument/2006/relationships/slide" Target="/ppt/slides/slide2.xml" Id="R3b8e6e23acb84198" /><Relationship Type="http://schemas.openxmlformats.org/officeDocument/2006/relationships/slide" Target="/ppt/slides/slide3.xml" Id="Rbcf2efa16f504a1f" /><Relationship Type="http://schemas.openxmlformats.org/officeDocument/2006/relationships/slide" Target="/ppt/slides/slide4.xml" Id="R8549952c6a694171" /><Relationship Type="http://schemas.openxmlformats.org/officeDocument/2006/relationships/slide" Target="/ppt/slides/slide5.xml" Id="R15b536b78828477e" /><Relationship Type="http://schemas.openxmlformats.org/officeDocument/2006/relationships/slide" Target="/ppt/slides/slide6.xml" Id="Re3802c728d4e4e0e" /><Relationship Type="http://schemas.openxmlformats.org/officeDocument/2006/relationships/slide" Target="/ppt/slides/slide7.xml" Id="R2d5616b7bb94428f" /><Relationship Type="http://schemas.openxmlformats.org/officeDocument/2006/relationships/slide" Target="/ppt/slides/slide8.xml" Id="R48ffa036581b4d2f" /><Relationship Type="http://schemas.openxmlformats.org/officeDocument/2006/relationships/slide" Target="/ppt/slides/slide9.xml" Id="R2d0050a06dd645ee" /><Relationship Type="http://schemas.openxmlformats.org/officeDocument/2006/relationships/slide" Target="/ppt/slides/slide10.xml" Id="R64209cff2a2b41b7" /><Relationship Type="http://schemas.openxmlformats.org/officeDocument/2006/relationships/slide" Target="/ppt/slides/slide11.xml" Id="Rfc17e5dd8a174c34" /><Relationship Type="http://schemas.openxmlformats.org/officeDocument/2006/relationships/slide" Target="/ppt/slides/slide12.xml" Id="Rd5dc9c08f0a74ab8" /><Relationship Type="http://schemas.openxmlformats.org/officeDocument/2006/relationships/slide" Target="/ppt/slides/slide13.xml" Id="R50c602e567fe4354" /><Relationship Type="http://schemas.openxmlformats.org/officeDocument/2006/relationships/slide" Target="/ppt/slides/slide14.xml" Id="Rb6ee2fe255cb46ce" /><Relationship Type="http://schemas.openxmlformats.org/officeDocument/2006/relationships/slide" Target="/ppt/slides/slide15.xml" Id="Re0a88e2d382a4b36" /><Relationship Type="http://schemas.openxmlformats.org/officeDocument/2006/relationships/slide" Target="/ppt/slides/slide16.xml" Id="R093cc1476f834b0a" /><Relationship Type="http://schemas.openxmlformats.org/officeDocument/2006/relationships/slide" Target="/ppt/slides/slide17.xml" Id="R99bce08a9c334265" /><Relationship Type="http://schemas.openxmlformats.org/officeDocument/2006/relationships/slide" Target="/ppt/slides/slide18.xml" Id="Rbad18c727d0a4291" /><Relationship Type="http://schemas.openxmlformats.org/officeDocument/2006/relationships/slide" Target="/ppt/slides/slide19.xml" Id="R234be8fb90694e35" /><Relationship Type="http://schemas.openxmlformats.org/officeDocument/2006/relationships/slide" Target="/ppt/slides/slide20.xml" Id="R90a9b93b64e94c85" /><Relationship Type="http://schemas.openxmlformats.org/officeDocument/2006/relationships/slide" Target="/ppt/slides/slide21.xml" Id="Rc4f0d2bf05d043da" /><Relationship Type="http://schemas.openxmlformats.org/officeDocument/2006/relationships/slide" Target="/ppt/slides/slide22.xml" Id="Ree8b5d1a751a490e" /><Relationship Type="http://schemas.openxmlformats.org/officeDocument/2006/relationships/slide" Target="/ppt/slides/slide23.xml" Id="R322265e16cfe4cfa" /><Relationship Type="http://schemas.openxmlformats.org/officeDocument/2006/relationships/slide" Target="/ppt/slides/slide24.xml" Id="Rb5f77d6a8a4146f5" /><Relationship Type="http://schemas.openxmlformats.org/officeDocument/2006/relationships/slide" Target="/ppt/slides/slide25.xml" Id="Rb5bfa27029314cc2" /><Relationship Type="http://schemas.openxmlformats.org/officeDocument/2006/relationships/slide" Target="/ppt/slides/slide26.xml" Id="Rdbe136fe7e884968" /><Relationship Type="http://schemas.openxmlformats.org/officeDocument/2006/relationships/slide" Target="/ppt/slides/slide27.xml" Id="Ra3e727acce414212" /><Relationship Type="http://schemas.openxmlformats.org/officeDocument/2006/relationships/slide" Target="/ppt/slides/slide28.xml" Id="R15285da95f45438c" /><Relationship Type="http://schemas.openxmlformats.org/officeDocument/2006/relationships/slide" Target="/ppt/slides/slide29.xml" Id="R7bef0f70ba4441b0" /><Relationship Type="http://schemas.openxmlformats.org/officeDocument/2006/relationships/slide" Target="/ppt/slides/slide30.xml" Id="R5165278ff3aa41eb" /><Relationship Type="http://schemas.openxmlformats.org/officeDocument/2006/relationships/slide" Target="/ppt/slides/slide31.xml" Id="R14912918f2ce409c" /><Relationship Type="http://schemas.openxmlformats.org/officeDocument/2006/relationships/slide" Target="/ppt/slides/slide32.xml" Id="Rd8f114000d6744ca" /><Relationship Type="http://schemas.openxmlformats.org/officeDocument/2006/relationships/slide" Target="/ppt/slides/slide33.xml" Id="R61965a40bd7743f1" /><Relationship Type="http://schemas.openxmlformats.org/officeDocument/2006/relationships/slide" Target="/ppt/slides/slide34.xml" Id="Ra1730eb5aa8c480b" /><Relationship Type="http://schemas.openxmlformats.org/officeDocument/2006/relationships/slide" Target="/ppt/slides/slide35.xml" Id="Rac8df48fb57e406b" /><Relationship Type="http://schemas.openxmlformats.org/officeDocument/2006/relationships/slide" Target="/ppt/slides/slide36.xml" Id="Rd3f5f69b6d29479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6062f9812fe433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Dossier evidence">
      <a:dk1>
        <a:srgbClr val="000000"/>
      </a:dk1>
      <a:lt1>
        <a:srgbClr val="FFFFFF"/>
      </a:lt1>
      <a:dk2>
        <a:srgbClr val="17252B"/>
      </a:dk2>
      <a:lt2>
        <a:srgbClr val="F2EFE8"/>
      </a:lt2>
      <a:accent1>
        <a:srgbClr val="397564"/>
      </a:accent1>
      <a:accent2>
        <a:srgbClr val="BC432A"/>
      </a:accent2>
      <a:accent3>
        <a:srgbClr val="55718E"/>
      </a:accent3>
      <a:accent4>
        <a:srgbClr val="BA9152"/>
      </a:accent4>
      <a:accent5>
        <a:srgbClr val="87798F"/>
      </a:accent5>
      <a:accent6>
        <a:srgbClr val="8C9A90"/>
      </a:accent6>
      <a:hlink>
        <a:srgbClr val="55718E"/>
      </a:hlink>
      <a:folHlink>
        <a:srgbClr val="55718E"/>
      </a:folHlink>
    </a:clrScheme>
    <a:fontScheme name="Office">
      <a:majorFont>
        <a:latin typeface="Calibri Light"/>
        <a:ea typeface="Calibri Light"/>
        <a:cs typeface="Calibri Light"/>
      </a:majorFont>
      <a:minorFont>
        <a:latin typeface="Calibri"/>
        <a:ea typeface="Calibri"/>
        <a:cs typeface="Calibri"/>
      </a:minorFont>
    </a:fontScheme>
    <a:fmtScheme name="Dossier eviden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7627231f809456f" /><Relationship Type="http://schemas.openxmlformats.org/officeDocument/2006/relationships/notesMaster" Target="/ppt/notesMasters/notesMaster1.xml" Id="R38c366e45bc44ac3" /></Relationships>
</file>

<file path=ppt/notesSlides/_rels/notesSlide2.xml.rels>&#65279;<?xml version="1.0" encoding="utf-8"?><Relationships xmlns="http://schemas.openxmlformats.org/package/2006/relationships"><Relationship Type="http://schemas.openxmlformats.org/officeDocument/2006/relationships/slide" Target="/ppt/slides/slide2.xml" Id="Re319cc3c56b7418e" /><Relationship Type="http://schemas.openxmlformats.org/officeDocument/2006/relationships/notesMaster" Target="/ppt/notesMasters/notesMaster1.xml" Id="R472ea8e878394ced" /></Relationships>
</file>

<file path=ppt/notesSlides/_rels/notesSlide3.xml.rels>&#65279;<?xml version="1.0" encoding="utf-8"?><Relationships xmlns="http://schemas.openxmlformats.org/package/2006/relationships"><Relationship Type="http://schemas.openxmlformats.org/officeDocument/2006/relationships/slide" Target="/ppt/slides/slide3.xml" Id="Ref88b0bde5df4e72" /><Relationship Type="http://schemas.openxmlformats.org/officeDocument/2006/relationships/notesMaster" Target="/ppt/notesMasters/notesMaster1.xml" Id="R3cfb320c86f04c47" /></Relationships>
</file>

<file path=ppt/notesSlides/_rels/notesSlide4.xml.rels>&#65279;<?xml version="1.0" encoding="utf-8"?><Relationships xmlns="http://schemas.openxmlformats.org/package/2006/relationships"><Relationship Type="http://schemas.openxmlformats.org/officeDocument/2006/relationships/slide" Target="/ppt/slides/slide4.xml" Id="R34ba28e4024a4e60" /><Relationship Type="http://schemas.openxmlformats.org/officeDocument/2006/relationships/notesMaster" Target="/ppt/notesMasters/notesMaster1.xml" Id="R1ed1c82c795c45f4" /></Relationships>
</file>

<file path=ppt/notesSlides/_rels/notesSlide5.xml.rels>&#65279;<?xml version="1.0" encoding="utf-8"?><Relationships xmlns="http://schemas.openxmlformats.org/package/2006/relationships"><Relationship Type="http://schemas.openxmlformats.org/officeDocument/2006/relationships/slide" Target="/ppt/slides/slide5.xml" Id="R15c82134db754547" /><Relationship Type="http://schemas.openxmlformats.org/officeDocument/2006/relationships/notesMaster" Target="/ppt/notesMasters/notesMaster1.xml" Id="Ra53f6bb8a71d49ca" /></Relationships>
</file>

<file path=ppt/notesSlides/_rels/notesSlide6.xml.rels>&#65279;<?xml version="1.0" encoding="utf-8"?><Relationships xmlns="http://schemas.openxmlformats.org/package/2006/relationships"><Relationship Type="http://schemas.openxmlformats.org/officeDocument/2006/relationships/slide" Target="/ppt/slides/slide6.xml" Id="Rbdcb608689854465" /><Relationship Type="http://schemas.openxmlformats.org/officeDocument/2006/relationships/notesMaster" Target="/ppt/notesMasters/notesMaster1.xml" Id="Rdcb14f3eb0034d41" /></Relationships>
</file>

<file path=ppt/notesSlides/_rels/notesSlide7.xml.rels>&#65279;<?xml version="1.0" encoding="utf-8"?><Relationships xmlns="http://schemas.openxmlformats.org/package/2006/relationships"><Relationship Type="http://schemas.openxmlformats.org/officeDocument/2006/relationships/slide" Target="/ppt/slides/slide7.xml" Id="Rc94e80dd68234bf7" /><Relationship Type="http://schemas.openxmlformats.org/officeDocument/2006/relationships/notesMaster" Target="/ppt/notesMasters/notesMaster1.xml" Id="R31fc6d959b184d0a" /></Relationships>
</file>

<file path=ppt/notesSlides/_rels/notesSlide8.xml.rels>&#65279;<?xml version="1.0" encoding="utf-8"?><Relationships xmlns="http://schemas.openxmlformats.org/package/2006/relationships"><Relationship Type="http://schemas.openxmlformats.org/officeDocument/2006/relationships/slide" Target="/ppt/slides/slide8.xml" Id="R3b9f8ced69fd49bf" /><Relationship Type="http://schemas.openxmlformats.org/officeDocument/2006/relationships/notesMaster" Target="/ppt/notesMasters/notesMaster1.xml" Id="R11a42c6c15e444a5" /></Relationships>
</file>

<file path=ppt/notesSlides/_rels/notesSlide9.xml.rels>&#65279;<?xml version="1.0" encoding="utf-8"?><Relationships xmlns="http://schemas.openxmlformats.org/package/2006/relationships"><Relationship Type="http://schemas.openxmlformats.org/officeDocument/2006/relationships/slide" Target="/ppt/slides/slide9.xml" Id="Re8381c662da043d1" /><Relationship Type="http://schemas.openxmlformats.org/officeDocument/2006/relationships/notesMaster" Target="/ppt/notesMasters/notesMaster1.xml" Id="Rf40628317d63438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2329c99852e463d" /><Relationship Type="http://schemas.openxmlformats.org/officeDocument/2006/relationships/notesMaster" Target="/ppt/notesMasters/notesMaster1.xml" Id="R182f39991b5b478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8aed314ffa54a77" /><Relationship Type="http://schemas.openxmlformats.org/officeDocument/2006/relationships/notesMaster" Target="/ppt/notesMasters/notesMaster1.xml" Id="R50679ec59ab24ab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fd789e62a3c4095" /><Relationship Type="http://schemas.openxmlformats.org/officeDocument/2006/relationships/notesMaster" Target="/ppt/notesMasters/notesMaster1.xml" Id="Re6de0ad00356483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55cfde94f1340ed" /><Relationship Type="http://schemas.openxmlformats.org/officeDocument/2006/relationships/notesMaster" Target="/ppt/notesMasters/notesMaster1.xml" Id="Ra0eda7d595aa45d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08c4576c4ec44c7" /><Relationship Type="http://schemas.openxmlformats.org/officeDocument/2006/relationships/notesMaster" Target="/ppt/notesMasters/notesMaster1.xml" Id="Rf88640d5660e4d5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c6b205c2e604ffc" /><Relationship Type="http://schemas.openxmlformats.org/officeDocument/2006/relationships/notesMaster" Target="/ppt/notesMasters/notesMaster1.xml" Id="Rba581bb52e694ed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6ef272ec30d4b7e" /><Relationship Type="http://schemas.openxmlformats.org/officeDocument/2006/relationships/notesMaster" Target="/ppt/notesMasters/notesMaster1.xml" Id="R7639de7ad7cb4da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fce3f97aac34fbf" /><Relationship Type="http://schemas.openxmlformats.org/officeDocument/2006/relationships/notesMaster" Target="/ppt/notesMasters/notesMaster1.xml" Id="Rf48ed6902e5642e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d69c57329cf49c3" /><Relationship Type="http://schemas.openxmlformats.org/officeDocument/2006/relationships/notesMaster" Target="/ppt/notesMasters/notesMaster1.xml" Id="Refcf07a919af42d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ea2ed0f3789443e" /><Relationship Type="http://schemas.openxmlformats.org/officeDocument/2006/relationships/notesMaster" Target="/ppt/notesMasters/notesMaster1.xml" Id="R9b1ab1bd1f54481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a38801d56764ac4" /><Relationship Type="http://schemas.openxmlformats.org/officeDocument/2006/relationships/notesMaster" Target="/ppt/notesMasters/notesMaster1.xml" Id="Rcae6db8e92254a0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8bef9b7b3374c50" /><Relationship Type="http://schemas.openxmlformats.org/officeDocument/2006/relationships/notesMaster" Target="/ppt/notesMasters/notesMaster1.xml" Id="R02fea9304ee540c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5756325e24f4d75" /><Relationship Type="http://schemas.openxmlformats.org/officeDocument/2006/relationships/notesMaster" Target="/ppt/notesMasters/notesMaster1.xml" Id="Rf3a8ca7d64a94a0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44e5be15796476c" /><Relationship Type="http://schemas.openxmlformats.org/officeDocument/2006/relationships/notesMaster" Target="/ppt/notesMasters/notesMaster1.xml" Id="Rb9187aee30ce45e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3a1feaf4c7943f4" /><Relationship Type="http://schemas.openxmlformats.org/officeDocument/2006/relationships/notesMaster" Target="/ppt/notesMasters/notesMaster1.xml" Id="Refd929af8d6f4bc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25c0edc8ed54f08" /><Relationship Type="http://schemas.openxmlformats.org/officeDocument/2006/relationships/notesMaster" Target="/ppt/notesMasters/notesMaster1.xml" Id="R38f2672b87544a5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d1eac9aae0f4c83" /><Relationship Type="http://schemas.openxmlformats.org/officeDocument/2006/relationships/notesMaster" Target="/ppt/notesMasters/notesMaster1.xml" Id="R496f062b781d40d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5ffd686026b4c9c" /><Relationship Type="http://schemas.openxmlformats.org/officeDocument/2006/relationships/notesMaster" Target="/ppt/notesMasters/notesMaster1.xml" Id="Rab72c47d3e8a49f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5f79f909e2041f4" /><Relationship Type="http://schemas.openxmlformats.org/officeDocument/2006/relationships/notesMaster" Target="/ppt/notesMasters/notesMaster1.xml" Id="R6d2cc05442da4b6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e5068d2f1534ada" /><Relationship Type="http://schemas.openxmlformats.org/officeDocument/2006/relationships/notesMaster" Target="/ppt/notesMasters/notesMaster1.xml" Id="R86a649a621124d6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a1baa82e9b34914" /><Relationship Type="http://schemas.openxmlformats.org/officeDocument/2006/relationships/notesMaster" Target="/ppt/notesMasters/notesMaster1.xml" Id="R474fb510e9b54ea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fb48051e59b4a41" /><Relationship Type="http://schemas.openxmlformats.org/officeDocument/2006/relationships/notesMaster" Target="/ppt/notesMasters/notesMaster1.xml" Id="R45475b29632b49e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8643eeab1cc4d74" /><Relationship Type="http://schemas.openxmlformats.org/officeDocument/2006/relationships/notesMaster" Target="/ppt/notesMasters/notesMaster1.xml" Id="R68f2eae2659d4ac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e8129fdbd124c44" /><Relationship Type="http://schemas.openxmlformats.org/officeDocument/2006/relationships/notesMaster" Target="/ppt/notesMasters/notesMaster1.xml" Id="Re7e40742a0c7464f"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0f6c0d8ffeb4d8a" /><Relationship Type="http://schemas.openxmlformats.org/officeDocument/2006/relationships/notesMaster" Target="/ppt/notesMasters/notesMaster1.xml" Id="R8f3b041e9d6c4ac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bd00882a6284361" /><Relationship Type="http://schemas.openxmlformats.org/officeDocument/2006/relationships/notesMaster" Target="/ppt/notesMasters/notesMaster1.xml" Id="R51e487d04a0d401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3c49219c24a14f4b" /><Relationship Type="http://schemas.openxmlformats.org/officeDocument/2006/relationships/notesMaster" Target="/ppt/notesMasters/notesMaster1.xml" Id="R30fd03fc80c441e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reports/dossier-learning-study.json; reports/dossier-learning-study-bundled.json; reports/dossier-learning-study-tmdb.json; reports/reviews-plus-tags-confirmation-v1.json; reports/observed-rating-override-decision-v1.json; apps/dossier-cli/benchmarks/override-v1-protocol.json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references use different cohorts and checkpoints. We compare methods within each experiment. We do not infer a trend in model quality from changes between cohorts. Product defaults remain unchanged.</a:t>
            </a:r>
          </a:p>
          <a:p xmlns:a="http://schemas.openxmlformats.org/drawingml/2006/main">
            <a:r>
              <a:t/>
            </a:r>
          </a:p>
          <a:p xmlns:a="http://schemas.openxmlformats.org/drawingml/2006/main">
            <a:r>
              <a:t>Sources: reports/dossier-learning-study-tmdb.json; reports/reviews-plus-tags-confirmation-v1.json; reports/observed-rating-override-decision-v1.json; apps/dossier-cli/benchmarks/override-v1-protocol.json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User brief; docs/simulation-lab.md; docs/confirmation-experiment.md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runner creates disposable profiles and uses the same CLI action handlers as normal CLI use. The catalogue adapter supplies public film details. Only training ratings enter Dossier. Hidden ratings score the completed output. All later studies use fixed evidence orders and repeatable fixtures.</a:t>
            </a:r>
          </a:p>
          <a:p xmlns:a="http://schemas.openxmlformats.org/drawingml/2006/main">
            <a:r>
              <a:t/>
            </a:r>
          </a:p>
          <a:p xmlns:a="http://schemas.openxmlformats.org/drawingml/2006/main">
            <a:r>
              <a:t>Sources: docs/hard-benchmark.md; docs/real-benchmark.md; docs/override-experiment.md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Ordering score is ranking AUC. It compares every clear liked/disliked pair, with ties worth half. Neutral ratings do not enter it. An unavailable ranking scores 50%. Clear likes among ten suggestions use the first ten recommendations and score missing recommendations as zero. Neither score is a calibrated prediction of a star rating. Four or more MovieLens stars count as clear likes. At most 2.5 stars count as dislikes.</a:t>
            </a:r>
          </a:p>
          <a:p xmlns:a="http://schemas.openxmlformats.org/drawingml/2006/main">
            <a:r>
              <a:t/>
            </a:r>
          </a:p>
          <a:p xmlns:a="http://schemas.openxmlformats.org/drawingml/2006/main">
            <a:r>
              <a:t>Sources: apps/dossier-cli/scripts/hard-metrics.mjs; apps/dossier-cli/scripts/real-metrics.mjs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reports/dossier-learning-study.json; reports/dossier-learning-study-bundled.json; reports/dossier-learning-study-tmdb.json; docs/real-benchmark.md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sequence of test designs. Repeated runs and implementation parity checks support each design but do not count as new independent people.</a:t>
            </a:r>
          </a:p>
          <a:p xmlns:a="http://schemas.openxmlformats.org/drawingml/2006/main">
            <a:r>
              <a:t/>
            </a:r>
          </a:p>
          <a:p xmlns:a="http://schemas.openxmlformats.org/drawingml/2006/main">
            <a:r>
              <a:t>Sources: /tmp/dossier-lab-final.json; /tmp/dossier-sensitivity.json; reports/dossier-hard-v1-baseline.html (legacyInvestigation); reports/dossier-hard-v1-baseline.html (embedded report-data); /tmp/dossier-live-validation.json; reports/dossier-hard-v1-baseline.html (legacyInvestigation); reports/dossier-real-v1-baseline.json; reports/dossier-learning-study-tmdb.json; reports/dossier-learning-study.json; reports/dossier-learning-study-bundled.json; reports/dossier-learning-study-tmdb.json; reports/reviews-plus-tags-confirmation-v1.json; reports/backwards-learning-diagnosis-v1.json; reports/observed-rating-override-decision-v1.json; apps/dossier-cli/benchmarks/override-v1-protocol.json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large synthetic run contains 24 designed profiles and 240 variations, with four clone trials per person. Variations share the designed profile rules and are not 264 independent real people. The single-person sensitivity example has 20 hidden films. Ten coherent ratings score 95%, reversing five of those ratings scores 57%. The easy oracle shares feature axes with Dossier. Simple cosine matching scores 99.17% after one rating in the later investigation.</a:t>
            </a:r>
          </a:p>
          <a:p xmlns:a="http://schemas.openxmlformats.org/drawingml/2006/main">
            <a:r>
              <a:t/>
            </a:r>
          </a:p>
          <a:p xmlns:a="http://schemas.openxmlformats.org/drawingml/2006/main">
            <a:r>
              <a:t>Sources: /tmp/dossier-lab-final.json; /tmp/dossier-sensitivity.json; reports/dossier-hard-v1-baseline.html (legacyInvestigation)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rated ten known films, inspected recommendations, claims, explanations, calibration questions and taste areas, then added a positive Avengers: Infinity War rating. The ten recommended film identities stayed the same, but their scores and order changed. Six remaining negative claims weakened, one disappeared, and the rating queue changed. A clean replay matched before and after. CLI profiles are separate from the GUI library, so this did not establish shared live UI state.</a:t>
            </a:r>
          </a:p>
          <a:p xmlns:a="http://schemas.openxmlformats.org/drawingml/2006/main">
            <a:r>
              <a:t/>
            </a:r>
          </a:p>
          <a:p xmlns:a="http://schemas.openxmlformats.org/drawingml/2006/main">
            <a:r>
              <a:t>Sources: /tmp/dossier-live-validation.json; reports/dossier-hard-v1-baseline.html (legacyInvestigation)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 fixed people, 288 invented films, 72 hidden films per person, four rating orders. Personas include split tastes, genre exceptions, director loyalty, franchises, broad and selective tastes, unreliable raters, mood-dependent tastes, subtle distinctions and misleading starts. The adapter builds Dossier features from public fields. Some hidden preferences depend on unavailable properties, which intentionally tests representation limits.</a:t>
            </a:r>
          </a:p>
          <a:p xmlns:a="http://schemas.openxmlformats.org/drawingml/2006/main">
            <a:r>
              <a:t/>
            </a:r>
          </a:p>
          <a:p xmlns:a="http://schemas.openxmlformats.org/drawingml/2006/main">
            <a:r>
              <a:t>Sources: reports/dossier-hard-v1-baseline.html (embedded report-data)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20 ratings Dossier AUC 0.7612, nearest baseline 0.7537, genre 0.7165, vector 0.6408, popularity 0.5669, random 0.5334. Precision10 0.4264 and 0.45 for nearest. Dossier improves from 0.5391 at one rating to 0.8045 at forty, averaged across all people and orders. This is not a direct comparison with the later real-film cohorts.</a:t>
            </a:r>
          </a:p>
          <a:p xmlns:a="http://schemas.openxmlformats.org/drawingml/2006/main">
            <a:r>
              <a:t/>
            </a:r>
          </a:p>
          <a:p xmlns:a="http://schemas.openxmlformats.org/drawingml/2006/main">
            <a:r>
              <a:t>Sources: reports/dossier-hard-v1-baseline.html (embedded report-data)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early clone test varies the evidence supplied to four copies of each synthetic person. Mean pairwise top-ten overlap is 0.633 and mean pairwise hit-rate difference 0.074. This mixes different film evidence and evidence order. It does not isolate order alone. Later diagnostic replay isolates order using identical forty-rating libraries and fixed claims.</a:t>
            </a:r>
          </a:p>
          <a:p xmlns:a="http://schemas.openxmlformats.org/drawingml/2006/main">
            <a:r>
              <a:t/>
            </a:r>
          </a:p>
          <a:p xmlns:a="http://schemas.openxmlformats.org/drawingml/2006/main">
            <a:r>
              <a:t>Sources: /tmp/dossier-lab-final.json; /tmp/dossier-sensitivity.json; reports/dossier-hard-v1-baseline.html (legacyInvestigation); reports/dossier-hard-v1-baseline.html (embedded report-data)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MovieLens 2018 latest-small source. Every viewer with at least 150 matched ratings and forty clear likes and dislikes joins the original cohort. The catalogue contains 1,736 films. Each of the thirty-one viewers has sixty hidden films and four seeded learning orders. Film matches use exact release year and normalized title, excluding ambiguous matches. These are historical anonymous viewers, not thirty-one people recruited to use Dossier today.</a:t>
            </a:r>
          </a:p>
          <a:p xmlns:a="http://schemas.openxmlformats.org/drawingml/2006/main">
            <a:r>
              <a:t/>
            </a:r>
          </a:p>
          <a:p xmlns:a="http://schemas.openxmlformats.org/drawingml/2006/main">
            <a:r>
              <a:t>Sources: reports/dossier-real-v1-baseline.json; docs/real-benchmark.md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bundled BestSimilar film catalogue has sparse director and collection fields. This is the original real-v1 benchmark, not the later TMDB catalogue. Other MovieLens viewer means score 82.13% and 6.61 likes but use information unavailable to Dossier. The deck keeps that comparison in the appendix.</a:t>
            </a:r>
          </a:p>
          <a:p xmlns:a="http://schemas.openxmlformats.org/drawingml/2006/main">
            <a:r>
              <a:t/>
            </a:r>
          </a:p>
          <a:p xmlns:a="http://schemas.openxmlformats.org/drawingml/2006/main">
            <a:r>
              <a:t>Sources: reports/dossier-real-v1-baseline.json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freeze viewer identities, rating splits and evidence orders while replacing bundled descriptions with retrieved TMDB genres, keywords, overviews, public reviews, directors and collection information. 1,735 director records and 477 collections. Dossier AUC20 changes 61.13% to 59.24%. Public review ordering changes 82.31% to 80.67%. This controlled result does not establish that one metadata source is generally better. Model parameters did not change. The TMDB study is the frozen regression reference.</a:t>
            </a:r>
          </a:p>
          <a:p xmlns:a="http://schemas.openxmlformats.org/drawingml/2006/main">
            <a:r>
              <a:t/>
            </a:r>
          </a:p>
          <a:p xmlns:a="http://schemas.openxmlformats.org/drawingml/2006/main">
            <a:r>
              <a:t>Sources: reports/dossier-learning-study.json; reports/dossier-learning-study-bundled.json;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Dossier learning checkpoints 52.98%,54.94%,56.53%,57.6%,59.24%,60.18%. Public reviews 80.67%, unchanged by evidence count. More evidence improves the mean, but thirty-five of 124 sessions lose more than three AUC points between ten and forty ratings, across twenty-four viewers. Sparse profiles can return no recommendations. Ordering AUC then uses chance at 50%, while first-ten likes count missing output as zero.</a:t>
            </a:r>
          </a:p>
          <a:p xmlns:a="http://schemas.openxmlformats.org/drawingml/2006/main">
            <a:r>
              <a:t/>
            </a:r>
          </a:p>
          <a:p xmlns:a="http://schemas.openxmlformats.org/drawingml/2006/main">
            <a:r>
              <a:t>Sources: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Hard synthetic belief tests: three correctly removed, two overcorrected, five total. TMDB real tests: 25 correctly removed, one correctly replaced, two overcorrected, three no false claim formed. Eligible denominator twenty-eight, so 26/28=92.86%. Tests deliberately construct biased evidence, then add matching contradictory training ratings. No claim-correction percentage is a measure of all inferred claims or all user preferences. Narrowing may happen through other claims but primary classifications are removal/replacement here.</a:t>
            </a:r>
          </a:p>
          <a:p xmlns:a="http://schemas.openxmlformats.org/drawingml/2006/main">
            <a:r>
              <a:t/>
            </a:r>
          </a:p>
          <a:p xmlns:a="http://schemas.openxmlformats.org/drawingml/2006/main">
            <a:r>
              <a:t>Sources: reports/dossier-hard-v1-baseline.html (embedded report-data);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Calibration arms share five initial ratings and later rate either Dossier-chosen unseen training titles or randomly selected titles from the more popular 75% of the unseen pool. Both arms score the same sixty hidden films. At 40, active AUC .5806 and reasonable random .6189. Viewer-bootstrap difference -.0383, 95% interval -.0769 to -.0005. At 20 interval crosses zero. Hard synthetic at 20 +0.0071 but at40 -.0122. Bundled real at40 -.0111. We always reveal the recorded rating; recognition and willingness to answer are not tested.</a:t>
            </a:r>
          </a:p>
          <a:p xmlns:a="http://schemas.openxmlformats.org/drawingml/2006/main">
            <a:r>
              <a:t/>
            </a:r>
          </a:p>
          <a:p xmlns:a="http://schemas.openxmlformats.org/drawingml/2006/main">
            <a:r>
              <a:t>Sources: reports/dossier-learning-study-tmdb.json; reports/dossier-hard-v1-baseline.html (embedded report-data)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TMDB damage summary means: half reversed -.0690, randomized -.1101, important removed -.0471, contradictions -.0338, twenty reduced to five -.0307. All aggregate sensitivity flags pass the predefined threshold, but many individual results remain unchanged or improve. Bundled real contradiction and five-rating conditions fall below the three-point sensitivity threshold. Hard invented cohort degradation is larger: -25.55,-32.74,-22.14,-25.22,-20.54 points. Damage trials score current Dossier, not the fixed 75/25 candidate.</a:t>
            </a:r>
          </a:p>
          <a:p xmlns:a="http://schemas.openxmlformats.org/drawingml/2006/main">
            <a:r>
              <a:t/>
            </a:r>
          </a:p>
          <a:p xmlns:a="http://schemas.openxmlformats.org/drawingml/2006/main">
            <a:r>
              <a:t>Sources: reports/dossier-learning-study-tmdb.json; reports/dossier-real-v1-baseline.json; reports/dossier-hard-v1-baseline.html (embedded report-data)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TMDB model component comparisons: current .5924, no claims .5913, no groups .5895, no groups/no claims .5834, no dislike penalty .5714, no negative signals .5699, increased quality .7498, public .8067, reviews plus lens similarity .7907, tags alone .5780, reviews plus tags .8126. Eleven methods are exploratory, selected on the same data. The .0059 average candidate gain does not independently confirm improvement. Removing claims, groups, or negatives globally does not solve the average gap and may harm useful individual effects.</a:t>
            </a:r>
          </a:p>
          <a:p xmlns:a="http://schemas.openxmlformats.org/drawingml/2006/main">
            <a:r>
              <a:t/>
            </a:r>
          </a:p>
          <a:p xmlns:a="http://schemas.openxmlformats.org/drawingml/2006/main">
            <a:r>
              <a:t>Sources: reports/dossier-learning-study.json; reports/dossier-learning-study-bundled.json;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47 previously unused viewers from the same MovieLens archive and same 1,736-film TMDB catalogue. Sixty fixed hidden films each, four orders. Public AUC .7288 and precision .6532; candidate .7383/.6777; Dossier .6007/.5133. Paired candidate-public mean AUC gain .0095 (reported rounded), interval .0033 to .0160. Top-ten precision gain .0245, interval .0085 to .0415. One viewer loses over three AUC points vs public, six gain. No average individual loss reaches one like/ten vs public. This is confirmation on new individuals, not an independent population.</a:t>
            </a:r>
          </a:p>
          <a:p xmlns:a="http://schemas.openxmlformats.org/drawingml/2006/main">
            <a:r>
              <a:t/>
            </a:r>
          </a:p>
          <a:p xmlns:a="http://schemas.openxmlformats.org/drawingml/2006/main">
            <a:r>
              <a:t>Sources: reports/reviews-plus-tags-confirmation-v1.json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Viewer82 current AUC .8301, candidate .5559, public .4835. Viewer484 current .6903, candidate .5225, public .5023. Eight unusual-taste viewers are defined using public-review ordering &lt;=.6 on the full training pool, never hidden labels. Candidate-public group gain .0103, 95% interval -.009 to .0313. Four individuals lose over three points against current Dossier in the full confirmation cohort. First-ten counts and full ordering can disagree: viewer484 candidate has .75 more likes per ten despite worse overall ordering.</a:t>
            </a:r>
          </a:p>
          <a:p xmlns:a="http://schemas.openxmlformats.org/drawingml/2006/main">
            <a:r>
              <a:t/>
            </a:r>
          </a:p>
          <a:p xmlns:a="http://schemas.openxmlformats.org/drawingml/2006/main">
            <a:r>
              <a:t>Sources: reports/reviews-plus-tags-confirmation-v1.json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 largest frozen 10-to40 declines selected before new-viewer scoring. Exact replay through actual CLI after every rating and additive score reconstruction. Viewer21 seed83 .6721-.3766;177/11 .7937-.5547;483/83 .5114-.2828;21/11 .6867-.4627;603/29 .7041-.4898. Four distinct people, five evidence orders. Do not describe them as five independent users.</a:t>
            </a:r>
          </a:p>
          <a:p xmlns:a="http://schemas.openxmlformats.org/drawingml/2006/main">
            <a:r>
              <a:t/>
            </a:r>
          </a:p>
          <a:p xmlns:a="http://schemas.openxmlformats.org/drawingml/2006/main">
            <a:r>
              <a:t>Sources: reports/backwards-learning-diagnosis-v1.json;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score decomposition and all eight before/after component combinations establish mechanisms in these frozen cases. Viewer483/83 like Fellowship count12 changes groups and helps disliked FantasticFour over liked Adaptation. Omitting newly formed liked groups recovers much of the single-step loss. Viewer21/11 dislike TwoTowers count26 creates a disliked group and puts ItTakesTwo before liked TotalRecall. Holding prior dislike contribution nearly restores that step. These diagnostic interventions use earlier snapshots and hidden outcomes to explain failure, not to choose deployed recommendations.</a:t>
            </a:r>
          </a:p>
          <a:p xmlns:a="http://schemas.openxmlformats.org/drawingml/2006/main">
            <a:r>
              <a:t/>
            </a:r>
          </a:p>
          <a:p xmlns:a="http://schemas.openxmlformats.org/drawingml/2006/main">
            <a:r>
              <a:t>Sources: reports/backwards-learning-diagnosis-v1.json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Twelve shuffled input orders of the same final forty ratings, with the final claim set held fixed. This isolates order sensitivity in buildTasteSpace grouping. Viewer603 min .4469,max .5755 is 12.86 points. Other cases range 7.15,7.82,7.71,5.35 points approximately. It does not include claim-update order effects because those are held fixed.</a:t>
            </a:r>
          </a:p>
          <a:p xmlns:a="http://schemas.openxmlformats.org/drawingml/2006/main">
            <a:r>
              <a:t/>
            </a:r>
          </a:p>
          <a:p xmlns:a="http://schemas.openxmlformats.org/drawingml/2006/main">
            <a:r>
              <a:t>Sources: reports/backwards-learning-diagnosis-v1.json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Fixed before hidden outcome scoring: unchanged candidate by default, current Dossier only after &gt;=20 supplied ratings, &gt;=6 likes, &gt;=6 dislikes, supplied public AUC &lt;=.6. Three stratified folds repeated at seeds101,211,307. Current must beat candidate and public by &gt;=.05 in every repeat and both 95% title-bootstrap lower bounds &gt;0. Hidden answers and viewer IDs do not enter decision. Thirty untouched viewers with forty hidden films, previous78 viewers included. Models unchanged.</a:t>
            </a:r>
          </a:p>
          <a:p xmlns:a="http://schemas.openxmlformats.org/drawingml/2006/main">
            <a:r>
              <a:t/>
            </a:r>
          </a:p>
          <a:p xmlns:a="http://schemas.openxmlformats.org/drawingml/2006/main">
            <a:r>
              <a:t>Sources: reports/observed-rating-override-decision-v1.json; apps/dossier-cli/benchmarks/override-v1-protocol.json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checkpoint40. Zero of120 fresh sessions selected. Nineteen current-model opportunities &gt;.03 AUC in nine fresh viewers missed. Eighty-six sessions blocked by balanced evidence minimum, twenty-six by public-agreement condition, eight by unreliable repeated validation. Sixteen new viewers have fewer than six clear dislikes/likes in their full training pool because holdout reserves dislikes. These cohort/split limitations qualify sensitivity. Across all432 sessions one confirmation viewer292/order11 switches at40 and gains4.33 points vs candidate. Viewer82 four dislikes,484two or three after40.</a:t>
            </a:r>
          </a:p>
          <a:p xmlns:a="http://schemas.openxmlformats.org/drawingml/2006/main">
            <a:r>
              <a:t/>
            </a:r>
          </a:p>
          <a:p xmlns:a="http://schemas.openxmlformats.org/drawingml/2006/main">
            <a:r>
              <a:t>Sources: reports/observed-rating-override-decision-v1.json; apps/dossier-cli/benchmarks/override-v1-protocol.json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five exact current-model failures reproduce unchanged. The guard falls back to unchanged candidate throughout those failures. At forty candidate gains13.06 to47.98 points over current. Four cases meet all predefined checks. Viewer483/83 guard10 .7955,guard40 .7626 declines3.29 points, just over three-point limit. Largest individual step loss acrossfive1.95 points, below five-point threshold. This is no evidence the internal Dossier mechanism changed. Recommendation defaults unchanged because exception detection fails regardless of this near-boundary decline.</a:t>
            </a:r>
          </a:p>
          <a:p xmlns:a="http://schemas.openxmlformats.org/drawingml/2006/main">
            <a:r>
              <a:t/>
            </a:r>
          </a:p>
          <a:p xmlns:a="http://schemas.openxmlformats.org/drawingml/2006/main">
            <a:r>
              <a:t>Sources: reports/observed-rating-override-decision-v1.json; apps/dossier-cli/benchmarks/override-v1-protocol.json; reports/backwards-learning-diagnosis-v1.json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implications drawn from objective retrospective results, not a claim of observed product-user outcomes. Average public-review superiority does not negate individual current-model wins. Mechanism diagnosis and failed detection imply defaults should remain unchanged pending protection.</a:t>
            </a:r>
          </a:p>
          <a:p xmlns:a="http://schemas.openxmlformats.org/drawingml/2006/main">
            <a:r>
              <a:t/>
            </a:r>
          </a:p>
          <a:p xmlns:a="http://schemas.openxmlformats.org/drawingml/2006/main">
            <a:r>
              <a:t>Sources: reports/dossier-learning-study-tmdb.json; reports/reviews-plus-tags-confirmation-v1.json; reports/observed-rating-override-decision-v1.json; apps/dossier-cli/benchmarks/override-v1-protocol.json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Cohorts are selected historical MovieLens users who rated available matched catalogue films. Metadata/public scores postdate personal ratings. Repeated evidence orders are not independent users. Hidden film splits include class-balanced selections. We measure ordering among rated films, not full catalogue retrieval, question recognition, actual product engagement, future taste, mood, or complete explainability. Later cohorts have different eligibility and hidden counts; scores are comparable acrossmethods within each study, not trend claims acrosscohorts.</a:t>
            </a:r>
          </a:p>
          <a:p xmlns:a="http://schemas.openxmlformats.org/drawingml/2006/main">
            <a:r>
              <a:t/>
            </a:r>
          </a:p>
          <a:p xmlns:a="http://schemas.openxmlformats.org/drawingml/2006/main">
            <a:r>
              <a:t>Sources: docs/real-benchmark.md; docs/confirmation-experiment.md; docs/override-experiment.md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Next candidate must address the mechanism of sparse-negative exception detection rather than tune frozen thresholds after outcomes. Use previous cohorts as regression references and genuinely untouched evidence for independent confirmation. Compare against both mandatory public reviews and unchanged current model. Require protections across original five failures and eight unusual cases. Tiny threshold fluctuations are decision aids, not automatic releases.</a:t>
            </a:r>
          </a:p>
          <a:p xmlns:a="http://schemas.openxmlformats.org/drawingml/2006/main">
            <a:r>
              <a:t/>
            </a:r>
          </a:p>
          <a:p xmlns:a="http://schemas.openxmlformats.org/drawingml/2006/main">
            <a:r>
              <a:t>Sources: reports/observed-rating-override-decision-v1.json; apps/dossier-cli/benchmarks/override-v1-protocol.json; apps/dossier-cli/benchmarks/tmdb-study-v1-reference.json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 labels: popularity, genre,vector,nearest,random. Real public rating is averagepublicfilmrating, popularity is attention, community is otherMovieLens viewer mean excluding target. The latter has extra communitydata and is not a fair app-default baseline. Percentages are ranking AUC; all neutralpersonalratings excluded.</a:t>
            </a:r>
          </a:p>
          <a:p xmlns:a="http://schemas.openxmlformats.org/drawingml/2006/main">
            <a:r>
              <a:t/>
            </a:r>
          </a:p>
          <a:p xmlns:a="http://schemas.openxmlformats.org/drawingml/2006/main">
            <a:r>
              <a:t>Sources: reports/dossier-hard-v1-baseline.html (embedded report-data); reports/dossier-real-v1-baseline.json;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reports/dossier-learning-study.json; reports/dossier-learning-study-bundled.json;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eight come from training public AUC &lt;=.60. Every guard decision remains candidate, zero switchesat40. Values match currentmodel/candidate scores in replay. Twenty-rating figures are in main slide21 and original report. Person-labeled output IDs are anonymous MovieLensIDs, not named productusers.</a:t>
            </a:r>
          </a:p>
          <a:p xmlns:a="http://schemas.openxmlformats.org/drawingml/2006/main">
            <a:r>
              <a:t/>
            </a:r>
          </a:p>
          <a:p xmlns:a="http://schemas.openxmlformats.org/drawingml/2006/main">
            <a:r>
              <a:t>Sources: reports/reviews-plus-tags-confirmation-v1.json; reports/observed-rating-override-decision-v1.json; apps/dossier-cli/benchmarks/override-v1-protocol.json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/tmp/dossier-lab-final.json; /tmp/dossier-sensitivity.json; reports/dossier-hard-v1-baseline.html (legacyInvestigation); reports/dossier-hard-v1-baseline.html (embedded report-data); /tmp/dossier-live-validation.json; reports/dossier-hard-v1-baseline.html (legacyInvestigation); reports/dossier-real-v1-baseline.json; reports/dossier-learning-study-tmdb.json; reports/dossier-learning-study.json; reports/dossier-learning-study-bundled.json; reports/dossier-learning-study-tmdb.json; reports/reviews-plus-tags-confirmation-v1.json; reports/backwards-learning-diagnosis-v1.json; reports/observed-rating-override-decision-v1.json; apps/dossier-cli/benchmarks/override-v1-protocol.json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MovieLens ratings from GroupLens Research, University of Minnesota, 2018 ml-latest-small archive. TMDB data and attribution fromthefrozenfixture. Neither GroupLens nor TMDB endorses this project. MovieLens usage conditions, including commercial permission requirements, remain in the original README and standalone reports. Full sources and file hashes accompany the authored presentation. Earlier CLI and easy-lab records in /tmp are summarized in the saved evidence ledger.</a:t>
            </a:r>
          </a:p>
          <a:p xmlns:a="http://schemas.openxmlformats.org/drawingml/2006/main">
            <a:r>
              <a:t/>
            </a:r>
          </a:p>
          <a:p xmlns:a="http://schemas.openxmlformats.org/drawingml/2006/main">
            <a:r>
              <a:t>Sources: reports/*.json and HTML files listed on this slide. https://files.grouplens.org/datasets/movielens/ml-latest-small-README.html; https://www.themoviedb.org/; apps/dossier-cli/benchmarks/MOVIELENS-README.txt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e51d86da9a849b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22a5efe3eb7410e" /><Relationship Type="http://schemas.openxmlformats.org/officeDocument/2006/relationships/slideLayout" Target="/ppt/slideLayouts/slideLayout1.xml" Id="R40d547b611ec403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0d547b611ec403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Dossier evidence">
      <a:dk1>
        <a:srgbClr val="000000"/>
      </a:dk1>
      <a:lt1>
        <a:srgbClr val="FFFFFF"/>
      </a:lt1>
      <a:dk2>
        <a:srgbClr val="17252B"/>
      </a:dk2>
      <a:lt2>
        <a:srgbClr val="F2EFE8"/>
      </a:lt2>
      <a:accent1>
        <a:srgbClr val="397564"/>
      </a:accent1>
      <a:accent2>
        <a:srgbClr val="BC432A"/>
      </a:accent2>
      <a:accent3>
        <a:srgbClr val="55718E"/>
      </a:accent3>
      <a:accent4>
        <a:srgbClr val="BA9152"/>
      </a:accent4>
      <a:accent5>
        <a:srgbClr val="87798F"/>
      </a:accent5>
      <a:accent6>
        <a:srgbClr val="8C9A90"/>
      </a:accent6>
      <a:hlink>
        <a:srgbClr val="55718E"/>
      </a:hlink>
      <a:folHlink>
        <a:srgbClr val="55718E"/>
      </a:folHlink>
    </a:clrScheme>
    <a:fontScheme name="Office">
      <a:majorFont>
        <a:latin typeface="Calibri Light"/>
        <a:ea typeface="Calibri Light"/>
        <a:cs typeface="Calibri Light"/>
      </a:majorFont>
      <a:minorFont>
        <a:latin typeface="Calibri"/>
        <a:ea typeface="Calibri"/>
        <a:cs typeface="Calibri"/>
      </a:minorFont>
    </a:fontScheme>
    <a:fmtScheme name="Dossier eviden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45d1ddd847347f5" /><Relationship Type="http://schemas.openxmlformats.org/officeDocument/2006/relationships/image" Target="/ppt/media/image.png" Id="Re5fc3d1611954b27" /><Relationship Type="http://schemas.openxmlformats.org/officeDocument/2006/relationships/notesSlide" Target="/ppt/notesSlides/notesSlide1.xml" Id="Rd2397257c5a4493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462c832aaef4d17" /><Relationship Type="http://schemas.openxmlformats.org/officeDocument/2006/relationships/notesSlide" Target="/ppt/notesSlides/notesSlide2.xml" Id="Rbd77a491f3c4476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73d131e61ea49f4" /><Relationship Type="http://schemas.openxmlformats.org/officeDocument/2006/relationships/notesSlide" Target="/ppt/notesSlides/notesSlide3.xml" Id="R537c3c0a887c482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ab8558596024ffe" /><Relationship Type="http://schemas.openxmlformats.org/officeDocument/2006/relationships/notesSlide" Target="/ppt/notesSlides/notesSlide4.xml" Id="Ra87a854bc99a4b9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aff9733292e4a0d" /><Relationship Type="http://schemas.openxmlformats.org/officeDocument/2006/relationships/notesSlide" Target="/ppt/notesSlides/notesSlide5.xml" Id="R4107c937192b45c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5c9cf4db7554617" /><Relationship Type="http://schemas.openxmlformats.org/officeDocument/2006/relationships/notesSlide" Target="/ppt/notesSlides/notesSlide6.xml" Id="Rcb3416763892422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f88dcdea6144e3c" /><Relationship Type="http://schemas.openxmlformats.org/officeDocument/2006/relationships/notesSlide" Target="/ppt/notesSlides/notesSlide7.xml" Id="R8288d7b75a48452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10c1fe2d0b64ecb" /><Relationship Type="http://schemas.openxmlformats.org/officeDocument/2006/relationships/notesSlide" Target="/ppt/notesSlides/notesSlide8.xml" Id="R0cbde287c86b47b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9eaa85265dd45cf" /><Relationship Type="http://schemas.openxmlformats.org/officeDocument/2006/relationships/notesSlide" Target="/ppt/notesSlides/notesSlide9.xml" Id="Rd284d82aaf85471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ae5e8eb16b44976" /><Relationship Type="http://schemas.openxmlformats.org/officeDocument/2006/relationships/notesSlide" Target="/ppt/notesSlides/notesSlide10.xml" Id="R006019632ab14f0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8b6b0de69c14a47" /><Relationship Type="http://schemas.openxmlformats.org/officeDocument/2006/relationships/notesSlide" Target="/ppt/notesSlides/notesSlide11.xml" Id="R565aecfbee22412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26faeee2c9947f1" /><Relationship Type="http://schemas.openxmlformats.org/officeDocument/2006/relationships/notesSlide" Target="/ppt/notesSlides/notesSlide12.xml" Id="R31d1832258c1466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b19ffa131f2489c" /><Relationship Type="http://schemas.openxmlformats.org/officeDocument/2006/relationships/notesSlide" Target="/ppt/notesSlides/notesSlide13.xml" Id="R978fba87ab9a41f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e178b534d8e4409" /><Relationship Type="http://schemas.openxmlformats.org/officeDocument/2006/relationships/notesSlide" Target="/ppt/notesSlides/notesSlide14.xml" Id="R34d22fae4ba9404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ffc13c133844410" /><Relationship Type="http://schemas.openxmlformats.org/officeDocument/2006/relationships/notesSlide" Target="/ppt/notesSlides/notesSlide15.xml" Id="Ra05b1a9404f74ea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b1ab8edd3a84af3" /><Relationship Type="http://schemas.openxmlformats.org/officeDocument/2006/relationships/chart" Target="/ppt/slides/charts/chart1.xml" Id="R25955d36cd9a4600" /><Relationship Type="http://schemas.openxmlformats.org/officeDocument/2006/relationships/notesSlide" Target="/ppt/notesSlides/notesSlide16.xml" Id="R79e12648749b421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dca48cb84254eed" /><Relationship Type="http://schemas.openxmlformats.org/officeDocument/2006/relationships/notesSlide" Target="/ppt/notesSlides/notesSlide17.xml" Id="R777d2657bd0f4e9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b9e520832e9447b" /><Relationship Type="http://schemas.openxmlformats.org/officeDocument/2006/relationships/notesSlide" Target="/ppt/notesSlides/notesSlide18.xml" Id="Re3630f21ce9d42a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8e3c4e2f97f4374" /><Relationship Type="http://schemas.openxmlformats.org/officeDocument/2006/relationships/notesSlide" Target="/ppt/notesSlides/notesSlide19.xml" Id="Ra5d91b1c610845c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a05c7c73d4d467e" /><Relationship Type="http://schemas.openxmlformats.org/officeDocument/2006/relationships/notesSlide" Target="/ppt/notesSlides/notesSlide20.xml" Id="Rfc797cb8f13343f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3b90214aac340f9" /><Relationship Type="http://schemas.openxmlformats.org/officeDocument/2006/relationships/notesSlide" Target="/ppt/notesSlides/notesSlide21.xml" Id="R762ddcf17856422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6d6a9af8dcc40a4" /><Relationship Type="http://schemas.openxmlformats.org/officeDocument/2006/relationships/chart" Target="/ppt/slides/charts/chart2.xml" Id="R2d9feb4c60a64b88" /><Relationship Type="http://schemas.openxmlformats.org/officeDocument/2006/relationships/notesSlide" Target="/ppt/notesSlides/notesSlide22.xml" Id="R3a44349b3529456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140576e66ee4af0" /><Relationship Type="http://schemas.openxmlformats.org/officeDocument/2006/relationships/notesSlide" Target="/ppt/notesSlides/notesSlide23.xml" Id="R8060fa780a0b49b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0755c5cdc3224aa6" /><Relationship Type="http://schemas.openxmlformats.org/officeDocument/2006/relationships/notesSlide" Target="/ppt/notesSlides/notesSlide24.xml" Id="Raf09b11ac182493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ca0d3799afbc4f50" /><Relationship Type="http://schemas.openxmlformats.org/officeDocument/2006/relationships/notesSlide" Target="/ppt/notesSlides/notesSlide25.xml" Id="Rad5e6113712f48b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c921d05c8bb14824" /><Relationship Type="http://schemas.openxmlformats.org/officeDocument/2006/relationships/notesSlide" Target="/ppt/notesSlides/notesSlide26.xml" Id="R9861c199353f4c3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98c0ebb506de4c5c" /><Relationship Type="http://schemas.openxmlformats.org/officeDocument/2006/relationships/notesSlide" Target="/ppt/notesSlides/notesSlide27.xml" Id="R64913d360ae5400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92b52000d9bf43d3" /><Relationship Type="http://schemas.openxmlformats.org/officeDocument/2006/relationships/notesSlide" Target="/ppt/notesSlides/notesSlide28.xml" Id="R4da973d76811486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2b3d19c46b524584" /><Relationship Type="http://schemas.openxmlformats.org/officeDocument/2006/relationships/notesSlide" Target="/ppt/notesSlides/notesSlide29.xml" Id="Ra7fad51c8f7542c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d1f6d7c09bf644c3" /><Relationship Type="http://schemas.openxmlformats.org/officeDocument/2006/relationships/notesSlide" Target="/ppt/notesSlides/notesSlide30.xml" Id="Rc3575b5d54f849d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db7a68b10a2a4d95" /><Relationship Type="http://schemas.openxmlformats.org/officeDocument/2006/relationships/notesSlide" Target="/ppt/notesSlides/notesSlide31.xml" Id="R43020955d56344f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d388def013f041de" /><Relationship Type="http://schemas.openxmlformats.org/officeDocument/2006/relationships/notesSlide" Target="/ppt/notesSlides/notesSlide32.xml" Id="Rab99a4b3c96e4fb7"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235c4e4feabd4b13" /><Relationship Type="http://schemas.openxmlformats.org/officeDocument/2006/relationships/notesSlide" Target="/ppt/notesSlides/notesSlide33.xml" Id="Rf0358365a8b4433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6afba22b5b9a47d0" /><Relationship Type="http://schemas.openxmlformats.org/officeDocument/2006/relationships/notesSlide" Target="/ppt/notesSlides/notesSlide34.xml" Id="R3f33438051a34af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1f06ec4a2f414676" /><Relationship Type="http://schemas.openxmlformats.org/officeDocument/2006/relationships/notesSlide" Target="/ppt/notesSlides/notesSlide35.xml" Id="R56bd06b9f1854931"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b6d4058af77a4d6b" /><Relationship Type="http://schemas.openxmlformats.org/officeDocument/2006/relationships/image" Target="/ppt/media/image2.png" Id="R2d6e9536330b4451" /><Relationship Type="http://schemas.openxmlformats.org/officeDocument/2006/relationships/image" Target="/ppt/media/image.svg" Id="R54d68a34c2b341c8" /><Relationship Type="http://schemas.openxmlformats.org/officeDocument/2006/relationships/notesSlide" Target="/ppt/notesSlides/notesSlide36.xml" Id="Rf78aaafda03145e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lineChart>
        <c:grouping val="standard"/>
        <c:ser>
          <c:idx val="0"/>
          <c:order val="0"/>
          <c:tx>
            <c:v>Current Dossier</c:v>
          </c:tx>
          <c:spPr>
            <a:ln xmlns:a="http://schemas.openxmlformats.org/drawingml/2006/main" w="38100">
              <a:solidFill>
                <a:srgbClr val="BC432A"/>
              </a:solidFill>
            </a:ln>
          </c:spPr>
          <c:marker>
            <c:symbol val="circle"/>
            <c:size val="8"/>
            <c:spPr>
              <a:solidFill xmlns:a="http://schemas.openxmlformats.org/drawingml/2006/main">
                <a:srgbClr val="BC432A"/>
              </a:solidFill>
            </c:spPr>
          </c:marker>
          <c:cat>
            <c:numRef>
              <c:f>'Chart Data'!$A$2:$A$7</c:f>
              <c:numCache>
                <c:formatCode>General</c:formatCode>
                <c:ptCount val="6"/>
                <c:pt idx="0">
                  <c:v>1</c:v>
                </c:pt>
                <c:pt idx="1">
                  <c:v>3</c:v>
                </c:pt>
                <c:pt idx="2">
                  <c:v>5</c:v>
                </c:pt>
                <c:pt idx="3">
                  <c:v>10</c:v>
                </c:pt>
                <c:pt idx="4">
                  <c:v>20</c:v>
                </c:pt>
                <c:pt idx="5">
                  <c:v>40</c:v>
                </c:pt>
              </c:numCache>
            </c:numRef>
          </c:cat>
          <c:val>
            <c:numRef>
              <c:f>'Chart Data'!$B$2:$B$7</c:f>
              <c:numCache>
                <c:formatCode>0%</c:formatCode>
                <c:ptCount val="6"/>
                <c:pt idx="0">
                  <c:v>0.5298</c:v>
                </c:pt>
                <c:pt idx="1">
                  <c:v>0.5494</c:v>
                </c:pt>
                <c:pt idx="2">
                  <c:v>0.5653</c:v>
                </c:pt>
                <c:pt idx="3">
                  <c:v>0.576</c:v>
                </c:pt>
                <c:pt idx="4">
                  <c:v>0.5924</c:v>
                </c:pt>
                <c:pt idx="5">
                  <c:v>0.6018</c:v>
                </c:pt>
              </c:numCache>
            </c:numRef>
          </c:val>
        </c:ser>
        <c:ser>
          <c:idx val="1"/>
          <c:order val="1"/>
          <c:tx>
            <c:v>Public reviews</c:v>
          </c:tx>
          <c:spPr>
            <a:ln xmlns:a="http://schemas.openxmlformats.org/drawingml/2006/main" w="38100">
              <a:solidFill>
                <a:srgbClr val="397564"/>
              </a:solidFill>
            </a:ln>
          </c:spPr>
          <c:marker>
            <c:symbol val="none"/>
          </c:marker>
          <c:cat>
            <c:numRef>
              <c:f>'Chart Data'!$C$2:$C$7</c:f>
              <c:numCache>
                <c:formatCode>General</c:formatCode>
                <c:ptCount val="6"/>
                <c:pt idx="0">
                  <c:v>1</c:v>
                </c:pt>
                <c:pt idx="1">
                  <c:v>3</c:v>
                </c:pt>
                <c:pt idx="2">
                  <c:v>5</c:v>
                </c:pt>
                <c:pt idx="3">
                  <c:v>10</c:v>
                </c:pt>
                <c:pt idx="4">
                  <c:v>20</c:v>
                </c:pt>
                <c:pt idx="5">
                  <c:v>40</c:v>
                </c:pt>
              </c:numCache>
            </c:numRef>
          </c:cat>
          <c:val>
            <c:numRef>
              <c:f>'Chart Data'!$D$2:$D$7</c:f>
              <c:numCache>
                <c:formatCode>0%</c:formatCode>
                <c:ptCount val="6"/>
                <c:pt idx="0">
                  <c:v>0.8067</c:v>
                </c:pt>
                <c:pt idx="1">
                  <c:v>0.8067</c:v>
                </c:pt>
                <c:pt idx="2">
                  <c:v>0.8067</c:v>
                </c:pt>
                <c:pt idx="3">
                  <c:v>0.8067</c:v>
                </c:pt>
                <c:pt idx="4">
                  <c:v>0.8067</c:v>
                </c:pt>
                <c:pt idx="5">
                  <c:v>0.8067</c:v>
                </c:pt>
              </c:numCache>
            </c:numRef>
          </c:val>
        </c:ser>
        <c:dLbls>
          <c:txPr>
            <a:bodyPr xmlns:a="http://schemas.openxmlformats.org/drawingml/2006/main" anchorCtr="1"/>
            <a:lstStyle xmlns:a="http://schemas.openxmlformats.org/drawingml/2006/main"/>
            <a:p xmlns:a="http://schemas.openxmlformats.org/drawingml/2006/main">
              <a:pPr>
                <a:defRPr>
                  <a:latin typeface="Avenir Next"/>
                  <a:ea typeface="Avenir Next"/>
                  <a:cs typeface="Avenir Next"/>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650">
                    <a:latin typeface="Avenir Next"/>
                    <a:ea typeface="Avenir Next"/>
                    <a:cs typeface="Avenir Next"/>
                  </a:rPr>
                  <a:t>Ratings supplied</a:t>
                </a:r>
              </a:p>
            </c:rich>
          </c:tx>
          <c:overlay val="0"/>
          <c:txPr>
            <a:bodyPr xmlns:a="http://schemas.openxmlformats.org/drawingml/2006/main" anchorCtr="1"/>
            <a:lstStyle xmlns:a="http://schemas.openxmlformats.org/drawingml/2006/main"/>
            <a:p xmlns:a="http://schemas.openxmlformats.org/drawingml/2006/main">
              <a:pPr>
                <a:defRPr sz="1650">
                  <a:latin typeface="Avenir Next"/>
                  <a:ea typeface="Avenir Next"/>
                  <a:cs typeface="Avenir Next"/>
                </a:defRPr>
              </a:pPr>
            </a:p>
          </c:txPr>
        </c:title>
        <c:numFmt formatCode="General"/>
        <c:majorTickMark val="none"/>
        <c:minorTickMark val="none"/>
        <c:spPr>
          <a:ln xmlns:a="http://schemas.openxmlformats.org/drawingml/2006/main" w="9525">
            <a:solidFill>
              <a:srgbClr val="D7D0C4"/>
            </a:solidFill>
          </a:ln>
        </c:spPr>
        <c:txPr>
          <a:bodyPr xmlns:a="http://schemas.openxmlformats.org/drawingml/2006/main" anchorCtr="1"/>
          <a:lstStyle xmlns:a="http://schemas.openxmlformats.org/drawingml/2006/main"/>
          <a:p xmlns:a="http://schemas.openxmlformats.org/drawingml/2006/main">
            <a:pPr>
              <a:defRPr sz="1650">
                <a:solidFill>
                  <a:srgbClr val="17252B"/>
                </a:solidFill>
                <a:latin typeface="Avenir Next"/>
                <a:ea typeface="Avenir Next"/>
                <a:cs typeface="Avenir Next"/>
              </a:defRPr>
            </a:pPr>
          </a:p>
        </c:txPr>
        <c:crossAx val="48672768"/>
      </c:catAx>
      <c:valAx>
        <c:axId val="48672768"/>
        <c:scaling>
          <c:orientation val="minMax"/>
          <c:max val="1"/>
          <c:min val="0.5"/>
        </c:scaling>
        <c:delete val="0"/>
        <c:axPos val="l"/>
        <c:majorGridlines>
          <c:spPr>
            <a:ln xmlns:a="http://schemas.openxmlformats.org/drawingml/2006/main" w="9525">
              <a:solidFill>
                <a:srgbClr val="D7D0C4"/>
              </a:solidFill>
            </a:ln>
          </c:spPr>
        </c:majorGridlines>
        <c:title>
          <c:tx>
            <c:rich>
              <a:bodyPr xmlns:a="http://schemas.openxmlformats.org/drawingml/2006/main"/>
              <a:lstStyle xmlns:a="http://schemas.openxmlformats.org/drawingml/2006/main"/>
              <a:p xmlns:a="http://schemas.openxmlformats.org/drawingml/2006/main">
                <a:r>
                  <a:rPr sz="1650">
                    <a:latin typeface="Avenir Next"/>
                    <a:ea typeface="Avenir Next"/>
                    <a:cs typeface="Avenir Next"/>
                  </a:rPr>
                  <a:t>Ordering score</a:t>
                </a:r>
              </a:p>
            </c:rich>
          </c:tx>
          <c:overlay val="0"/>
          <c:txPr>
            <a:bodyPr xmlns:a="http://schemas.openxmlformats.org/drawingml/2006/main" anchorCtr="1"/>
            <a:lstStyle xmlns:a="http://schemas.openxmlformats.org/drawingml/2006/main"/>
            <a:p xmlns:a="http://schemas.openxmlformats.org/drawingml/2006/main">
              <a:pPr>
                <a:defRPr sz="1650">
                  <a:latin typeface="Avenir Next"/>
                  <a:ea typeface="Avenir Next"/>
                  <a:cs typeface="Avenir Next"/>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7252B"/>
                </a:solidFill>
                <a:latin typeface="Avenir Next"/>
                <a:ea typeface="Avenir Next"/>
                <a:cs typeface="Avenir Next"/>
              </a:defRPr>
            </a:pPr>
          </a:p>
        </c:txPr>
        <c:crossAx val="48650112"/>
        <c:crossBetween val="between"/>
        <c:majorUnit val="0.1"/>
      </c:valAx>
      <c:spPr>
        <a:solidFill xmlns:a="http://schemas.openxmlformats.org/drawingml/2006/main">
          <a:srgbClr val="F2EFE8"/>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7252B"/>
              </a:solidFill>
              <a:latin typeface="Avenir Next"/>
              <a:ea typeface="Avenir Next"/>
              <a:cs typeface="Avenir Next"/>
            </a:defRPr>
          </a:pPr>
        </a:p>
      </c:txPr>
    </c:legend>
    <c:plotVisOnly val="1"/>
  </c:chart>
  <c:spPr>
    <a:solidFill xmlns:a="http://schemas.openxmlformats.org/drawingml/2006/main">
      <a:srgbClr val="F2EFE8"/>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Current Dossier</c:v>
          </c:tx>
          <c:spPr>
            <a:solidFill xmlns:a="http://schemas.openxmlformats.org/drawingml/2006/main">
              <a:srgbClr val="55718E"/>
            </a:solidFill>
          </c:spPr>
          <c:cat>
            <c:strRef>
              <c:f>'Chart Data'!$A$2:$A$3</c:f>
              <c:strCache>
                <c:ptCount val="2"/>
                <c:pt idx="0">
                  <c:v>Viewer 82</c:v>
                </c:pt>
                <c:pt idx="1">
                  <c:v>Viewer 484</c:v>
                </c:pt>
              </c:strCache>
            </c:strRef>
          </c:cat>
          <c:val>
            <c:numRef>
              <c:f>'Chart Data'!$B$2:$B$3</c:f>
              <c:numCache>
                <c:formatCode>0.0%</c:formatCode>
                <c:ptCount val="2"/>
                <c:pt idx="0">
                  <c:v>0.8301</c:v>
                </c:pt>
                <c:pt idx="1">
                  <c:v>0.6903</c:v>
                </c:pt>
              </c:numCache>
            </c:numRef>
          </c:val>
        </c:ser>
        <c:ser>
          <c:idx val="1"/>
          <c:order val="1"/>
          <c:tx>
            <c:v>Reviews plus tags</c:v>
          </c:tx>
          <c:spPr>
            <a:solidFill xmlns:a="http://schemas.openxmlformats.org/drawingml/2006/main">
              <a:srgbClr val="397564"/>
            </a:solidFill>
          </c:spPr>
          <c:cat>
            <c:strRef>
              <c:f>'Chart Data'!$C$2:$C$3</c:f>
              <c:strCache>
                <c:ptCount val="2"/>
                <c:pt idx="0">
                  <c:v>Viewer 82</c:v>
                </c:pt>
                <c:pt idx="1">
                  <c:v>Viewer 484</c:v>
                </c:pt>
              </c:strCache>
            </c:strRef>
          </c:cat>
          <c:val>
            <c:numRef>
              <c:f>'Chart Data'!$D$2:$D$3</c:f>
              <c:numCache>
                <c:formatCode>0.0%</c:formatCode>
                <c:ptCount val="2"/>
                <c:pt idx="0">
                  <c:v>0.5559</c:v>
                </c:pt>
                <c:pt idx="1">
                  <c:v>0.5225</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7252B"/>
                  </a:solidFill>
                  <a:latin typeface="Avenir Next"/>
                  <a:ea typeface="Avenir Next"/>
                  <a:cs typeface="Avenir Next"/>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7252B"/>
                </a:solidFill>
                <a:latin typeface="Avenir Next"/>
                <a:ea typeface="Avenir Next"/>
                <a:cs typeface="Avenir Next"/>
              </a:defRPr>
            </a:pPr>
          </a:p>
        </c:txPr>
        <c:crossAx val="48672768"/>
      </c:catAx>
      <c:valAx>
        <c:axId val="48672768"/>
        <c:scaling>
          <c:orientation val="minMax"/>
          <c:max val="1"/>
          <c:min val="0"/>
        </c:scaling>
        <c:delete val="0"/>
        <c:axPos val="l"/>
        <c:majorGridlines>
          <c:spPr>
            <a:ln xmlns:a="http://schemas.openxmlformats.org/drawingml/2006/main" w="9525">
              <a:solidFill>
                <a:srgbClr val="D7D0C4"/>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17252B"/>
                </a:solidFill>
                <a:latin typeface="Avenir Next"/>
                <a:ea typeface="Avenir Next"/>
                <a:cs typeface="Avenir Next"/>
              </a:defRPr>
            </a:pPr>
          </a:p>
        </c:txPr>
        <c:crossAx val="48650112"/>
        <c:crossBetween val="between"/>
        <c:majorUnit val="0.2"/>
      </c:valAx>
      <c:spPr>
        <a:solidFill xmlns:a="http://schemas.openxmlformats.org/drawingml/2006/main">
          <a:srgbClr val="F2EFE8"/>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7252B"/>
              </a:solidFill>
              <a:latin typeface="Avenir Next"/>
              <a:ea typeface="Avenir Next"/>
              <a:cs typeface="Avenir Next"/>
            </a:defRPr>
          </a:pPr>
        </a:p>
      </c:txPr>
    </c:legend>
    <c:plotVisOnly val="1"/>
  </c:chart>
  <c:spPr>
    <a:solidFill xmlns:a="http://schemas.openxmlformats.org/drawingml/2006/main">
      <a:srgbClr val="F2EFE8"/>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252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C956017-28EA-47A5-9423-1C56F96D06C2}"/>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F2EFE8"/>
                </a:solidFill>
                <a:latin typeface="Iowan Old Style"/>
                <a:ea typeface="Iowan Old Style"/>
                <a:cs typeface="Iowan Old Style"/>
              </a:defRPr>
            </a:pPr>
            <a:r>
              <a:rPr sz="3300" b="0">
                <a:solidFill>
                  <a:srgbClr val="F2EFE8"/>
                </a:solidFill>
                <a:latin typeface="Iowan Old Style"/>
                <a:ea typeface="Iowan Old Style"/>
                <a:cs typeface="Iowan Old Style"/>
              </a:rPr>
              <a:t>Learning a person’s taste</a:t>
            </a:r>
          </a:p>
        </p:txBody>
      </p:sp>
      <p:sp>
        <p:nvSpPr>
          <p:cNvPr id="2" name="">
            <a:extLst xmlns:a="http://schemas.openxmlformats.org/drawingml/2006/main">
              <a:ext uri="{FF2B5EF4-FFF2-40B4-BE49-F238E27FC236}">
                <a16:creationId xmlns:a16="http://schemas.microsoft.com/office/drawing/2014/main" id="{9D60E18A-9D04-404A-B88E-80F3F3B6C048}"/>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C5D1CD"/>
                </a:solidFill>
                <a:latin typeface="Avenir Next"/>
                <a:ea typeface="Avenir Next"/>
                <a:cs typeface="Avenir Next"/>
              </a:defRPr>
            </a:pPr>
            <a:r>
              <a:rPr sz="1275" b="0">
                <a:solidFill>
                  <a:srgbClr val="C5D1CD"/>
                </a:solidFill>
                <a:latin typeface="Avenir Next"/>
                <a:ea typeface="Avenir Next"/>
                <a:cs typeface="Avenir Next"/>
              </a:rPr>
              <a:t>01</a:t>
            </a:r>
          </a:p>
        </p:txBody>
      </p:sp>
      <p:sp>
        <p:nvSpPr>
          <p:cNvPr id="3" name="">
            <a:extLst xmlns:a="http://schemas.openxmlformats.org/drawingml/2006/main">
              <a:ext uri="{FF2B5EF4-FFF2-40B4-BE49-F238E27FC236}">
                <a16:creationId xmlns:a16="http://schemas.microsoft.com/office/drawing/2014/main" id="{E8A4317A-E974-4AF1-B3BE-508D7322E2EA}"/>
              </a:ext>
            </a:extLst>
          </p:cNvPr>
          <p:cNvSpPr>
            <a:spLocks xmlns:a="http://schemas.openxmlformats.org/drawingml/2006/main" noGrp="1"/>
          </p:cNvSpPr>
          <p:nvPr/>
        </p:nvSpPr>
        <p:spPr>
          <a:xfrm xmlns:a="http://schemas.openxmlformats.org/drawingml/2006/main">
            <a:off x="685800" y="2219325"/>
            <a:ext cx="8572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F2EFE8"/>
                </a:solidFill>
                <a:latin typeface="Avenir Next"/>
                <a:ea typeface="Avenir Next"/>
                <a:cs typeface="Avenir Next"/>
              </a:defRPr>
            </a:pPr>
            <a:r>
              <a:rPr sz="2700" b="0">
                <a:solidFill>
                  <a:srgbClr val="F2EFE8"/>
                </a:solidFill>
                <a:latin typeface="Avenir Next"/>
                <a:ea typeface="Avenir Next"/>
                <a:cs typeface="Avenir Next"/>
              </a:rPr>
              <a:t>What we tested, what we learned,</a:t>
            </a:r>
          </a:p>
          <a:p xmlns:a="http://schemas.openxmlformats.org/drawingml/2006/main">
            <a:pPr>
              <a:defRPr sz="2700" b="0">
                <a:solidFill>
                  <a:srgbClr val="F2EFE8"/>
                </a:solidFill>
                <a:latin typeface="Avenir Next"/>
                <a:ea typeface="Avenir Next"/>
                <a:cs typeface="Avenir Next"/>
              </a:defRPr>
            </a:pPr>
            <a:r>
              <a:rPr sz="2700" b="0">
                <a:solidFill>
                  <a:srgbClr val="F2EFE8"/>
                </a:solidFill>
                <a:latin typeface="Avenir Next"/>
                <a:ea typeface="Avenir Next"/>
                <a:cs typeface="Avenir Next"/>
              </a:rPr>
              <a:t>and what should happen next</a:t>
            </a:r>
          </a:p>
        </p:txBody>
      </p:sp>
      <p:sp>
        <p:nvSpPr>
          <p:cNvPr id="4" name="">
            <a:extLst xmlns:a="http://schemas.openxmlformats.org/drawingml/2006/main">
              <a:ext uri="{FF2B5EF4-FFF2-40B4-BE49-F238E27FC236}">
                <a16:creationId xmlns:a16="http://schemas.microsoft.com/office/drawing/2014/main" id="{62E65C63-2DC7-4DC7-AF51-E87006B09A67}"/>
              </a:ext>
            </a:extLst>
          </p:cNvPr>
          <p:cNvSpPr>
            <a:spLocks xmlns:a="http://schemas.openxmlformats.org/drawingml/2006/main" noGrp="1"/>
          </p:cNvSpPr>
          <p:nvPr/>
        </p:nvSpPr>
        <p:spPr>
          <a:xfrm xmlns:a="http://schemas.openxmlformats.org/drawingml/2006/main">
            <a:off x="685800" y="5048250"/>
            <a:ext cx="857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CAD7D3"/>
                </a:solidFill>
                <a:latin typeface="Avenir Next"/>
                <a:ea typeface="Avenir Next"/>
                <a:cs typeface="Avenir Next"/>
              </a:defRPr>
            </a:pPr>
            <a:r>
              <a:rPr sz="1725" b="0">
                <a:solidFill>
                  <a:srgbClr val="CAD7D3"/>
                </a:solidFill>
                <a:latin typeface="Avenir Next"/>
                <a:ea typeface="Avenir Next"/>
                <a:cs typeface="Avenir Next"/>
              </a:rPr>
              <a:t>Dossier experiment review</a:t>
            </a:r>
          </a:p>
          <a:p xmlns:a="http://schemas.openxmlformats.org/drawingml/2006/main">
            <a:pPr>
              <a:defRPr sz="1725" b="0">
                <a:solidFill>
                  <a:srgbClr val="CAD7D3"/>
                </a:solidFill>
                <a:latin typeface="Avenir Next"/>
                <a:ea typeface="Avenir Next"/>
                <a:cs typeface="Avenir Next"/>
              </a:defRPr>
            </a:pPr>
            <a:r>
              <a:rPr sz="1725" b="0">
                <a:solidFill>
                  <a:srgbClr val="CAD7D3"/>
                </a:solidFill>
                <a:latin typeface="Avenir Next"/>
                <a:ea typeface="Avenir Next"/>
                <a:cs typeface="Avenir Next"/>
              </a:rPr>
              <a:t>2 October 2026</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e5fc3d1611954b27"/>
          <a:stretch xmlns:a="http://schemas.openxmlformats.org/drawingml/2006/main"/>
        </p:blipFill>
        <p:spPr>
          <a:xfrm xmlns:a="http://schemas.openxmlformats.org/drawingml/2006/main">
            <a:off x="9906000" y="4714875"/>
            <a:ext cx="1428750" cy="1428750"/>
          </a:xfrm>
          <a:prstGeom xmlns:a="http://schemas.openxmlformats.org/drawingml/2006/main" prst="rect">
            <a:avLst/>
          </a:prstGeom>
        </p:spPr>
      </p:pic>
    </p:spTree>
    <p:extLst>
      <p:ext uri="{BB962C8B-B14F-4D97-AF65-F5344CB8AC3E}">
        <p14:creationId xmlns:p14="http://schemas.microsoft.com/office/powerpoint/2010/main" val="20970969"/>
      </p:ext>
    </p:extLst>
  </p:cSld>
</p:sld>
</file>

<file path=ppt/slides/slide2.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71A1D70-95D2-4744-A28A-3C756130CAC4}"/>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findings that matter most</a:t>
            </a:r>
          </a:p>
        </p:txBody>
      </p:sp>
      <p:sp>
        <p:nvSpPr>
          <p:cNvPr id="2" name="">
            <a:extLst xmlns:a="http://schemas.openxmlformats.org/drawingml/2006/main">
              <a:ext uri="{FF2B5EF4-FFF2-40B4-BE49-F238E27FC236}">
                <a16:creationId xmlns:a16="http://schemas.microsoft.com/office/drawing/2014/main" id="{CAE1BE68-0C00-4482-9CDD-B36D5080F63D}"/>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02</a:t>
            </a:r>
          </a:p>
        </p:txBody>
      </p:sp>
      <p:sp>
        <p:nvSpPr>
          <p:cNvPr id="3" name="">
            <a:extLst xmlns:a="http://schemas.openxmlformats.org/drawingml/2006/main">
              <a:ext uri="{FF2B5EF4-FFF2-40B4-BE49-F238E27FC236}">
                <a16:creationId xmlns:a16="http://schemas.microsoft.com/office/drawing/2014/main" id="{1BAF43D8-2FF0-4B65-A11C-4B0B3AF755A0}"/>
              </a:ext>
            </a:extLst>
          </p:cNvPr>
          <p:cNvSpPr>
            <a:spLocks xmlns:a="http://schemas.openxmlformats.org/drawingml/2006/main" noGrp="1"/>
          </p:cNvSpPr>
          <p:nvPr/>
        </p:nvSpPr>
        <p:spPr>
          <a:xfrm xmlns:a="http://schemas.openxmlformats.org/drawingml/2006/main">
            <a:off x="685800" y="2000250"/>
            <a:ext cx="10477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Public reviews beat current Dossier on average in the real-viewer tests.</a:t>
            </a:r>
          </a:p>
        </p:txBody>
      </p:sp>
      <p:sp>
        <p:nvSpPr>
          <p:cNvPr id="4" name="">
            <a:extLst xmlns:a="http://schemas.openxmlformats.org/drawingml/2006/main">
              <a:ext uri="{FF2B5EF4-FFF2-40B4-BE49-F238E27FC236}">
                <a16:creationId xmlns:a16="http://schemas.microsoft.com/office/drawing/2014/main" id="{407E180D-22A8-472E-B4E0-10CB64F06CDA}"/>
              </a:ext>
            </a:extLst>
          </p:cNvPr>
          <p:cNvSpPr>
            <a:spLocks xmlns:a="http://schemas.openxmlformats.org/drawingml/2006/main" noGrp="1"/>
          </p:cNvSpPr>
          <p:nvPr/>
        </p:nvSpPr>
        <p:spPr>
          <a:xfrm xmlns:a="http://schemas.openxmlformats.org/drawingml/2006/main">
            <a:off x="685800" y="3190875"/>
            <a:ext cx="10477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Reviews plus tags adds a small average benefit. Some people still do much better with current Dossier.</a:t>
            </a:r>
          </a:p>
        </p:txBody>
      </p:sp>
      <p:sp>
        <p:nvSpPr>
          <p:cNvPr id="5" name="">
            <a:extLst xmlns:a="http://schemas.openxmlformats.org/drawingml/2006/main">
              <a:ext uri="{FF2B5EF4-FFF2-40B4-BE49-F238E27FC236}">
                <a16:creationId xmlns:a16="http://schemas.microsoft.com/office/drawing/2014/main" id="{A90F1F9E-8EED-42F7-89EB-88094B932B1C}"/>
              </a:ext>
            </a:extLst>
          </p:cNvPr>
          <p:cNvSpPr>
            <a:spLocks xmlns:a="http://schemas.openxmlformats.org/drawingml/2006/main" noGrp="1"/>
          </p:cNvSpPr>
          <p:nvPr/>
        </p:nvSpPr>
        <p:spPr>
          <a:xfrm xmlns:a="http://schemas.openxmlformats.org/drawingml/2006/main">
            <a:off x="685800" y="4381500"/>
            <a:ext cx="10477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We cannot yet reliably identify those people from limited ratings.</a:t>
            </a:r>
          </a:p>
        </p:txBody>
      </p:sp>
      <p:sp>
        <p:nvSpPr>
          <p:cNvPr id="6" name="">
            <a:extLst xmlns:a="http://schemas.openxmlformats.org/drawingml/2006/main">
              <a:ext uri="{FF2B5EF4-FFF2-40B4-BE49-F238E27FC236}">
                <a16:creationId xmlns:a16="http://schemas.microsoft.com/office/drawing/2014/main" id="{D56B5BDD-4595-403C-898D-3A07BF527734}"/>
              </a:ext>
            </a:extLst>
          </p:cNvPr>
          <p:cNvSpPr>
            <a:spLocks xmlns:a="http://schemas.openxmlformats.org/drawingml/2006/main" noGrp="1"/>
          </p:cNvSpPr>
          <p:nvPr/>
        </p:nvSpPr>
        <p:spPr>
          <a:xfrm xmlns:a="http://schemas.openxmlformats.org/drawingml/2006/main">
            <a:off x="685800" y="57340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The evidence supports further experiments. Product defaults stay unchanged.</a:t>
            </a:r>
          </a:p>
        </p:txBody>
      </p:sp>
    </p:spTree>
    <p:extLst>
      <p:ext uri="{BB962C8B-B14F-4D97-AF65-F5344CB8AC3E}">
        <p14:creationId xmlns:p14="http://schemas.microsoft.com/office/powerpoint/2010/main" val="8303628"/>
      </p:ext>
    </p:extLst>
  </p:cSld>
</p:sld>
</file>

<file path=ppt/slides/slide3.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393649F-6164-4FC5-945B-07E642D5719A}"/>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product question</a:t>
            </a:r>
          </a:p>
        </p:txBody>
      </p:sp>
      <p:sp>
        <p:nvSpPr>
          <p:cNvPr id="2" name="">
            <a:extLst xmlns:a="http://schemas.openxmlformats.org/drawingml/2006/main">
              <a:ext uri="{FF2B5EF4-FFF2-40B4-BE49-F238E27FC236}">
                <a16:creationId xmlns:a16="http://schemas.microsoft.com/office/drawing/2014/main" id="{0C1992E9-53D7-4443-BC56-15A0FEED042B}"/>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03</a:t>
            </a:r>
          </a:p>
        </p:txBody>
      </p:sp>
      <p:sp>
        <p:nvSpPr>
          <p:cNvPr id="3" name="">
            <a:extLst xmlns:a="http://schemas.openxmlformats.org/drawingml/2006/main">
              <a:ext uri="{FF2B5EF4-FFF2-40B4-BE49-F238E27FC236}">
                <a16:creationId xmlns:a16="http://schemas.microsoft.com/office/drawing/2014/main" id="{EA61CEE1-7CD3-4054-80A4-E790B3AAE8DC}"/>
              </a:ext>
            </a:extLst>
          </p:cNvPr>
          <p:cNvSpPr>
            <a:spLocks xmlns:a="http://schemas.openxmlformats.org/drawingml/2006/main" noGrp="1"/>
          </p:cNvSpPr>
          <p:nvPr/>
        </p:nvSpPr>
        <p:spPr>
          <a:xfrm xmlns:a="http://schemas.openxmlformats.org/drawingml/2006/main">
            <a:off x="685800" y="2076450"/>
            <a:ext cx="1057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0">
                <a:solidFill>
                  <a:srgbClr val="17252B"/>
                </a:solidFill>
                <a:latin typeface="Iowan Old Style"/>
                <a:ea typeface="Iowan Old Style"/>
                <a:cs typeface="Iowan Old Style"/>
              </a:defRPr>
            </a:pPr>
            <a:r>
              <a:rPr sz="3150" b="0">
                <a:solidFill>
                  <a:srgbClr val="17252B"/>
                </a:solidFill>
                <a:latin typeface="Iowan Old Style"/>
                <a:ea typeface="Iowan Old Style"/>
                <a:cs typeface="Iowan Old Style"/>
              </a:rPr>
              <a:t>Does Dossier learn what this person likes</a:t>
            </a:r>
          </a:p>
          <a:p xmlns:a="http://schemas.openxmlformats.org/drawingml/2006/main">
            <a:pPr>
              <a:defRPr sz="3150" b="0">
                <a:solidFill>
                  <a:srgbClr val="17252B"/>
                </a:solidFill>
                <a:latin typeface="Iowan Old Style"/>
                <a:ea typeface="Iowan Old Style"/>
                <a:cs typeface="Iowan Old Style"/>
              </a:defRPr>
            </a:pPr>
            <a:r>
              <a:rPr sz="3150" b="0">
                <a:solidFill>
                  <a:srgbClr val="17252B"/>
                </a:solidFill>
                <a:latin typeface="Iowan Old Style"/>
                <a:ea typeface="Iowan Old Style"/>
                <a:cs typeface="Iowan Old Style"/>
              </a:rPr>
              <a:t>from the few ratings they are willing to give?</a:t>
            </a:r>
          </a:p>
        </p:txBody>
      </p:sp>
      <p:sp>
        <p:nvSpPr>
          <p:cNvPr id="4" name="">
            <a:extLst xmlns:a="http://schemas.openxmlformats.org/drawingml/2006/main">
              <a:ext uri="{FF2B5EF4-FFF2-40B4-BE49-F238E27FC236}">
                <a16:creationId xmlns:a16="http://schemas.microsoft.com/office/drawing/2014/main" id="{9BF46B66-1DD5-4302-8FE4-69B519F548AD}"/>
              </a:ext>
            </a:extLst>
          </p:cNvPr>
          <p:cNvSpPr>
            <a:spLocks xmlns:a="http://schemas.openxmlformats.org/drawingml/2006/main" noGrp="1"/>
          </p:cNvSpPr>
          <p:nvPr/>
        </p:nvSpPr>
        <p:spPr>
          <a:xfrm xmlns:a="http://schemas.openxmlformats.org/drawingml/2006/main">
            <a:off x="685800" y="385762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A useful model should suggest more films that person enjoys.</a:t>
            </a:r>
          </a:p>
        </p:txBody>
      </p:sp>
      <p:sp>
        <p:nvSpPr>
          <p:cNvPr id="5" name="">
            <a:extLst xmlns:a="http://schemas.openxmlformats.org/drawingml/2006/main">
              <a:ext uri="{FF2B5EF4-FFF2-40B4-BE49-F238E27FC236}">
                <a16:creationId xmlns:a16="http://schemas.microsoft.com/office/drawing/2014/main" id="{8C329727-1D16-4449-9772-21E799416A9A}"/>
              </a:ext>
            </a:extLst>
          </p:cNvPr>
          <p:cNvSpPr>
            <a:spLocks xmlns:a="http://schemas.openxmlformats.org/drawingml/2006/main" noGrp="1"/>
          </p:cNvSpPr>
          <p:nvPr/>
        </p:nvSpPr>
        <p:spPr>
          <a:xfrm xmlns:a="http://schemas.openxmlformats.org/drawingml/2006/main">
            <a:off x="685800" y="481012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New ratings should refine mistaken assumptions without damaging the recommendations.</a:t>
            </a:r>
          </a:p>
        </p:txBody>
      </p:sp>
    </p:spTree>
    <p:extLst>
      <p:ext uri="{BB962C8B-B14F-4D97-AF65-F5344CB8AC3E}">
        <p14:creationId xmlns:p14="http://schemas.microsoft.com/office/powerpoint/2010/main" val="415772722"/>
      </p:ext>
    </p:extLst>
  </p:cSld>
</p:sld>
</file>

<file path=ppt/slides/slide4.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E26A65B-27DA-4DE0-AC62-AD0A84845757}"/>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How the experiments work</a:t>
            </a:r>
          </a:p>
        </p:txBody>
      </p:sp>
      <p:sp>
        <p:nvSpPr>
          <p:cNvPr id="2" name="">
            <a:extLst xmlns:a="http://schemas.openxmlformats.org/drawingml/2006/main">
              <a:ext uri="{FF2B5EF4-FFF2-40B4-BE49-F238E27FC236}">
                <a16:creationId xmlns:a16="http://schemas.microsoft.com/office/drawing/2014/main" id="{88C559F7-DB39-4244-9E35-C2ED6B05E344}"/>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04</a:t>
            </a:r>
          </a:p>
        </p:txBody>
      </p:sp>
      <p:sp>
        <p:nvSpPr>
          <p:cNvPr id="3" name="">
            <a:extLst xmlns:a="http://schemas.openxmlformats.org/drawingml/2006/main">
              <a:ext uri="{FF2B5EF4-FFF2-40B4-BE49-F238E27FC236}">
                <a16:creationId xmlns:a16="http://schemas.microsoft.com/office/drawing/2014/main" id="{5ECA27F9-7689-4353-A36D-2FE71DE2D42C}"/>
              </a:ext>
            </a:extLst>
          </p:cNvPr>
          <p:cNvSpPr>
            <a:spLocks xmlns:a="http://schemas.openxmlformats.org/drawingml/2006/main" noGrp="1"/>
          </p:cNvSpPr>
          <p:nvPr/>
        </p:nvSpPr>
        <p:spPr>
          <a:xfrm xmlns:a="http://schemas.openxmlformats.org/drawingml/2006/main">
            <a:off x="685800" y="1952625"/>
            <a:ext cx="1047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1. Start with a person whose film ratings we already know.</a:t>
            </a:r>
          </a:p>
        </p:txBody>
      </p:sp>
      <p:sp>
        <p:nvSpPr>
          <p:cNvPr id="4" name="">
            <a:extLst xmlns:a="http://schemas.openxmlformats.org/drawingml/2006/main">
              <a:ext uri="{FF2B5EF4-FFF2-40B4-BE49-F238E27FC236}">
                <a16:creationId xmlns:a16="http://schemas.microsoft.com/office/drawing/2014/main" id="{F1D023A3-DEC5-4DDE-BBFD-9310DC372856}"/>
              </a:ext>
            </a:extLst>
          </p:cNvPr>
          <p:cNvSpPr>
            <a:spLocks xmlns:a="http://schemas.openxmlformats.org/drawingml/2006/main" noGrp="1"/>
          </p:cNvSpPr>
          <p:nvPr/>
        </p:nvSpPr>
        <p:spPr>
          <a:xfrm xmlns:a="http://schemas.openxmlformats.org/drawingml/2006/main">
            <a:off x="685800" y="2762250"/>
            <a:ext cx="1047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2. Give Dossier only some of those ratings through the CLI.</a:t>
            </a:r>
          </a:p>
        </p:txBody>
      </p:sp>
      <p:sp>
        <p:nvSpPr>
          <p:cNvPr id="5" name="">
            <a:extLst xmlns:a="http://schemas.openxmlformats.org/drawingml/2006/main">
              <a:ext uri="{FF2B5EF4-FFF2-40B4-BE49-F238E27FC236}">
                <a16:creationId xmlns:a16="http://schemas.microsoft.com/office/drawing/2014/main" id="{E9EAB3E9-334C-499C-BA21-163EB90783C7}"/>
              </a:ext>
            </a:extLst>
          </p:cNvPr>
          <p:cNvSpPr>
            <a:spLocks xmlns:a="http://schemas.openxmlformats.org/drawingml/2006/main" noGrp="1"/>
          </p:cNvSpPr>
          <p:nvPr/>
        </p:nvSpPr>
        <p:spPr>
          <a:xfrm xmlns:a="http://schemas.openxmlformats.org/drawingml/2006/main">
            <a:off x="685800" y="3571875"/>
            <a:ext cx="1047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3. Ask it to rank films whose personal ratings we kept hidden.</a:t>
            </a:r>
          </a:p>
        </p:txBody>
      </p:sp>
      <p:sp>
        <p:nvSpPr>
          <p:cNvPr id="6" name="">
            <a:extLst xmlns:a="http://schemas.openxmlformats.org/drawingml/2006/main">
              <a:ext uri="{FF2B5EF4-FFF2-40B4-BE49-F238E27FC236}">
                <a16:creationId xmlns:a16="http://schemas.microsoft.com/office/drawing/2014/main" id="{DDC944E2-8C4B-4F67-8416-04FFA8ADF681}"/>
              </a:ext>
            </a:extLst>
          </p:cNvPr>
          <p:cNvSpPr>
            <a:spLocks xmlns:a="http://schemas.openxmlformats.org/drawingml/2006/main" noGrp="1"/>
          </p:cNvSpPr>
          <p:nvPr/>
        </p:nvSpPr>
        <p:spPr>
          <a:xfrm xmlns:a="http://schemas.openxmlformats.org/drawingml/2006/main">
            <a:off x="685800" y="4381500"/>
            <a:ext cx="1047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4. Compare the ranking with those hidden answers.</a:t>
            </a:r>
          </a:p>
        </p:txBody>
      </p:sp>
      <p:sp>
        <p:nvSpPr>
          <p:cNvPr id="7" name="">
            <a:extLst xmlns:a="http://schemas.openxmlformats.org/drawingml/2006/main">
              <a:ext uri="{FF2B5EF4-FFF2-40B4-BE49-F238E27FC236}">
                <a16:creationId xmlns:a16="http://schemas.microsoft.com/office/drawing/2014/main" id="{770A9EE1-9751-4375-ADC2-7AD877A06C87}"/>
              </a:ext>
            </a:extLst>
          </p:cNvPr>
          <p:cNvSpPr>
            <a:spLocks xmlns:a="http://schemas.openxmlformats.org/drawingml/2006/main" noGrp="1"/>
          </p:cNvSpPr>
          <p:nvPr/>
        </p:nvSpPr>
        <p:spPr>
          <a:xfrm xmlns:a="http://schemas.openxmlformats.org/drawingml/2006/main">
            <a:off x="685800" y="55816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The hidden answers score the result. They do not train Dossier.</a:t>
            </a:r>
          </a:p>
        </p:txBody>
      </p:sp>
    </p:spTree>
    <p:extLst>
      <p:ext uri="{BB962C8B-B14F-4D97-AF65-F5344CB8AC3E}">
        <p14:creationId xmlns:p14="http://schemas.microsoft.com/office/powerpoint/2010/main" val="515580683"/>
      </p:ext>
    </p:extLst>
  </p:cSld>
</p:sld>
</file>

<file path=ppt/slides/slide5.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6A10C9B-EB20-474D-B3FC-016DD6872331}"/>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What the two main scores mean</a:t>
            </a:r>
          </a:p>
        </p:txBody>
      </p:sp>
      <p:sp>
        <p:nvSpPr>
          <p:cNvPr id="2" name="">
            <a:extLst xmlns:a="http://schemas.openxmlformats.org/drawingml/2006/main">
              <a:ext uri="{FF2B5EF4-FFF2-40B4-BE49-F238E27FC236}">
                <a16:creationId xmlns:a16="http://schemas.microsoft.com/office/drawing/2014/main" id="{7119073C-6371-4922-B5B4-A94CB97AF005}"/>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05</a:t>
            </a:r>
          </a:p>
        </p:txBody>
      </p:sp>
      <p:sp>
        <p:nvSpPr>
          <p:cNvPr id="3" name="">
            <a:extLst xmlns:a="http://schemas.openxmlformats.org/drawingml/2006/main">
              <a:ext uri="{FF2B5EF4-FFF2-40B4-BE49-F238E27FC236}">
                <a16:creationId xmlns:a16="http://schemas.microsoft.com/office/drawing/2014/main" id="{2AA74315-0A57-4F78-A9C3-5179EFEE8962}"/>
              </a:ext>
            </a:extLst>
          </p:cNvPr>
          <p:cNvSpPr>
            <a:spLocks xmlns:a="http://schemas.openxmlformats.org/drawingml/2006/main" noGrp="1"/>
          </p:cNvSpPr>
          <p:nvPr/>
        </p:nvSpPr>
        <p:spPr>
          <a:xfrm xmlns:a="http://schemas.openxmlformats.org/drawingml/2006/main">
            <a:off x="685800" y="2095500"/>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17252B"/>
                </a:solidFill>
                <a:latin typeface="Avenir Next"/>
                <a:ea typeface="Avenir Next"/>
                <a:cs typeface="Avenir Next"/>
              </a:defRPr>
            </a:pPr>
            <a:r>
              <a:rPr sz="2475" b="1">
                <a:solidFill>
                  <a:srgbClr val="17252B"/>
                </a:solidFill>
                <a:latin typeface="Avenir Next"/>
                <a:ea typeface="Avenir Next"/>
                <a:cs typeface="Avenir Next"/>
              </a:rPr>
              <a:t>Ordering score</a:t>
            </a:r>
          </a:p>
        </p:txBody>
      </p:sp>
      <p:sp>
        <p:nvSpPr>
          <p:cNvPr id="4" name="">
            <a:extLst xmlns:a="http://schemas.openxmlformats.org/drawingml/2006/main">
              <a:ext uri="{FF2B5EF4-FFF2-40B4-BE49-F238E27FC236}">
                <a16:creationId xmlns:a16="http://schemas.microsoft.com/office/drawing/2014/main" id="{E7C389E4-3677-4E58-88EC-EEF931A11B8C}"/>
              </a:ext>
            </a:extLst>
          </p:cNvPr>
          <p:cNvSpPr>
            <a:spLocks xmlns:a="http://schemas.openxmlformats.org/drawingml/2006/main" noGrp="1"/>
          </p:cNvSpPr>
          <p:nvPr/>
        </p:nvSpPr>
        <p:spPr>
          <a:xfrm xmlns:a="http://schemas.openxmlformats.org/drawingml/2006/main">
            <a:off x="685800" y="2809875"/>
            <a:ext cx="4857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Does a film the person likes appear ahead of a film they dislike?</a:t>
            </a:r>
          </a:p>
        </p:txBody>
      </p:sp>
      <p:sp>
        <p:nvSpPr>
          <p:cNvPr id="5" name="">
            <a:extLst xmlns:a="http://schemas.openxmlformats.org/drawingml/2006/main">
              <a:ext uri="{FF2B5EF4-FFF2-40B4-BE49-F238E27FC236}">
                <a16:creationId xmlns:a16="http://schemas.microsoft.com/office/drawing/2014/main" id="{0244D8B5-513B-4838-BE36-4D921B119B3D}"/>
              </a:ext>
            </a:extLst>
          </p:cNvPr>
          <p:cNvSpPr>
            <a:spLocks xmlns:a="http://schemas.openxmlformats.org/drawingml/2006/main" noGrp="1"/>
          </p:cNvSpPr>
          <p:nvPr/>
        </p:nvSpPr>
        <p:spPr>
          <a:xfrm xmlns:a="http://schemas.openxmlformats.org/drawingml/2006/main">
            <a:off x="685800" y="414337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5C6C70"/>
                </a:solidFill>
                <a:latin typeface="Avenir Next"/>
                <a:ea typeface="Avenir Next"/>
                <a:cs typeface="Avenir Next"/>
              </a:defRPr>
            </a:pPr>
            <a:r>
              <a:rPr sz="2025" b="0">
                <a:solidFill>
                  <a:srgbClr val="5C6C70"/>
                </a:solidFill>
                <a:latin typeface="Avenir Next"/>
                <a:ea typeface="Avenir Next"/>
                <a:cs typeface="Avenir Next"/>
              </a:rPr>
              <a:t>76% means the liked film comes first</a:t>
            </a:r>
          </a:p>
          <a:p xmlns:a="http://schemas.openxmlformats.org/drawingml/2006/main">
            <a:pPr>
              <a:defRPr sz="2025" b="0">
                <a:solidFill>
                  <a:srgbClr val="5C6C70"/>
                </a:solidFill>
                <a:latin typeface="Avenir Next"/>
                <a:ea typeface="Avenir Next"/>
                <a:cs typeface="Avenir Next"/>
              </a:defRPr>
            </a:pPr>
            <a:r>
              <a:rPr sz="2025" b="0">
                <a:solidFill>
                  <a:srgbClr val="5C6C70"/>
                </a:solidFill>
                <a:latin typeface="Avenir Next"/>
                <a:ea typeface="Avenir Next"/>
                <a:cs typeface="Avenir Next"/>
              </a:rPr>
              <a:t>in 76 out of 100 comparisons.</a:t>
            </a:r>
          </a:p>
          <a:p xmlns:a="http://schemas.openxmlformats.org/drawingml/2006/main">
            <a:pPr>
              <a:defRPr sz="2025" b="0">
                <a:solidFill>
                  <a:srgbClr val="5C6C70"/>
                </a:solidFill>
                <a:latin typeface="Avenir Next"/>
                <a:ea typeface="Avenir Next"/>
                <a:cs typeface="Avenir Next"/>
              </a:defRPr>
            </a:pPr>
            <a:r>
              <a:rPr sz="2025" b="0">
                <a:solidFill>
                  <a:srgbClr val="5C6C70"/>
                </a:solidFill>
                <a:latin typeface="Avenir Next"/>
                <a:ea typeface="Avenir Next"/>
                <a:cs typeface="Avenir Next"/>
              </a:rPr>
              <a:t>50% means chance ordering.</a:t>
            </a:r>
          </a:p>
        </p:txBody>
      </p:sp>
      <p:sp>
        <p:nvSpPr>
          <p:cNvPr id="6" name="">
            <a:extLst xmlns:a="http://schemas.openxmlformats.org/drawingml/2006/main">
              <a:ext uri="{FF2B5EF4-FFF2-40B4-BE49-F238E27FC236}">
                <a16:creationId xmlns:a16="http://schemas.microsoft.com/office/drawing/2014/main" id="{348AD3CD-23CC-42BF-8863-5689A317E85E}"/>
              </a:ext>
            </a:extLst>
          </p:cNvPr>
          <p:cNvSpPr>
            <a:spLocks xmlns:a="http://schemas.openxmlformats.org/drawingml/2006/main" noGrp="1"/>
          </p:cNvSpPr>
          <p:nvPr/>
        </p:nvSpPr>
        <p:spPr>
          <a:xfrm xmlns:a="http://schemas.openxmlformats.org/drawingml/2006/main">
            <a:off x="6429375" y="2095500"/>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17252B"/>
                </a:solidFill>
                <a:latin typeface="Avenir Next"/>
                <a:ea typeface="Avenir Next"/>
                <a:cs typeface="Avenir Next"/>
              </a:defRPr>
            </a:pPr>
            <a:r>
              <a:rPr sz="2475" b="1">
                <a:solidFill>
                  <a:srgbClr val="17252B"/>
                </a:solidFill>
                <a:latin typeface="Avenir Next"/>
                <a:ea typeface="Avenir Next"/>
                <a:cs typeface="Avenir Next"/>
              </a:rPr>
              <a:t>Liked films among ten suggestions</a:t>
            </a:r>
          </a:p>
        </p:txBody>
      </p:sp>
      <p:sp>
        <p:nvSpPr>
          <p:cNvPr id="7" name="">
            <a:extLst xmlns:a="http://schemas.openxmlformats.org/drawingml/2006/main">
              <a:ext uri="{FF2B5EF4-FFF2-40B4-BE49-F238E27FC236}">
                <a16:creationId xmlns:a16="http://schemas.microsoft.com/office/drawing/2014/main" id="{4F3B16DD-FF00-43C9-8271-EA2ACC5E9A6E}"/>
              </a:ext>
            </a:extLst>
          </p:cNvPr>
          <p:cNvSpPr>
            <a:spLocks xmlns:a="http://schemas.openxmlformats.org/drawingml/2006/main" noGrp="1"/>
          </p:cNvSpPr>
          <p:nvPr/>
        </p:nvSpPr>
        <p:spPr>
          <a:xfrm xmlns:a="http://schemas.openxmlformats.org/drawingml/2006/main">
            <a:off x="6429375" y="3095625"/>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How many of the first ten films</a:t>
            </a:r>
          </a:p>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did the person clearly like?</a:t>
            </a:r>
          </a:p>
        </p:txBody>
      </p:sp>
      <p:sp>
        <p:nvSpPr>
          <p:cNvPr id="8" name="">
            <a:extLst xmlns:a="http://schemas.openxmlformats.org/drawingml/2006/main">
              <a:ext uri="{FF2B5EF4-FFF2-40B4-BE49-F238E27FC236}">
                <a16:creationId xmlns:a16="http://schemas.microsoft.com/office/drawing/2014/main" id="{FAD59705-C975-4409-AF03-84CE184F9CA2}"/>
              </a:ext>
            </a:extLst>
          </p:cNvPr>
          <p:cNvSpPr>
            <a:spLocks xmlns:a="http://schemas.openxmlformats.org/drawingml/2006/main" noGrp="1"/>
          </p:cNvSpPr>
          <p:nvPr/>
        </p:nvSpPr>
        <p:spPr>
          <a:xfrm xmlns:a="http://schemas.openxmlformats.org/drawingml/2006/main">
            <a:off x="6429375" y="4381500"/>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5C6C70"/>
                </a:solidFill>
                <a:latin typeface="Avenir Next"/>
                <a:ea typeface="Avenir Next"/>
                <a:cs typeface="Avenir Next"/>
              </a:defRPr>
            </a:pPr>
            <a:r>
              <a:rPr sz="2025" b="0">
                <a:solidFill>
                  <a:srgbClr val="5C6C70"/>
                </a:solidFill>
                <a:latin typeface="Avenir Next"/>
                <a:ea typeface="Avenir Next"/>
                <a:cs typeface="Avenir Next"/>
              </a:rPr>
              <a:t>6.5 means about six or seven liked</a:t>
            </a:r>
          </a:p>
          <a:p xmlns:a="http://schemas.openxmlformats.org/drawingml/2006/main">
            <a:pPr>
              <a:defRPr sz="2025" b="0">
                <a:solidFill>
                  <a:srgbClr val="5C6C70"/>
                </a:solidFill>
                <a:latin typeface="Avenir Next"/>
                <a:ea typeface="Avenir Next"/>
                <a:cs typeface="Avenir Next"/>
              </a:defRPr>
            </a:pPr>
            <a:r>
              <a:rPr sz="2025" b="0">
                <a:solidFill>
                  <a:srgbClr val="5C6C70"/>
                </a:solidFill>
                <a:latin typeface="Avenir Next"/>
                <a:ea typeface="Avenir Next"/>
                <a:cs typeface="Avenir Next"/>
              </a:rPr>
              <a:t>films per ten suggestions, on average.</a:t>
            </a:r>
          </a:p>
        </p:txBody>
      </p:sp>
      <p:sp>
        <p:nvSpPr>
          <p:cNvPr id="9" name="">
            <a:extLst xmlns:a="http://schemas.openxmlformats.org/drawingml/2006/main">
              <a:ext uri="{FF2B5EF4-FFF2-40B4-BE49-F238E27FC236}">
                <a16:creationId xmlns:a16="http://schemas.microsoft.com/office/drawing/2014/main" id="{AABD7897-8034-4B16-8B15-261A95FCA43D}"/>
              </a:ext>
            </a:extLst>
          </p:cNvPr>
          <p:cNvSpPr>
            <a:spLocks xmlns:a="http://schemas.openxmlformats.org/drawingml/2006/main" noGrp="1"/>
          </p:cNvSpPr>
          <p:nvPr/>
        </p:nvSpPr>
        <p:spPr>
          <a:xfrm xmlns:a="http://schemas.openxmlformats.org/drawingml/2006/main">
            <a:off x="685800" y="576262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Higher is better for both. A 76% ordering score does not mean a 76% chance of enjoyment.</a:t>
            </a:r>
          </a:p>
        </p:txBody>
      </p:sp>
    </p:spTree>
    <p:extLst>
      <p:ext uri="{BB962C8B-B14F-4D97-AF65-F5344CB8AC3E}">
        <p14:creationId xmlns:p14="http://schemas.microsoft.com/office/powerpoint/2010/main" val="132916739"/>
      </p:ext>
    </p:extLst>
  </p:cSld>
</p:sld>
</file>

<file path=ppt/slides/slide6.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2991B99-1019-4B70-A964-53D85595EDA5}"/>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What the methods mean</a:t>
            </a:r>
          </a:p>
        </p:txBody>
      </p:sp>
      <p:sp>
        <p:nvSpPr>
          <p:cNvPr id="2" name="">
            <a:extLst xmlns:a="http://schemas.openxmlformats.org/drawingml/2006/main">
              <a:ext uri="{FF2B5EF4-FFF2-40B4-BE49-F238E27FC236}">
                <a16:creationId xmlns:a16="http://schemas.microsoft.com/office/drawing/2014/main" id="{F9EC5CF0-1CAB-44D6-BFE0-AF3CEA975DA2}"/>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06</a:t>
            </a:r>
          </a:p>
        </p:txBody>
      </p:sp>
      <p:graphicFrame>
        <p:nvGraphicFramePr>
          <p:cNvPr id="6" name=""/>
          <p:cNvGraphicFramePr/>
          <p:nvPr/>
        </p:nvGraphicFramePr>
        <p:xfrm>
          <a:off xmlns:a="http://schemas.openxmlformats.org/drawingml/2006/main" x="685800" y="2047875"/>
          <a:ext xmlns:a="http://schemas.openxmlformats.org/drawingml/2006/main" cx="10820400" cy="3790950"/>
        </p:xfrm>
        <a:graphic xmlns:a="http://schemas.openxmlformats.org/drawingml/2006/main">
          <a:graphicData uri="http://schemas.openxmlformats.org/drawingml/2006/table">
            <a:tbl>
              <a:tblPr firstRow="0" bandRow="0"/>
              <a:tblGrid>
                <a:gridCol w="3238500"/>
                <a:gridCol w="7581900"/>
              </a:tblGrid>
              <a:tr h="758190">
                <a:tc>
                  <a:txBody>
                    <a:bodyPr lIns="114300" tIns="19050" rIns="114300" bIns="19050">
                      <a:noAutofit/>
                    </a:bodyPr>
                    <a:lstStyle/>
                    <a:p>
                      <a:r>
                        <a:rPr sz="1950" b="1">
                          <a:solidFill>
                            <a:srgbClr val="F2EFE8"/>
                          </a:solidFill>
                          <a:latin typeface="Avenir Next"/>
                          <a:ea typeface="Avenir Next"/>
                          <a:cs typeface="Avenir Next"/>
                        </a:rPr>
                        <a:t>Method</a:t>
                      </a:r>
                    </a:p>
                  </a:txBody>
                  <a:tcPr marL="91440" marR="91440" marT="45720" marB="45720" anchor="ctr">
                    <a:solidFill>
                      <a:srgbClr val="17252B"/>
                    </a:solidFill>
                  </a:tcPr>
                </a:tc>
                <a:tc>
                  <a:txBody>
                    <a:bodyPr lIns="114300" tIns="19050" rIns="114300" bIns="19050">
                      <a:noAutofit/>
                    </a:bodyPr>
                    <a:lstStyle/>
                    <a:p>
                      <a:r>
                        <a:rPr sz="1950" b="1">
                          <a:solidFill>
                            <a:srgbClr val="F2EFE8"/>
                          </a:solidFill>
                          <a:latin typeface="Avenir Next"/>
                          <a:ea typeface="Avenir Next"/>
                          <a:cs typeface="Avenir Next"/>
                        </a:rPr>
                        <a:t>What it does</a:t>
                      </a:r>
                    </a:p>
                  </a:txBody>
                  <a:tcPr marL="91440" marR="91440" marT="45720" marB="45720" anchor="ctr">
                    <a:solidFill>
                      <a:srgbClr val="17252B"/>
                    </a:solidFill>
                  </a:tcPr>
                </a:tc>
              </a:tr>
              <a:tr h="758190">
                <a:tc>
                  <a:txBody>
                    <a:bodyPr lIns="114300" tIns="19050" rIns="114300" bIns="19050">
                      <a:noAutofit/>
                    </a:bodyPr>
                    <a:lstStyle/>
                    <a:p>
                      <a:r>
                        <a:rPr sz="1950" b="1">
                          <a:solidFill>
                            <a:srgbClr val="17252B"/>
                          </a:solidFill>
                          <a:latin typeface="Avenir Next"/>
                          <a:ea typeface="Avenir Next"/>
                          <a:cs typeface="Avenir Next"/>
                        </a:rPr>
                        <a:t>Current Dossier</a:t>
                      </a:r>
                    </a:p>
                  </a:txBody>
                  <a:tcPr marL="91440" marR="91440" marT="45720" marB="45720" anchor="ctr">
                    <a:solidFill>
                      <a:srgbClr val="F2EFE8"/>
                    </a:solidFill>
                  </a:tcPr>
                </a:tc>
                <a:tc>
                  <a:txBody>
                    <a:bodyPr lIns="114300" tIns="19050" rIns="114300" bIns="19050">
                      <a:noAutofit/>
                    </a:bodyPr>
                    <a:lstStyle/>
                    <a:p>
                      <a:r>
                        <a:rPr sz="1950" b="0">
                          <a:solidFill>
                            <a:srgbClr val="17252B"/>
                          </a:solidFill>
                          <a:latin typeface="Avenir Next"/>
                          <a:ea typeface="Avenir Next"/>
                          <a:cs typeface="Avenir Next"/>
                        </a:rPr>
                        <a:t>Uses your ratings to learn film styles, groups and claims about your taste</a:t>
                      </a:r>
                    </a:p>
                  </a:txBody>
                  <a:tcPr marL="91440" marR="91440" marT="45720" marB="45720" anchor="ctr">
                    <a:solidFill>
                      <a:srgbClr val="F2EFE8"/>
                    </a:solidFill>
                  </a:tcPr>
                </a:tc>
              </a:tr>
              <a:tr h="758190">
                <a:tc>
                  <a:txBody>
                    <a:bodyPr lIns="114300" tIns="19050" rIns="114300" bIns="19050">
                      <a:noAutofit/>
                    </a:bodyPr>
                    <a:lstStyle/>
                    <a:p>
                      <a:r>
                        <a:rPr sz="1950" b="1">
                          <a:solidFill>
                            <a:srgbClr val="17252B"/>
                          </a:solidFill>
                          <a:latin typeface="Avenir Next"/>
                          <a:ea typeface="Avenir Next"/>
                          <a:cs typeface="Avenir Next"/>
                        </a:rPr>
                        <a:t>Public reviews</a:t>
                      </a:r>
                    </a:p>
                  </a:txBody>
                  <a:tcPr marL="91440" marR="91440" marT="45720" marB="45720" anchor="ctr">
                    <a:solidFill>
                      <a:srgbClr val="F2EFE8"/>
                    </a:solidFill>
                  </a:tcPr>
                </a:tc>
                <a:tc>
                  <a:txBody>
                    <a:bodyPr lIns="114300" tIns="19050" rIns="114300" bIns="19050">
                      <a:noAutofit/>
                    </a:bodyPr>
                    <a:lstStyle/>
                    <a:p>
                      <a:r>
                        <a:rPr sz="1950" b="0">
                          <a:solidFill>
                            <a:srgbClr val="17252B"/>
                          </a:solidFill>
                          <a:latin typeface="Avenir Next"/>
                          <a:ea typeface="Avenir Next"/>
                          <a:cs typeface="Avenir Next"/>
                        </a:rPr>
                        <a:t>Ranks films by their published average audience rating</a:t>
                      </a:r>
                    </a:p>
                  </a:txBody>
                  <a:tcPr marL="91440" marR="91440" marT="45720" marB="45720" anchor="ctr">
                    <a:solidFill>
                      <a:srgbClr val="F2EFE8"/>
                    </a:solidFill>
                  </a:tcPr>
                </a:tc>
              </a:tr>
              <a:tr h="758190">
                <a:tc>
                  <a:txBody>
                    <a:bodyPr lIns="114300" tIns="19050" rIns="114300" bIns="19050">
                      <a:noAutofit/>
                    </a:bodyPr>
                    <a:lstStyle/>
                    <a:p>
                      <a:r>
                        <a:rPr sz="1950" b="1">
                          <a:solidFill>
                            <a:srgbClr val="17252B"/>
                          </a:solidFill>
                          <a:latin typeface="Avenir Next"/>
                          <a:ea typeface="Avenir Next"/>
                          <a:cs typeface="Avenir Next"/>
                        </a:rPr>
                        <a:t>Reviews plus tags</a:t>
                      </a:r>
                    </a:p>
                  </a:txBody>
                  <a:tcPr marL="91440" marR="91440" marT="45720" marB="45720" anchor="ctr">
                    <a:solidFill>
                      <a:srgbClr val="F2EFE8"/>
                    </a:solidFill>
                  </a:tcPr>
                </a:tc>
                <a:tc>
                  <a:txBody>
                    <a:bodyPr lIns="114300" tIns="19050" rIns="114300" bIns="19050">
                      <a:noAutofit/>
                    </a:bodyPr>
                    <a:lstStyle/>
                    <a:p>
                      <a:r>
                        <a:rPr sz="1950" b="0">
                          <a:solidFill>
                            <a:srgbClr val="17252B"/>
                          </a:solidFill>
                          <a:latin typeface="Avenir Next"/>
                          <a:ea typeface="Avenir Next"/>
                          <a:cs typeface="Avenir Next"/>
                        </a:rPr>
                        <a:t>Gives public ratings 75% of the score and personal genre/keyword matching 25%</a:t>
                      </a:r>
                    </a:p>
                  </a:txBody>
                  <a:tcPr marL="91440" marR="91440" marT="45720" marB="45720" anchor="ctr">
                    <a:solidFill>
                      <a:srgbClr val="F2EFE8"/>
                    </a:solidFill>
                  </a:tcPr>
                </a:tc>
              </a:tr>
              <a:tr h="758190">
                <a:tc>
                  <a:txBody>
                    <a:bodyPr lIns="114300" tIns="19050" rIns="114300" bIns="19050">
                      <a:noAutofit/>
                    </a:bodyPr>
                    <a:lstStyle/>
                    <a:p>
                      <a:r>
                        <a:rPr sz="1950" b="1">
                          <a:solidFill>
                            <a:srgbClr val="17252B"/>
                          </a:solidFill>
                          <a:latin typeface="Avenir Next"/>
                          <a:ea typeface="Avenir Next"/>
                          <a:cs typeface="Avenir Next"/>
                        </a:rPr>
                        <a:t>CLI</a:t>
                      </a:r>
                    </a:p>
                  </a:txBody>
                  <a:tcPr marL="91440" marR="91440" marT="45720" marB="45720" anchor="ctr">
                    <a:solidFill>
                      <a:srgbClr val="F2EFE8"/>
                    </a:solidFill>
                  </a:tcPr>
                </a:tc>
                <a:tc>
                  <a:txBody>
                    <a:bodyPr lIns="114300" tIns="19050" rIns="114300" bIns="19050">
                      <a:noAutofit/>
                    </a:bodyPr>
                    <a:lstStyle/>
                    <a:p>
                      <a:r>
                        <a:rPr sz="1950" b="0">
                          <a:solidFill>
                            <a:srgbClr val="17252B"/>
                          </a:solidFill>
                          <a:latin typeface="Avenir Next"/>
                          <a:ea typeface="Avenir Next"/>
                          <a:cs typeface="Avenir Next"/>
                        </a:rPr>
                        <a:t>A command tool that lets the experiment add ratings and inspect Dossier automatically</a:t>
                      </a:r>
                    </a:p>
                  </a:txBody>
                  <a:tcPr marL="91440" marR="91440" marT="45720" marB="45720" anchor="ctr">
                    <a:solidFill>
                      <a:srgbClr val="F2EFE8"/>
                    </a:solidFill>
                  </a:tcPr>
                </a:tc>
              </a:tr>
            </a:tbl>
          </a:graphicData>
        </a:graphic>
      </p:graphicFrame>
    </p:spTree>
    <p:extLst>
      <p:ext uri="{BB962C8B-B14F-4D97-AF65-F5344CB8AC3E}">
        <p14:creationId xmlns:p14="http://schemas.microsoft.com/office/powerpoint/2010/main" val="917944671"/>
      </p:ext>
    </p:extLst>
  </p:cSld>
</p:sld>
</file>

<file path=ppt/slides/slide7.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28C77AE-4970-41D4-83D0-082A3A70C061}"/>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sequence of experiments</a:t>
            </a:r>
          </a:p>
        </p:txBody>
      </p:sp>
      <p:sp>
        <p:nvSpPr>
          <p:cNvPr id="2" name="">
            <a:extLst xmlns:a="http://schemas.openxmlformats.org/drawingml/2006/main">
              <a:ext uri="{FF2B5EF4-FFF2-40B4-BE49-F238E27FC236}">
                <a16:creationId xmlns:a16="http://schemas.microsoft.com/office/drawing/2014/main" id="{52270466-B332-48B6-A49D-C77972FD32ED}"/>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07</a:t>
            </a:r>
          </a:p>
        </p:txBody>
      </p:sp>
      <p:graphicFrame>
        <p:nvGraphicFramePr>
          <p:cNvPr id="6" name=""/>
          <p:cNvGraphicFramePr/>
          <p:nvPr/>
        </p:nvGraphicFramePr>
        <p:xfrm>
          <a:off xmlns:a="http://schemas.openxmlformats.org/drawingml/2006/main" x="685800" y="1924050"/>
          <a:ext xmlns:a="http://schemas.openxmlformats.org/drawingml/2006/main" cx="10820400" cy="4000500"/>
        </p:xfrm>
        <a:graphic xmlns:a="http://schemas.openxmlformats.org/drawingml/2006/main">
          <a:graphicData uri="http://schemas.openxmlformats.org/drawingml/2006/table">
            <a:tbl>
              <a:tblPr firstRow="0" bandRow="0"/>
              <a:tblGrid>
                <a:gridCol w="4286250"/>
                <a:gridCol w="6534150"/>
              </a:tblGrid>
              <a:tr h="666750">
                <a:tc>
                  <a:txBody>
                    <a:bodyPr lIns="114300" tIns="19050" rIns="114300" bIns="19050">
                      <a:noAutofit/>
                    </a:bodyPr>
                    <a:lstStyle/>
                    <a:p>
                      <a:r>
                        <a:rPr sz="1875" b="1">
                          <a:solidFill>
                            <a:srgbClr val="F2EFE8"/>
                          </a:solidFill>
                          <a:latin typeface="Avenir Next"/>
                          <a:ea typeface="Avenir Next"/>
                          <a:cs typeface="Avenir Next"/>
                        </a:rPr>
                        <a:t>Experiment</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Why we ran it</a:t>
                      </a:r>
                    </a:p>
                  </a:txBody>
                  <a:tcPr marL="91440" marR="91440" marT="45720" marB="45720" anchor="ctr">
                    <a:solidFill>
                      <a:srgbClr val="17252B"/>
                    </a:solidFill>
                  </a:tcPr>
                </a:tc>
              </a:tr>
              <a:tr h="666750">
                <a:tc>
                  <a:txBody>
                    <a:bodyPr lIns="114300" tIns="19050" rIns="114300" bIns="19050">
                      <a:noAutofit/>
                    </a:bodyPr>
                    <a:lstStyle/>
                    <a:p>
                      <a:r>
                        <a:rPr sz="1875" b="1">
                          <a:solidFill>
                            <a:srgbClr val="17252B"/>
                          </a:solidFill>
                          <a:latin typeface="Avenir Next"/>
                          <a:ea typeface="Avenir Next"/>
                          <a:cs typeface="Avenir Next"/>
                        </a:rPr>
                        <a:t>Invented people and films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Check the pipeline, then expose harder tastes</a:t>
                      </a:r>
                    </a:p>
                  </a:txBody>
                  <a:tcPr marL="91440" marR="91440" marT="45720" marB="45720" anchor="ctr">
                    <a:solidFill>
                      <a:srgbClr val="F2EFE8"/>
                    </a:solidFill>
                  </a:tcPr>
                </a:tc>
              </a:tr>
              <a:tr h="666750">
                <a:tc>
                  <a:txBody>
                    <a:bodyPr lIns="114300" tIns="19050" rIns="114300" bIns="19050">
                      <a:noAutofit/>
                    </a:bodyPr>
                    <a:lstStyle/>
                    <a:p>
                      <a:r>
                        <a:rPr sz="1875" b="1">
                          <a:solidFill>
                            <a:srgbClr val="17252B"/>
                          </a:solidFill>
                          <a:latin typeface="Avenir Next"/>
                          <a:ea typeface="Avenir Next"/>
                          <a:cs typeface="Avenir Next"/>
                        </a:rPr>
                        <a:t>Real films and recorded viewer ratings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Remove answers built from our own assumptions</a:t>
                      </a:r>
                    </a:p>
                  </a:txBody>
                  <a:tcPr marL="91440" marR="91440" marT="45720" marB="45720" anchor="ctr">
                    <a:solidFill>
                      <a:srgbClr val="F2EFE8"/>
                    </a:solidFill>
                  </a:tcPr>
                </a:tc>
              </a:tr>
              <a:tr h="666750">
                <a:tc>
                  <a:txBody>
                    <a:bodyPr lIns="114300" tIns="19050" rIns="114300" bIns="19050">
                      <a:noAutofit/>
                    </a:bodyPr>
                    <a:lstStyle/>
                    <a:p>
                      <a:r>
                        <a:rPr sz="1875" b="1">
                          <a:solidFill>
                            <a:srgbClr val="17252B"/>
                          </a:solidFill>
                          <a:latin typeface="Avenir Next"/>
                          <a:ea typeface="Avenir Next"/>
                          <a:cs typeface="Avenir Next"/>
                        </a:rPr>
                        <a:t>Updated film descriptions and model comparisons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Find what drives the real-viewer gap</a:t>
                      </a:r>
                    </a:p>
                  </a:txBody>
                  <a:tcPr marL="91440" marR="91440" marT="45720" marB="45720" anchor="ctr">
                    <a:solidFill>
                      <a:srgbClr val="F2EFE8"/>
                    </a:solidFill>
                  </a:tcPr>
                </a:tc>
              </a:tr>
              <a:tr h="666750">
                <a:tc>
                  <a:txBody>
                    <a:bodyPr lIns="114300" tIns="19050" rIns="114300" bIns="19050">
                      <a:noAutofit/>
                    </a:bodyPr>
                    <a:lstStyle/>
                    <a:p>
                      <a:r>
                        <a:rPr sz="1875" b="1">
                          <a:solidFill>
                            <a:srgbClr val="17252B"/>
                          </a:solidFill>
                          <a:latin typeface="Avenir Next"/>
                          <a:ea typeface="Avenir Next"/>
                          <a:cs typeface="Avenir Next"/>
                        </a:rPr>
                        <a:t>Fixed reviews-plus-tags method on new viewers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Check whether a small benefit repeats</a:t>
                      </a:r>
                    </a:p>
                  </a:txBody>
                  <a:tcPr marL="91440" marR="91440" marT="45720" marB="45720" anchor="ctr">
                    <a:solidFill>
                      <a:srgbClr val="F2EFE8"/>
                    </a:solidFill>
                  </a:tcPr>
                </a:tc>
              </a:tr>
              <a:tr h="666750">
                <a:tc>
                  <a:txBody>
                    <a:bodyPr lIns="114300" tIns="19050" rIns="114300" bIns="19050">
                      <a:noAutofit/>
                    </a:bodyPr>
                    <a:lstStyle/>
                    <a:p>
                      <a:r>
                        <a:rPr sz="1875" b="1">
                          <a:solidFill>
                            <a:srgbClr val="17252B"/>
                          </a:solidFill>
                          <a:latin typeface="Avenir Next"/>
                          <a:ea typeface="Avenir Next"/>
                          <a:cs typeface="Avenir Next"/>
                        </a:rPr>
                        <a:t>Known failures and a protection rule</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Protect personal tastes without restoring large crashes</a:t>
                      </a:r>
                    </a:p>
                  </a:txBody>
                  <a:tcPr marL="91440" marR="91440" marT="45720" marB="45720" anchor="ctr">
                    <a:solidFill>
                      <a:srgbClr val="F2EFE8"/>
                    </a:solidFill>
                  </a:tcPr>
                </a:tc>
              </a:tr>
            </a:tbl>
          </a:graphicData>
        </a:graphic>
      </p:graphicFrame>
    </p:spTree>
    <p:extLst>
      <p:ext uri="{BB962C8B-B14F-4D97-AF65-F5344CB8AC3E}">
        <p14:creationId xmlns:p14="http://schemas.microsoft.com/office/powerpoint/2010/main" val="612428075"/>
      </p:ext>
    </p:extLst>
  </p:cSld>
</p:sld>
</file>

<file path=ppt/slides/slide8.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AD9F33D-74B5-4931-806C-210D5DB6E094}"/>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first tests looked unusually strong</a:t>
            </a:r>
          </a:p>
        </p:txBody>
      </p:sp>
      <p:sp>
        <p:nvSpPr>
          <p:cNvPr id="2" name="">
            <a:extLst xmlns:a="http://schemas.openxmlformats.org/drawingml/2006/main">
              <a:ext uri="{FF2B5EF4-FFF2-40B4-BE49-F238E27FC236}">
                <a16:creationId xmlns:a16="http://schemas.microsoft.com/office/drawing/2014/main" id="{0B7AE7D1-71E7-4996-B4EA-783E4D91AE0C}"/>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08</a:t>
            </a:r>
          </a:p>
        </p:txBody>
      </p:sp>
      <p:sp>
        <p:nvSpPr>
          <p:cNvPr id="3" name="">
            <a:extLst xmlns:a="http://schemas.openxmlformats.org/drawingml/2006/main">
              <a:ext uri="{FF2B5EF4-FFF2-40B4-BE49-F238E27FC236}">
                <a16:creationId xmlns:a16="http://schemas.microsoft.com/office/drawing/2014/main" id="{61A78417-3947-496E-9B51-21709A3614FC}"/>
              </a:ext>
            </a:extLst>
          </p:cNvPr>
          <p:cNvSpPr>
            <a:spLocks xmlns:a="http://schemas.openxmlformats.org/drawingml/2006/main" noGrp="1"/>
          </p:cNvSpPr>
          <p:nvPr/>
        </p:nvSpPr>
        <p:spPr>
          <a:xfrm xmlns:a="http://schemas.openxmlformats.org/drawingml/2006/main">
            <a:off x="685800" y="2047875"/>
            <a:ext cx="3524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900" b="1">
                <a:solidFill>
                  <a:srgbClr val="397564"/>
                </a:solidFill>
                <a:latin typeface="Avenir Next"/>
                <a:ea typeface="Avenir Next"/>
                <a:cs typeface="Avenir Next"/>
              </a:defRPr>
            </a:pPr>
            <a:r>
              <a:rPr sz="6900" b="1">
                <a:solidFill>
                  <a:srgbClr val="397564"/>
                </a:solidFill>
                <a:latin typeface="Avenir Next"/>
                <a:ea typeface="Avenir Next"/>
                <a:cs typeface="Avenir Next"/>
              </a:rPr>
              <a:t>98%</a:t>
            </a:r>
          </a:p>
        </p:txBody>
      </p:sp>
      <p:sp>
        <p:nvSpPr>
          <p:cNvPr id="4" name="">
            <a:extLst xmlns:a="http://schemas.openxmlformats.org/drawingml/2006/main">
              <a:ext uri="{FF2B5EF4-FFF2-40B4-BE49-F238E27FC236}">
                <a16:creationId xmlns:a16="http://schemas.microsoft.com/office/drawing/2014/main" id="{E52531FC-1532-4EEF-93DE-A9690AB49D68}"/>
              </a:ext>
            </a:extLst>
          </p:cNvPr>
          <p:cNvSpPr>
            <a:spLocks xmlns:a="http://schemas.openxmlformats.org/drawingml/2006/main" noGrp="1"/>
          </p:cNvSpPr>
          <p:nvPr/>
        </p:nvSpPr>
        <p:spPr>
          <a:xfrm xmlns:a="http://schemas.openxmlformats.org/drawingml/2006/main">
            <a:off x="685800" y="3333750"/>
            <a:ext cx="476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ordering score after one rating</a:t>
            </a:r>
          </a:p>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for the easy sci-fi person</a:t>
            </a:r>
          </a:p>
        </p:txBody>
      </p:sp>
      <p:sp>
        <p:nvSpPr>
          <p:cNvPr id="5" name="">
            <a:extLst xmlns:a="http://schemas.openxmlformats.org/drawingml/2006/main">
              <a:ext uri="{FF2B5EF4-FFF2-40B4-BE49-F238E27FC236}">
                <a16:creationId xmlns:a16="http://schemas.microsoft.com/office/drawing/2014/main" id="{E3915DAC-9D4A-4F6C-956F-EAAFD742294C}"/>
              </a:ext>
            </a:extLst>
          </p:cNvPr>
          <p:cNvSpPr>
            <a:spLocks xmlns:a="http://schemas.openxmlformats.org/drawingml/2006/main" noGrp="1"/>
          </p:cNvSpPr>
          <p:nvPr/>
        </p:nvSpPr>
        <p:spPr>
          <a:xfrm xmlns:a="http://schemas.openxmlformats.org/drawingml/2006/main">
            <a:off x="6572250" y="2047875"/>
            <a:ext cx="4667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700" b="1">
                <a:solidFill>
                  <a:srgbClr val="397564"/>
                </a:solidFill>
                <a:latin typeface="Avenir Next"/>
                <a:ea typeface="Avenir Next"/>
                <a:cs typeface="Avenir Next"/>
              </a:defRPr>
            </a:pPr>
            <a:r>
              <a:rPr sz="5700" b="1">
                <a:solidFill>
                  <a:srgbClr val="397564"/>
                </a:solidFill>
                <a:latin typeface="Avenir Next"/>
                <a:ea typeface="Avenir Next"/>
                <a:cs typeface="Avenir Next"/>
              </a:rPr>
              <a:t>10 of 10</a:t>
            </a:r>
          </a:p>
        </p:txBody>
      </p:sp>
      <p:sp>
        <p:nvSpPr>
          <p:cNvPr id="6" name="">
            <a:extLst xmlns:a="http://schemas.openxmlformats.org/drawingml/2006/main">
              <a:ext uri="{FF2B5EF4-FFF2-40B4-BE49-F238E27FC236}">
                <a16:creationId xmlns:a16="http://schemas.microsoft.com/office/drawing/2014/main" id="{AD34AEF8-AED6-4452-B85F-33CC493CB961}"/>
              </a:ext>
            </a:extLst>
          </p:cNvPr>
          <p:cNvSpPr>
            <a:spLocks xmlns:a="http://schemas.openxmlformats.org/drawingml/2006/main" noGrp="1"/>
          </p:cNvSpPr>
          <p:nvPr/>
        </p:nvSpPr>
        <p:spPr>
          <a:xfrm xmlns:a="http://schemas.openxmlformats.org/drawingml/2006/main">
            <a:off x="6572250" y="3333750"/>
            <a:ext cx="466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suggestions liked by that person</a:t>
            </a:r>
          </a:p>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after ten ratings</a:t>
            </a:r>
          </a:p>
        </p:txBody>
      </p:sp>
      <p:sp>
        <p:nvSpPr>
          <p:cNvPr id="7" name="">
            <a:extLst xmlns:a="http://schemas.openxmlformats.org/drawingml/2006/main">
              <a:ext uri="{FF2B5EF4-FFF2-40B4-BE49-F238E27FC236}">
                <a16:creationId xmlns:a16="http://schemas.microsoft.com/office/drawing/2014/main" id="{93D472D7-C097-4C1E-B738-1BC2B2000CD2}"/>
              </a:ext>
            </a:extLst>
          </p:cNvPr>
          <p:cNvSpPr>
            <a:spLocks xmlns:a="http://schemas.openxmlformats.org/drawingml/2006/main" noGrp="1"/>
          </p:cNvSpPr>
          <p:nvPr/>
        </p:nvSpPr>
        <p:spPr>
          <a:xfrm xmlns:a="http://schemas.openxmlformats.org/drawingml/2006/main">
            <a:off x="685800" y="4591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The larger run also found 8.86 liked films per ten after 20 ratings.</a:t>
            </a:r>
          </a:p>
        </p:txBody>
      </p:sp>
      <p:sp>
        <p:nvSpPr>
          <p:cNvPr id="8" name="">
            <a:extLst xmlns:a="http://schemas.openxmlformats.org/drawingml/2006/main">
              <a:ext uri="{FF2B5EF4-FFF2-40B4-BE49-F238E27FC236}">
                <a16:creationId xmlns:a16="http://schemas.microsoft.com/office/drawing/2014/main" id="{C548E2A0-3A3C-4887-93F4-89F58FDDA6D1}"/>
              </a:ext>
            </a:extLst>
          </p:cNvPr>
          <p:cNvSpPr>
            <a:spLocks xmlns:a="http://schemas.openxmlformats.org/drawingml/2006/main" noGrp="1"/>
          </p:cNvSpPr>
          <p:nvPr/>
        </p:nvSpPr>
        <p:spPr>
          <a:xfrm xmlns:a="http://schemas.openxmlformats.org/drawingml/2006/main">
            <a:off x="685800" y="559117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The answers used many of the same film properties as Dossier. The test was too easy.</a:t>
            </a:r>
          </a:p>
        </p:txBody>
      </p:sp>
    </p:spTree>
    <p:extLst>
      <p:ext uri="{BB962C8B-B14F-4D97-AF65-F5344CB8AC3E}">
        <p14:creationId xmlns:p14="http://schemas.microsoft.com/office/powerpoint/2010/main" val="1783178224"/>
      </p:ext>
    </p:extLst>
  </p:cSld>
</p:sld>
</file>

<file path=ppt/slides/slide9.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9CF00A0-5DAE-42DE-B165-61FD9AD9DE45}"/>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CLI really changed the model</a:t>
            </a:r>
          </a:p>
        </p:txBody>
      </p:sp>
      <p:sp>
        <p:nvSpPr>
          <p:cNvPr id="2" name="">
            <a:extLst xmlns:a="http://schemas.openxmlformats.org/drawingml/2006/main">
              <a:ext uri="{FF2B5EF4-FFF2-40B4-BE49-F238E27FC236}">
                <a16:creationId xmlns:a16="http://schemas.microsoft.com/office/drawing/2014/main" id="{CDB454B7-D779-467B-AE19-280C30A53E98}"/>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09</a:t>
            </a:r>
          </a:p>
        </p:txBody>
      </p:sp>
      <p:sp>
        <p:nvSpPr>
          <p:cNvPr id="3" name="">
            <a:extLst xmlns:a="http://schemas.openxmlformats.org/drawingml/2006/main">
              <a:ext uri="{FF2B5EF4-FFF2-40B4-BE49-F238E27FC236}">
                <a16:creationId xmlns:a16="http://schemas.microsoft.com/office/drawing/2014/main" id="{F7EB2E00-A8EA-4D4D-86A4-1A432426C855}"/>
              </a:ext>
            </a:extLst>
          </p:cNvPr>
          <p:cNvSpPr>
            <a:spLocks xmlns:a="http://schemas.openxmlformats.org/drawingml/2006/main" noGrp="1"/>
          </p:cNvSpPr>
          <p:nvPr/>
        </p:nvSpPr>
        <p:spPr>
          <a:xfrm xmlns:a="http://schemas.openxmlformats.org/drawingml/2006/main">
            <a:off x="685800" y="1952625"/>
            <a:ext cx="10477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We added ten ratings, inspected the model, then added a contradictory positive rating for Avengers: Infinity War.</a:t>
            </a:r>
          </a:p>
        </p:txBody>
      </p:sp>
      <p:sp>
        <p:nvSpPr>
          <p:cNvPr id="4" name="">
            <a:extLst xmlns:a="http://schemas.openxmlformats.org/drawingml/2006/main">
              <a:ext uri="{FF2B5EF4-FFF2-40B4-BE49-F238E27FC236}">
                <a16:creationId xmlns:a16="http://schemas.microsoft.com/office/drawing/2014/main" id="{C6FE074B-D92F-4E0C-84DC-6C31639ABB7F}"/>
              </a:ext>
            </a:extLst>
          </p:cNvPr>
          <p:cNvSpPr>
            <a:spLocks xmlns:a="http://schemas.openxmlformats.org/drawingml/2006/main" noGrp="1"/>
          </p:cNvSpPr>
          <p:nvPr/>
        </p:nvSpPr>
        <p:spPr>
          <a:xfrm xmlns:a="http://schemas.openxmlformats.org/drawingml/2006/main">
            <a:off x="685800" y="3143250"/>
            <a:ext cx="10477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The model changed. Its inferred claims fell from 13 to 12, other claims weakened, and film scores changed.</a:t>
            </a:r>
          </a:p>
        </p:txBody>
      </p:sp>
      <p:sp>
        <p:nvSpPr>
          <p:cNvPr id="5" name="">
            <a:extLst xmlns:a="http://schemas.openxmlformats.org/drawingml/2006/main">
              <a:ext uri="{FF2B5EF4-FFF2-40B4-BE49-F238E27FC236}">
                <a16:creationId xmlns:a16="http://schemas.microsoft.com/office/drawing/2014/main" id="{AEAC8CC7-1DE9-4C0D-A1FD-43DD7437D379}"/>
              </a:ext>
            </a:extLst>
          </p:cNvPr>
          <p:cNvSpPr>
            <a:spLocks xmlns:a="http://schemas.openxmlformats.org/drawingml/2006/main" noGrp="1"/>
          </p:cNvSpPr>
          <p:nvPr/>
        </p:nvSpPr>
        <p:spPr>
          <a:xfrm xmlns:a="http://schemas.openxmlformats.org/drawingml/2006/main">
            <a:off x="685800" y="4333875"/>
            <a:ext cx="10477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The same ten films remained in the recommendations. Scores moved, but no new film entered the first ten.</a:t>
            </a:r>
          </a:p>
        </p:txBody>
      </p:sp>
      <p:sp>
        <p:nvSpPr>
          <p:cNvPr id="6" name="">
            <a:extLst xmlns:a="http://schemas.openxmlformats.org/drawingml/2006/main">
              <a:ext uri="{FF2B5EF4-FFF2-40B4-BE49-F238E27FC236}">
                <a16:creationId xmlns:a16="http://schemas.microsoft.com/office/drawing/2014/main" id="{1FDC3581-55E7-4755-90C8-A8D7ACD4B526}"/>
              </a:ext>
            </a:extLst>
          </p:cNvPr>
          <p:cNvSpPr>
            <a:spLocks xmlns:a="http://schemas.openxmlformats.org/drawingml/2006/main" noGrp="1"/>
          </p:cNvSpPr>
          <p:nvPr/>
        </p:nvSpPr>
        <p:spPr>
          <a:xfrm xmlns:a="http://schemas.openxmlformats.org/drawingml/2006/main">
            <a:off x="685800" y="57531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A clean repeat matched. A working pipeline still needed a harder quality test.</a:t>
            </a:r>
          </a:p>
        </p:txBody>
      </p:sp>
    </p:spTree>
    <p:extLst>
      <p:ext uri="{BB962C8B-B14F-4D97-AF65-F5344CB8AC3E}">
        <p14:creationId xmlns:p14="http://schemas.microsoft.com/office/powerpoint/2010/main" val="638989521"/>
      </p:ext>
    </p:extLst>
  </p:cSld>
</p:sld>
</file>

<file path=ppt/slides/slide10.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2152B78-273D-4553-A636-AEC6F60C3414}"/>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Harder invented tastes exposed weaknesses</a:t>
            </a:r>
          </a:p>
        </p:txBody>
      </p:sp>
      <p:sp>
        <p:nvSpPr>
          <p:cNvPr id="2" name="">
            <a:extLst xmlns:a="http://schemas.openxmlformats.org/drawingml/2006/main">
              <a:ext uri="{FF2B5EF4-FFF2-40B4-BE49-F238E27FC236}">
                <a16:creationId xmlns:a16="http://schemas.microsoft.com/office/drawing/2014/main" id="{FE279C74-F89A-49DE-ADE1-0EDD2F9FB3B2}"/>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10</a:t>
            </a:r>
          </a:p>
        </p:txBody>
      </p:sp>
      <p:sp>
        <p:nvSpPr>
          <p:cNvPr id="3" name="">
            <a:extLst xmlns:a="http://schemas.openxmlformats.org/drawingml/2006/main">
              <a:ext uri="{FF2B5EF4-FFF2-40B4-BE49-F238E27FC236}">
                <a16:creationId xmlns:a16="http://schemas.microsoft.com/office/drawing/2014/main" id="{C9C6F56B-3F43-4645-A6D0-CB9FD10C21C1}"/>
              </a:ext>
            </a:extLst>
          </p:cNvPr>
          <p:cNvSpPr>
            <a:spLocks xmlns:a="http://schemas.openxmlformats.org/drawingml/2006/main" noGrp="1"/>
          </p:cNvSpPr>
          <p:nvPr/>
        </p:nvSpPr>
        <p:spPr>
          <a:xfrm xmlns:a="http://schemas.openxmlformats.org/drawingml/2006/main">
            <a:off x="685800" y="2095500"/>
            <a:ext cx="48577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17252B"/>
                </a:solidFill>
                <a:latin typeface="Avenir Next"/>
                <a:ea typeface="Avenir Next"/>
                <a:cs typeface="Avenir Next"/>
              </a:defRPr>
            </a:pPr>
            <a:r>
              <a:rPr sz="2700" b="1">
                <a:solidFill>
                  <a:srgbClr val="17252B"/>
                </a:solidFill>
                <a:latin typeface="Avenir Next"/>
                <a:ea typeface="Avenir Next"/>
                <a:cs typeface="Avenir Next"/>
              </a:rPr>
              <a:t>18 people</a:t>
            </a:r>
          </a:p>
          <a:p xmlns:a="http://schemas.openxmlformats.org/drawingml/2006/main">
            <a:pPr>
              <a:defRPr sz="2700" b="1">
                <a:solidFill>
                  <a:srgbClr val="17252B"/>
                </a:solidFill>
                <a:latin typeface="Avenir Next"/>
                <a:ea typeface="Avenir Next"/>
                <a:cs typeface="Avenir Next"/>
              </a:defRPr>
            </a:pPr>
            <a:r>
              <a:rPr sz="2700" b="1">
                <a:solidFill>
                  <a:srgbClr val="17252B"/>
                </a:solidFill>
                <a:latin typeface="Avenir Next"/>
                <a:ea typeface="Avenir Next"/>
                <a:cs typeface="Avenir Next"/>
              </a:rPr>
              <a:t>288 invented films</a:t>
            </a:r>
          </a:p>
          <a:p xmlns:a="http://schemas.openxmlformats.org/drawingml/2006/main">
            <a:pPr>
              <a:defRPr sz="2700" b="1">
                <a:solidFill>
                  <a:srgbClr val="17252B"/>
                </a:solidFill>
                <a:latin typeface="Avenir Next"/>
                <a:ea typeface="Avenir Next"/>
                <a:cs typeface="Avenir Next"/>
              </a:defRPr>
            </a:pPr>
            <a:r>
              <a:rPr sz="2700" b="1">
                <a:solidFill>
                  <a:srgbClr val="17252B"/>
                </a:solidFill>
                <a:latin typeface="Avenir Next"/>
                <a:ea typeface="Avenir Next"/>
                <a:cs typeface="Avenir Next"/>
              </a:rPr>
              <a:t>72 hidden films per person</a:t>
            </a:r>
          </a:p>
        </p:txBody>
      </p:sp>
      <p:sp>
        <p:nvSpPr>
          <p:cNvPr id="4" name="">
            <a:extLst xmlns:a="http://schemas.openxmlformats.org/drawingml/2006/main">
              <a:ext uri="{FF2B5EF4-FFF2-40B4-BE49-F238E27FC236}">
                <a16:creationId xmlns:a16="http://schemas.microsoft.com/office/drawing/2014/main" id="{D2D690A6-E4A4-45E0-9752-7297F9686FB6}"/>
              </a:ext>
            </a:extLst>
          </p:cNvPr>
          <p:cNvSpPr>
            <a:spLocks xmlns:a="http://schemas.openxmlformats.org/drawingml/2006/main" noGrp="1"/>
          </p:cNvSpPr>
          <p:nvPr/>
        </p:nvSpPr>
        <p:spPr>
          <a:xfrm xmlns:a="http://schemas.openxmlformats.org/drawingml/2006/main">
            <a:off x="6429375" y="2095500"/>
            <a:ext cx="4762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Likes horror, but avoids gore.</a:t>
            </a:r>
          </a:p>
        </p:txBody>
      </p:sp>
      <p:sp>
        <p:nvSpPr>
          <p:cNvPr id="5" name="">
            <a:extLst xmlns:a="http://schemas.openxmlformats.org/drawingml/2006/main">
              <a:ext uri="{FF2B5EF4-FFF2-40B4-BE49-F238E27FC236}">
                <a16:creationId xmlns:a16="http://schemas.microsoft.com/office/drawing/2014/main" id="{1968EF3A-0504-4332-8A96-21EE6FDFB387}"/>
              </a:ext>
            </a:extLst>
          </p:cNvPr>
          <p:cNvSpPr>
            <a:spLocks xmlns:a="http://schemas.openxmlformats.org/drawingml/2006/main" noGrp="1"/>
          </p:cNvSpPr>
          <p:nvPr/>
        </p:nvSpPr>
        <p:spPr>
          <a:xfrm xmlns:a="http://schemas.openxmlformats.org/drawingml/2006/main">
            <a:off x="6429375" y="3238500"/>
            <a:ext cx="4762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Follows one director across very different films.</a:t>
            </a:r>
          </a:p>
        </p:txBody>
      </p:sp>
      <p:sp>
        <p:nvSpPr>
          <p:cNvPr id="6" name="">
            <a:extLst xmlns:a="http://schemas.openxmlformats.org/drawingml/2006/main">
              <a:ext uri="{FF2B5EF4-FFF2-40B4-BE49-F238E27FC236}">
                <a16:creationId xmlns:a16="http://schemas.microsoft.com/office/drawing/2014/main" id="{7C69F1D9-914F-41B0-95D6-547FE6C4F3C9}"/>
              </a:ext>
            </a:extLst>
          </p:cNvPr>
          <p:cNvSpPr>
            <a:spLocks xmlns:a="http://schemas.openxmlformats.org/drawingml/2006/main" noGrp="1"/>
          </p:cNvSpPr>
          <p:nvPr/>
        </p:nvSpPr>
        <p:spPr>
          <a:xfrm xmlns:a="http://schemas.openxmlformats.org/drawingml/2006/main">
            <a:off x="6429375" y="4381500"/>
            <a:ext cx="4762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Likes two very different kinds of film, with little in between.</a:t>
            </a:r>
          </a:p>
        </p:txBody>
      </p:sp>
      <p:sp>
        <p:nvSpPr>
          <p:cNvPr id="7" name="">
            <a:extLst xmlns:a="http://schemas.openxmlformats.org/drawingml/2006/main">
              <a:ext uri="{FF2B5EF4-FFF2-40B4-BE49-F238E27FC236}">
                <a16:creationId xmlns:a16="http://schemas.microsoft.com/office/drawing/2014/main" id="{A8C3F919-76E0-4B56-91DD-F1C9D8FDA160}"/>
              </a:ext>
            </a:extLst>
          </p:cNvPr>
          <p:cNvSpPr>
            <a:spLocks xmlns:a="http://schemas.openxmlformats.org/drawingml/2006/main" noGrp="1"/>
          </p:cNvSpPr>
          <p:nvPr/>
        </p:nvSpPr>
        <p:spPr>
          <a:xfrm xmlns:a="http://schemas.openxmlformats.org/drawingml/2006/main">
            <a:off x="685800" y="574357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These were useful stress tests. They still could not tell us how real viewers behave.</a:t>
            </a:r>
          </a:p>
        </p:txBody>
      </p:sp>
    </p:spTree>
    <p:extLst>
      <p:ext uri="{BB962C8B-B14F-4D97-AF65-F5344CB8AC3E}">
        <p14:creationId xmlns:p14="http://schemas.microsoft.com/office/powerpoint/2010/main" val="409580968"/>
      </p:ext>
    </p:extLst>
  </p:cSld>
</p:sld>
</file>

<file path=ppt/slides/slide11.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E072CB3-E840-49E2-A1EE-9EE516842924}"/>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Dossier learned, but simple matching competed</a:t>
            </a:r>
          </a:p>
        </p:txBody>
      </p:sp>
      <p:sp>
        <p:nvSpPr>
          <p:cNvPr id="2" name="">
            <a:extLst xmlns:a="http://schemas.openxmlformats.org/drawingml/2006/main">
              <a:ext uri="{FF2B5EF4-FFF2-40B4-BE49-F238E27FC236}">
                <a16:creationId xmlns:a16="http://schemas.microsoft.com/office/drawing/2014/main" id="{8B41B7F3-F540-48AD-AF77-2E9F0D3EB5EA}"/>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Harder invented people, after 20 ratings</a:t>
            </a:r>
          </a:p>
        </p:txBody>
      </p:sp>
      <p:sp>
        <p:nvSpPr>
          <p:cNvPr id="3" name="">
            <a:extLst xmlns:a="http://schemas.openxmlformats.org/drawingml/2006/main">
              <a:ext uri="{FF2B5EF4-FFF2-40B4-BE49-F238E27FC236}">
                <a16:creationId xmlns:a16="http://schemas.microsoft.com/office/drawing/2014/main" id="{87AA6F88-BCA0-4EF2-9799-7F062BDD3A2F}"/>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11</a:t>
            </a:r>
          </a:p>
        </p:txBody>
      </p:sp>
      <p:graphicFrame>
        <p:nvGraphicFramePr>
          <p:cNvPr id="9" name=""/>
          <p:cNvGraphicFramePr/>
          <p:nvPr/>
        </p:nvGraphicFramePr>
        <p:xfrm>
          <a:off xmlns:a="http://schemas.openxmlformats.org/drawingml/2006/main" x="685800" y="2143125"/>
          <a:ext xmlns:a="http://schemas.openxmlformats.org/drawingml/2006/main" cx="10820400" cy="2857500"/>
        </p:xfrm>
        <a:graphic xmlns:a="http://schemas.openxmlformats.org/drawingml/2006/main">
          <a:graphicData uri="http://schemas.openxmlformats.org/drawingml/2006/table">
            <a:tbl>
              <a:tblPr firstRow="0" bandRow="0"/>
              <a:tblGrid>
                <a:gridCol w="5010150"/>
                <a:gridCol w="2619375"/>
                <a:gridCol w="3190875"/>
              </a:tblGrid>
              <a:tr h="571500">
                <a:tc>
                  <a:txBody>
                    <a:bodyPr lIns="114300" tIns="19050" rIns="114300" bIns="19050">
                      <a:noAutofit/>
                    </a:bodyPr>
                    <a:lstStyle/>
                    <a:p>
                      <a:r>
                        <a:rPr sz="1875" b="1">
                          <a:solidFill>
                            <a:srgbClr val="F2EFE8"/>
                          </a:solidFill>
                          <a:latin typeface="Avenir Next"/>
                          <a:ea typeface="Avenir Next"/>
                          <a:cs typeface="Avenir Next"/>
                        </a:rPr>
                        <a:t>Ranking method</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Ordering score</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Liked films per ten</a:t>
                      </a:r>
                    </a:p>
                  </a:txBody>
                  <a:tcPr marL="91440" marR="91440" marT="45720" marB="45720" anchor="ctr">
                    <a:solidFill>
                      <a:srgbClr val="17252B"/>
                    </a:solidFill>
                  </a:tcPr>
                </a:tc>
              </a:tr>
              <a:tr h="571500">
                <a:tc>
                  <a:txBody>
                    <a:bodyPr lIns="114300" tIns="19050" rIns="114300" bIns="19050">
                      <a:noAutofit/>
                    </a:bodyPr>
                    <a:lstStyle/>
                    <a:p>
                      <a:r>
                        <a:rPr sz="1875" b="1">
                          <a:solidFill>
                            <a:srgbClr val="17252B"/>
                          </a:solidFill>
                          <a:latin typeface="Avenir Next"/>
                          <a:ea typeface="Avenir Next"/>
                          <a:cs typeface="Avenir Next"/>
                        </a:rPr>
                        <a:t>Current Dossier</a:t>
                      </a:r>
                    </a:p>
                  </a:txBody>
                  <a:tcPr marL="91440" marR="91440" marT="45720" marB="45720" anchor="ctr">
                    <a:solidFill>
                      <a:srgbClr val="E4ECE7"/>
                    </a:solidFill>
                  </a:tcPr>
                </a:tc>
                <a:tc>
                  <a:txBody>
                    <a:bodyPr lIns="114300" tIns="19050" rIns="114300" bIns="19050">
                      <a:noAutofit/>
                    </a:bodyPr>
                    <a:lstStyle/>
                    <a:p>
                      <a:r>
                        <a:rPr sz="1875" b="1">
                          <a:solidFill>
                            <a:srgbClr val="17252B"/>
                          </a:solidFill>
                          <a:latin typeface="Avenir Next"/>
                          <a:ea typeface="Avenir Next"/>
                          <a:cs typeface="Avenir Next"/>
                        </a:rPr>
                        <a:t>76.1%</a:t>
                      </a:r>
                    </a:p>
                  </a:txBody>
                  <a:tcPr marL="91440" marR="91440" marT="45720" marB="45720" anchor="ctr">
                    <a:solidFill>
                      <a:srgbClr val="E4ECE7"/>
                    </a:solidFill>
                  </a:tcPr>
                </a:tc>
                <a:tc>
                  <a:txBody>
                    <a:bodyPr lIns="114300" tIns="19050" rIns="114300" bIns="19050">
                      <a:noAutofit/>
                    </a:bodyPr>
                    <a:lstStyle/>
                    <a:p>
                      <a:r>
                        <a:rPr sz="1875" b="1">
                          <a:solidFill>
                            <a:srgbClr val="17252B"/>
                          </a:solidFill>
                          <a:latin typeface="Avenir Next"/>
                          <a:ea typeface="Avenir Next"/>
                          <a:cs typeface="Avenir Next"/>
                        </a:rPr>
                        <a:t>4.26</a:t>
                      </a:r>
                    </a:p>
                  </a:txBody>
                  <a:tcPr marL="91440" marR="91440" marT="45720" marB="45720" anchor="ctr">
                    <a:solidFill>
                      <a:srgbClr val="E4ECE7"/>
                    </a:solidFill>
                  </a:tcPr>
                </a:tc>
              </a:tr>
              <a:tr h="571500">
                <a:tc>
                  <a:txBody>
                    <a:bodyPr lIns="114300" tIns="19050" rIns="114300" bIns="19050">
                      <a:noAutofit/>
                    </a:bodyPr>
                    <a:lstStyle/>
                    <a:p>
                      <a:r>
                        <a:rPr sz="1875" b="1">
                          <a:solidFill>
                            <a:srgbClr val="17252B"/>
                          </a:solidFill>
                          <a:latin typeface="Avenir Next"/>
                          <a:ea typeface="Avenir Next"/>
                          <a:cs typeface="Avenir Next"/>
                        </a:rPr>
                        <a:t>Match similar rated films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75.4%</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4.50</a:t>
                      </a:r>
                    </a:p>
                  </a:txBody>
                  <a:tcPr marL="91440" marR="91440" marT="45720" marB="45720" anchor="ctr">
                    <a:solidFill>
                      <a:srgbClr val="F2EFE8"/>
                    </a:solidFill>
                  </a:tcPr>
                </a:tc>
              </a:tr>
              <a:tr h="571500">
                <a:tc>
                  <a:txBody>
                    <a:bodyPr lIns="114300" tIns="19050" rIns="114300" bIns="19050">
                      <a:noAutofit/>
                    </a:bodyPr>
                    <a:lstStyle/>
                    <a:p>
                      <a:r>
                        <a:rPr sz="1875" b="1">
                          <a:solidFill>
                            <a:srgbClr val="17252B"/>
                          </a:solidFill>
                          <a:latin typeface="Avenir Next"/>
                          <a:ea typeface="Avenir Next"/>
                          <a:cs typeface="Avenir Next"/>
                        </a:rPr>
                        <a:t>Learn preferred genres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71.7%</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4.00</a:t>
                      </a:r>
                    </a:p>
                  </a:txBody>
                  <a:tcPr marL="91440" marR="91440" marT="45720" marB="45720" anchor="ctr">
                    <a:solidFill>
                      <a:srgbClr val="F2EFE8"/>
                    </a:solidFill>
                  </a:tcPr>
                </a:tc>
              </a:tr>
              <a:tr h="571500">
                <a:tc>
                  <a:txBody>
                    <a:bodyPr lIns="114300" tIns="19050" rIns="114300" bIns="19050">
                      <a:noAutofit/>
                    </a:bodyPr>
                    <a:lstStyle/>
                    <a:p>
                      <a:r>
                        <a:rPr sz="1875" b="1">
                          <a:solidFill>
                            <a:srgbClr val="17252B"/>
                          </a:solidFill>
                          <a:latin typeface="Avenir Next"/>
                          <a:ea typeface="Avenir Next"/>
                          <a:cs typeface="Avenir Next"/>
                        </a:rPr>
                        <a:t>Popularity</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56.7%</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2.39</a:t>
                      </a:r>
                    </a:p>
                  </a:txBody>
                  <a:tcPr marL="91440" marR="91440" marT="45720" marB="45720" anchor="ctr">
                    <a:solidFill>
                      <a:srgbClr val="F2EFE8"/>
                    </a:solidFill>
                  </a:tcPr>
                </a:tc>
              </a:tr>
            </a:tbl>
          </a:graphicData>
        </a:graphic>
      </p:graphicFrame>
      <p:sp>
        <p:nvSpPr>
          <p:cNvPr id="5" name="">
            <a:extLst xmlns:a="http://schemas.openxmlformats.org/drawingml/2006/main">
              <a:ext uri="{FF2B5EF4-FFF2-40B4-BE49-F238E27FC236}">
                <a16:creationId xmlns:a16="http://schemas.microsoft.com/office/drawing/2014/main" id="{139A3092-923B-4E56-BFBD-CD42A188C86B}"/>
              </a:ext>
            </a:extLst>
          </p:cNvPr>
          <p:cNvSpPr>
            <a:spLocks xmlns:a="http://schemas.openxmlformats.org/drawingml/2006/main" noGrp="1"/>
          </p:cNvSpPr>
          <p:nvPr/>
        </p:nvSpPr>
        <p:spPr>
          <a:xfrm xmlns:a="http://schemas.openxmlformats.org/drawingml/2006/main">
            <a:off x="685800" y="545782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Dossier improved with more ratings, but its extra complexity did not win on every measure.</a:t>
            </a:r>
          </a:p>
        </p:txBody>
      </p:sp>
    </p:spTree>
    <p:extLst>
      <p:ext uri="{BB962C8B-B14F-4D97-AF65-F5344CB8AC3E}">
        <p14:creationId xmlns:p14="http://schemas.microsoft.com/office/powerpoint/2010/main" val="701777199"/>
      </p:ext>
    </p:extLst>
  </p:cSld>
</p:sld>
</file>

<file path=ppt/slides/slide12.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55A3746-B44F-4F9E-8465-21C6516B3D9A}"/>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same invented person could get different lists</a:t>
            </a:r>
          </a:p>
        </p:txBody>
      </p:sp>
      <p:sp>
        <p:nvSpPr>
          <p:cNvPr id="2" name="">
            <a:extLst xmlns:a="http://schemas.openxmlformats.org/drawingml/2006/main">
              <a:ext uri="{FF2B5EF4-FFF2-40B4-BE49-F238E27FC236}">
                <a16:creationId xmlns:a16="http://schemas.microsoft.com/office/drawing/2014/main" id="{AE11FA34-4EF6-4BB8-9AC1-4DAE282899FB}"/>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12</a:t>
            </a:r>
          </a:p>
        </p:txBody>
      </p:sp>
      <p:sp>
        <p:nvSpPr>
          <p:cNvPr id="3" name="">
            <a:extLst xmlns:a="http://schemas.openxmlformats.org/drawingml/2006/main">
              <a:ext uri="{FF2B5EF4-FFF2-40B4-BE49-F238E27FC236}">
                <a16:creationId xmlns:a16="http://schemas.microsoft.com/office/drawing/2014/main" id="{13D6024C-5587-4228-9EFB-AB18D9AB5D25}"/>
              </a:ext>
            </a:extLst>
          </p:cNvPr>
          <p:cNvSpPr>
            <a:spLocks xmlns:a="http://schemas.openxmlformats.org/drawingml/2006/main" noGrp="1"/>
          </p:cNvSpPr>
          <p:nvPr/>
        </p:nvSpPr>
        <p:spPr>
          <a:xfrm xmlns:a="http://schemas.openxmlformats.org/drawingml/2006/main">
            <a:off x="685800" y="2095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0">
                <a:solidFill>
                  <a:srgbClr val="17252B"/>
                </a:solidFill>
                <a:latin typeface="Iowan Old Style"/>
                <a:ea typeface="Iowan Old Style"/>
                <a:cs typeface="Iowan Old Style"/>
              </a:defRPr>
            </a:pPr>
            <a:r>
              <a:rPr sz="4200" b="0">
                <a:solidFill>
                  <a:srgbClr val="17252B"/>
                </a:solidFill>
                <a:latin typeface="Iowan Old Style"/>
                <a:ea typeface="Iowan Old Style"/>
                <a:cs typeface="Iowan Old Style"/>
              </a:rPr>
              <a:t>About 6 of 10 films</a:t>
            </a:r>
          </a:p>
        </p:txBody>
      </p:sp>
      <p:sp>
        <p:nvSpPr>
          <p:cNvPr id="4" name="">
            <a:extLst xmlns:a="http://schemas.openxmlformats.org/drawingml/2006/main">
              <a:ext uri="{FF2B5EF4-FFF2-40B4-BE49-F238E27FC236}">
                <a16:creationId xmlns:a16="http://schemas.microsoft.com/office/drawing/2014/main" id="{48267B89-9AD3-4EFA-BD09-903912F344A7}"/>
              </a:ext>
            </a:extLst>
          </p:cNvPr>
          <p:cNvSpPr>
            <a:spLocks xmlns:a="http://schemas.openxmlformats.org/drawingml/2006/main" noGrp="1"/>
          </p:cNvSpPr>
          <p:nvPr/>
        </p:nvSpPr>
        <p:spPr>
          <a:xfrm xmlns:a="http://schemas.openxmlformats.org/drawingml/2006/main">
            <a:off x="685800" y="3143250"/>
            <a:ext cx="1000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remained the same between recommendation lists for copies of the same person.</a:t>
            </a:r>
          </a:p>
        </p:txBody>
      </p:sp>
      <p:sp>
        <p:nvSpPr>
          <p:cNvPr id="5" name="">
            <a:extLst xmlns:a="http://schemas.openxmlformats.org/drawingml/2006/main">
              <a:ext uri="{FF2B5EF4-FFF2-40B4-BE49-F238E27FC236}">
                <a16:creationId xmlns:a16="http://schemas.microsoft.com/office/drawing/2014/main" id="{821BD841-3834-4B64-9690-4420AB3FA748}"/>
              </a:ext>
            </a:extLst>
          </p:cNvPr>
          <p:cNvSpPr>
            <a:spLocks xmlns:a="http://schemas.openxmlformats.org/drawingml/2006/main" noGrp="1"/>
          </p:cNvSpPr>
          <p:nvPr/>
        </p:nvSpPr>
        <p:spPr>
          <a:xfrm xmlns:a="http://schemas.openxmlformats.org/drawingml/2006/main">
            <a:off x="685800" y="45148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7252B"/>
                </a:solidFill>
                <a:latin typeface="Avenir Next"/>
                <a:ea typeface="Avenir Next"/>
                <a:cs typeface="Avenir Next"/>
              </a:defRPr>
            </a:pPr>
            <a:r>
              <a:rPr sz="2325" b="0">
                <a:solidFill>
                  <a:srgbClr val="17252B"/>
                </a:solidFill>
                <a:latin typeface="Avenir Next"/>
                <a:ea typeface="Avenir Next"/>
                <a:cs typeface="Avenir Next"/>
              </a:rPr>
              <a:t>Different early ratings could lead Dossier toward different versions of someone’s taste.</a:t>
            </a:r>
          </a:p>
        </p:txBody>
      </p:sp>
      <p:sp>
        <p:nvSpPr>
          <p:cNvPr id="6" name="">
            <a:extLst xmlns:a="http://schemas.openxmlformats.org/drawingml/2006/main">
              <a:ext uri="{FF2B5EF4-FFF2-40B4-BE49-F238E27FC236}">
                <a16:creationId xmlns:a16="http://schemas.microsoft.com/office/drawing/2014/main" id="{FEE98AAB-A97F-4C08-97E6-81C82635B362}"/>
              </a:ext>
            </a:extLst>
          </p:cNvPr>
          <p:cNvSpPr>
            <a:spLocks xmlns:a="http://schemas.openxmlformats.org/drawingml/2006/main" noGrp="1"/>
          </p:cNvSpPr>
          <p:nvPr/>
        </p:nvSpPr>
        <p:spPr>
          <a:xfrm xmlns:a="http://schemas.openxmlformats.org/drawingml/2006/main">
            <a:off x="685800" y="570547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We needed to check whether those differences persist with real ratings.</a:t>
            </a:r>
          </a:p>
        </p:txBody>
      </p:sp>
    </p:spTree>
    <p:extLst>
      <p:ext uri="{BB962C8B-B14F-4D97-AF65-F5344CB8AC3E}">
        <p14:creationId xmlns:p14="http://schemas.microsoft.com/office/powerpoint/2010/main" val="1574251480"/>
      </p:ext>
    </p:extLst>
  </p:cSld>
</p:sld>
</file>

<file path=ppt/slides/slide13.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7F6C311-083A-467B-BE36-3A795803E482}"/>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Real films and real recorded ratings</a:t>
            </a:r>
          </a:p>
        </p:txBody>
      </p:sp>
      <p:sp>
        <p:nvSpPr>
          <p:cNvPr id="2" name="">
            <a:extLst xmlns:a="http://schemas.openxmlformats.org/drawingml/2006/main">
              <a:ext uri="{FF2B5EF4-FFF2-40B4-BE49-F238E27FC236}">
                <a16:creationId xmlns:a16="http://schemas.microsoft.com/office/drawing/2014/main" id="{F030D4D7-6EA5-4E45-AB4D-FE316AD61C3E}"/>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13</a:t>
            </a:r>
          </a:p>
        </p:txBody>
      </p:sp>
      <p:sp>
        <p:nvSpPr>
          <p:cNvPr id="3" name="">
            <a:extLst xmlns:a="http://schemas.openxmlformats.org/drawingml/2006/main">
              <a:ext uri="{FF2B5EF4-FFF2-40B4-BE49-F238E27FC236}">
                <a16:creationId xmlns:a16="http://schemas.microsoft.com/office/drawing/2014/main" id="{ED56B93C-67CC-45E3-9540-D964CEFAED8F}"/>
              </a:ext>
            </a:extLst>
          </p:cNvPr>
          <p:cNvSpPr>
            <a:spLocks xmlns:a="http://schemas.openxmlformats.org/drawingml/2006/main" noGrp="1"/>
          </p:cNvSpPr>
          <p:nvPr/>
        </p:nvSpPr>
        <p:spPr>
          <a:xfrm xmlns:a="http://schemas.openxmlformats.org/drawingml/2006/main">
            <a:off x="685800" y="2095500"/>
            <a:ext cx="5238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7252B"/>
                </a:solidFill>
                <a:latin typeface="Avenir Next"/>
                <a:ea typeface="Avenir Next"/>
                <a:cs typeface="Avenir Next"/>
              </a:defRPr>
            </a:pPr>
            <a:r>
              <a:rPr sz="2925" b="1">
                <a:solidFill>
                  <a:srgbClr val="17252B"/>
                </a:solidFill>
                <a:latin typeface="Avenir Next"/>
                <a:ea typeface="Avenir Next"/>
                <a:cs typeface="Avenir Next"/>
              </a:rPr>
              <a:t>31 viewers</a:t>
            </a:r>
          </a:p>
          <a:p xmlns:a="http://schemas.openxmlformats.org/drawingml/2006/main">
            <a:pPr>
              <a:defRPr sz="2925" b="1">
                <a:solidFill>
                  <a:srgbClr val="17252B"/>
                </a:solidFill>
                <a:latin typeface="Avenir Next"/>
                <a:ea typeface="Avenir Next"/>
                <a:cs typeface="Avenir Next"/>
              </a:defRPr>
            </a:pPr>
            <a:r>
              <a:rPr sz="2925" b="1">
                <a:solidFill>
                  <a:srgbClr val="17252B"/>
                </a:solidFill>
                <a:latin typeface="Avenir Next"/>
                <a:ea typeface="Avenir Next"/>
                <a:cs typeface="Avenir Next"/>
              </a:rPr>
              <a:t>1,736 films</a:t>
            </a:r>
          </a:p>
          <a:p xmlns:a="http://schemas.openxmlformats.org/drawingml/2006/main">
            <a:pPr>
              <a:defRPr sz="2925" b="1">
                <a:solidFill>
                  <a:srgbClr val="17252B"/>
                </a:solidFill>
                <a:latin typeface="Avenir Next"/>
                <a:ea typeface="Avenir Next"/>
                <a:cs typeface="Avenir Next"/>
              </a:defRPr>
            </a:pPr>
            <a:r>
              <a:rPr sz="2925" b="1">
                <a:solidFill>
                  <a:srgbClr val="17252B"/>
                </a:solidFill>
                <a:latin typeface="Avenir Next"/>
                <a:ea typeface="Avenir Next"/>
                <a:cs typeface="Avenir Next"/>
              </a:rPr>
              <a:t>60 hidden films per viewer</a:t>
            </a:r>
          </a:p>
        </p:txBody>
      </p:sp>
      <p:sp>
        <p:nvSpPr>
          <p:cNvPr id="4" name="">
            <a:extLst xmlns:a="http://schemas.openxmlformats.org/drawingml/2006/main">
              <a:ext uri="{FF2B5EF4-FFF2-40B4-BE49-F238E27FC236}">
                <a16:creationId xmlns:a16="http://schemas.microsoft.com/office/drawing/2014/main" id="{EBFC24D7-7F7C-4129-880E-16F174240F13}"/>
              </a:ext>
            </a:extLst>
          </p:cNvPr>
          <p:cNvSpPr>
            <a:spLocks xmlns:a="http://schemas.openxmlformats.org/drawingml/2006/main" noGrp="1"/>
          </p:cNvSpPr>
          <p:nvPr/>
        </p:nvSpPr>
        <p:spPr>
          <a:xfrm xmlns:a="http://schemas.openxmlformats.org/drawingml/2006/main">
            <a:off x="6572250" y="2114550"/>
            <a:ext cx="4572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MovieLens is an archive of film ratings from real people. We used their recorded answers.</a:t>
            </a:r>
          </a:p>
        </p:txBody>
      </p:sp>
      <p:sp>
        <p:nvSpPr>
          <p:cNvPr id="5" name="">
            <a:extLst xmlns:a="http://schemas.openxmlformats.org/drawingml/2006/main">
              <a:ext uri="{FF2B5EF4-FFF2-40B4-BE49-F238E27FC236}">
                <a16:creationId xmlns:a16="http://schemas.microsoft.com/office/drawing/2014/main" id="{0E0F7871-498E-48D9-8FBD-8C046F83272E}"/>
              </a:ext>
            </a:extLst>
          </p:cNvPr>
          <p:cNvSpPr>
            <a:spLocks xmlns:a="http://schemas.openxmlformats.org/drawingml/2006/main" noGrp="1"/>
          </p:cNvSpPr>
          <p:nvPr/>
        </p:nvSpPr>
        <p:spPr>
          <a:xfrm xmlns:a="http://schemas.openxmlformats.org/drawingml/2006/main">
            <a:off x="6572250" y="3162300"/>
            <a:ext cx="4572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Dossier saw only the ratings we revealed.</a:t>
            </a:r>
          </a:p>
        </p:txBody>
      </p:sp>
      <p:sp>
        <p:nvSpPr>
          <p:cNvPr id="6" name="">
            <a:extLst xmlns:a="http://schemas.openxmlformats.org/drawingml/2006/main">
              <a:ext uri="{FF2B5EF4-FFF2-40B4-BE49-F238E27FC236}">
                <a16:creationId xmlns:a16="http://schemas.microsoft.com/office/drawing/2014/main" id="{29EE70DF-0110-4522-8317-699D404678F2}"/>
              </a:ext>
            </a:extLst>
          </p:cNvPr>
          <p:cNvSpPr>
            <a:spLocks xmlns:a="http://schemas.openxmlformats.org/drawingml/2006/main" noGrp="1"/>
          </p:cNvSpPr>
          <p:nvPr/>
        </p:nvSpPr>
        <p:spPr>
          <a:xfrm xmlns:a="http://schemas.openxmlformats.org/drawingml/2006/main">
            <a:off x="6572250" y="4210050"/>
            <a:ext cx="4572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Each person supplied ratings in four different orders.</a:t>
            </a:r>
          </a:p>
        </p:txBody>
      </p:sp>
      <p:sp>
        <p:nvSpPr>
          <p:cNvPr id="7" name="">
            <a:extLst xmlns:a="http://schemas.openxmlformats.org/drawingml/2006/main">
              <a:ext uri="{FF2B5EF4-FFF2-40B4-BE49-F238E27FC236}">
                <a16:creationId xmlns:a16="http://schemas.microsoft.com/office/drawing/2014/main" id="{B7D5799C-14ED-4A9B-9157-C40A80BD6C5E}"/>
              </a:ext>
            </a:extLst>
          </p:cNvPr>
          <p:cNvSpPr>
            <a:spLocks xmlns:a="http://schemas.openxmlformats.org/drawingml/2006/main" noGrp="1"/>
          </p:cNvSpPr>
          <p:nvPr/>
        </p:nvSpPr>
        <p:spPr>
          <a:xfrm xmlns:a="http://schemas.openxmlformats.org/drawingml/2006/main">
            <a:off x="685800" y="56769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The personal answers now came from people, independently of Dossier’s film descriptions.</a:t>
            </a:r>
          </a:p>
        </p:txBody>
      </p:sp>
    </p:spTree>
    <p:extLst>
      <p:ext uri="{BB962C8B-B14F-4D97-AF65-F5344CB8AC3E}">
        <p14:creationId xmlns:p14="http://schemas.microsoft.com/office/powerpoint/2010/main" val="1084002664"/>
      </p:ext>
    </p:extLst>
  </p:cSld>
</p:sld>
</file>

<file path=ppt/slides/slide14.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D1FBDAD-A44B-413E-9E06-373AA6B630C3}"/>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Public reviews beat the current model</a:t>
            </a:r>
          </a:p>
        </p:txBody>
      </p:sp>
      <p:sp>
        <p:nvSpPr>
          <p:cNvPr id="2" name="">
            <a:extLst xmlns:a="http://schemas.openxmlformats.org/drawingml/2006/main">
              <a:ext uri="{FF2B5EF4-FFF2-40B4-BE49-F238E27FC236}">
                <a16:creationId xmlns:a16="http://schemas.microsoft.com/office/drawing/2014/main" id="{5F4399E6-1287-4EFE-B6BD-91B315322888}"/>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Real viewers with the original bundled film descriptions, after 20 ratings</a:t>
            </a:r>
          </a:p>
        </p:txBody>
      </p:sp>
      <p:sp>
        <p:nvSpPr>
          <p:cNvPr id="3" name="">
            <a:extLst xmlns:a="http://schemas.openxmlformats.org/drawingml/2006/main">
              <a:ext uri="{FF2B5EF4-FFF2-40B4-BE49-F238E27FC236}">
                <a16:creationId xmlns:a16="http://schemas.microsoft.com/office/drawing/2014/main" id="{5A02F88D-61C3-4C96-BACF-B6BB52383159}"/>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14</a:t>
            </a:r>
          </a:p>
        </p:txBody>
      </p:sp>
      <p:graphicFrame>
        <p:nvGraphicFramePr>
          <p:cNvPr id="9" name=""/>
          <p:cNvGraphicFramePr/>
          <p:nvPr/>
        </p:nvGraphicFramePr>
        <p:xfrm>
          <a:off xmlns:a="http://schemas.openxmlformats.org/drawingml/2006/main" x="685800" y="2143125"/>
          <a:ext xmlns:a="http://schemas.openxmlformats.org/drawingml/2006/main" cx="10820400" cy="2857500"/>
        </p:xfrm>
        <a:graphic xmlns:a="http://schemas.openxmlformats.org/drawingml/2006/main">
          <a:graphicData uri="http://schemas.openxmlformats.org/drawingml/2006/table">
            <a:tbl>
              <a:tblPr firstRow="0" bandRow="0"/>
              <a:tblGrid>
                <a:gridCol w="5010150"/>
                <a:gridCol w="2619375"/>
                <a:gridCol w="3190875"/>
              </a:tblGrid>
              <a:tr h="571500">
                <a:tc>
                  <a:txBody>
                    <a:bodyPr lIns="114300" tIns="19050" rIns="114300" bIns="19050">
                      <a:noAutofit/>
                    </a:bodyPr>
                    <a:lstStyle/>
                    <a:p>
                      <a:r>
                        <a:rPr sz="1875" b="1">
                          <a:solidFill>
                            <a:srgbClr val="F2EFE8"/>
                          </a:solidFill>
                          <a:latin typeface="Avenir Next"/>
                          <a:ea typeface="Avenir Next"/>
                          <a:cs typeface="Avenir Next"/>
                        </a:rPr>
                        <a:t>Ranking method</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Ordering score</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Liked films per ten</a:t>
                      </a:r>
                    </a:p>
                  </a:txBody>
                  <a:tcPr marL="91440" marR="91440" marT="45720" marB="45720" anchor="ctr">
                    <a:solidFill>
                      <a:srgbClr val="17252B"/>
                    </a:solidFill>
                  </a:tcPr>
                </a:tc>
              </a:tr>
              <a:tr h="571500">
                <a:tc>
                  <a:txBody>
                    <a:bodyPr lIns="114300" tIns="19050" rIns="114300" bIns="19050">
                      <a:noAutofit/>
                    </a:bodyPr>
                    <a:lstStyle/>
                    <a:p>
                      <a:r>
                        <a:rPr sz="1875" b="1">
                          <a:solidFill>
                            <a:srgbClr val="17252B"/>
                          </a:solidFill>
                          <a:latin typeface="Avenir Next"/>
                          <a:ea typeface="Avenir Next"/>
                          <a:cs typeface="Avenir Next"/>
                        </a:rPr>
                        <a:t>Current Dossier</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61.1%</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4.63</a:t>
                      </a:r>
                    </a:p>
                  </a:txBody>
                  <a:tcPr marL="91440" marR="91440" marT="45720" marB="45720" anchor="ctr">
                    <a:solidFill>
                      <a:srgbClr val="F2EFE8"/>
                    </a:solidFill>
                  </a:tcPr>
                </a:tc>
              </a:tr>
              <a:tr h="571500">
                <a:tc>
                  <a:txBody>
                    <a:bodyPr lIns="114300" tIns="19050" rIns="114300" bIns="19050">
                      <a:noAutofit/>
                    </a:bodyPr>
                    <a:lstStyle/>
                    <a:p>
                      <a:r>
                        <a:rPr sz="1875" b="1">
                          <a:solidFill>
                            <a:srgbClr val="17252B"/>
                          </a:solidFill>
                          <a:latin typeface="Avenir Next"/>
                          <a:ea typeface="Avenir Next"/>
                          <a:cs typeface="Avenir Next"/>
                        </a:rPr>
                        <a:t>Public reviews</a:t>
                      </a:r>
                    </a:p>
                  </a:txBody>
                  <a:tcPr marL="91440" marR="91440" marT="45720" marB="45720" anchor="ctr">
                    <a:solidFill>
                      <a:srgbClr val="E4ECE7"/>
                    </a:solidFill>
                  </a:tcPr>
                </a:tc>
                <a:tc>
                  <a:txBody>
                    <a:bodyPr lIns="114300" tIns="19050" rIns="114300" bIns="19050">
                      <a:noAutofit/>
                    </a:bodyPr>
                    <a:lstStyle/>
                    <a:p>
                      <a:r>
                        <a:rPr sz="1875" b="1">
                          <a:solidFill>
                            <a:srgbClr val="17252B"/>
                          </a:solidFill>
                          <a:latin typeface="Avenir Next"/>
                          <a:ea typeface="Avenir Next"/>
                          <a:cs typeface="Avenir Next"/>
                        </a:rPr>
                        <a:t>82.3%</a:t>
                      </a:r>
                    </a:p>
                  </a:txBody>
                  <a:tcPr marL="91440" marR="91440" marT="45720" marB="45720" anchor="ctr">
                    <a:solidFill>
                      <a:srgbClr val="E4ECE7"/>
                    </a:solidFill>
                  </a:tcPr>
                </a:tc>
                <a:tc>
                  <a:txBody>
                    <a:bodyPr lIns="114300" tIns="19050" rIns="114300" bIns="19050">
                      <a:noAutofit/>
                    </a:bodyPr>
                    <a:lstStyle/>
                    <a:p>
                      <a:r>
                        <a:rPr sz="1875" b="1">
                          <a:solidFill>
                            <a:srgbClr val="17252B"/>
                          </a:solidFill>
                          <a:latin typeface="Avenir Next"/>
                          <a:ea typeface="Avenir Next"/>
                          <a:cs typeface="Avenir Next"/>
                        </a:rPr>
                        <a:t>6.52</a:t>
                      </a:r>
                    </a:p>
                  </a:txBody>
                  <a:tcPr marL="91440" marR="91440" marT="45720" marB="45720" anchor="ctr">
                    <a:solidFill>
                      <a:srgbClr val="E4ECE7"/>
                    </a:solidFill>
                  </a:tcPr>
                </a:tc>
              </a:tr>
              <a:tr h="571500">
                <a:tc>
                  <a:txBody>
                    <a:bodyPr lIns="114300" tIns="19050" rIns="114300" bIns="19050">
                      <a:noAutofit/>
                    </a:bodyPr>
                    <a:lstStyle/>
                    <a:p>
                      <a:r>
                        <a:rPr sz="1875" b="1">
                          <a:solidFill>
                            <a:srgbClr val="17252B"/>
                          </a:solidFill>
                          <a:latin typeface="Avenir Next"/>
                          <a:ea typeface="Avenir Next"/>
                          <a:cs typeface="Avenir Next"/>
                        </a:rPr>
                        <a:t>Popularity</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73.6%</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6.29</a:t>
                      </a:r>
                    </a:p>
                  </a:txBody>
                  <a:tcPr marL="91440" marR="91440" marT="45720" marB="45720" anchor="ctr">
                    <a:solidFill>
                      <a:srgbClr val="F2EFE8"/>
                    </a:solidFill>
                  </a:tcPr>
                </a:tc>
              </a:tr>
              <a:tr h="571500">
                <a:tc>
                  <a:txBody>
                    <a:bodyPr lIns="114300" tIns="19050" rIns="114300" bIns="19050">
                      <a:noAutofit/>
                    </a:bodyPr>
                    <a:lstStyle/>
                    <a:p>
                      <a:r>
                        <a:rPr sz="1875" b="1">
                          <a:solidFill>
                            <a:srgbClr val="17252B"/>
                          </a:solidFill>
                          <a:latin typeface="Avenir Next"/>
                          <a:ea typeface="Avenir Next"/>
                          <a:cs typeface="Avenir Next"/>
                        </a:rPr>
                        <a:t>Match similar rated films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57.1%</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4.17</a:t>
                      </a:r>
                    </a:p>
                  </a:txBody>
                  <a:tcPr marL="91440" marR="91440" marT="45720" marB="45720" anchor="ctr">
                    <a:solidFill>
                      <a:srgbClr val="F2EFE8"/>
                    </a:solidFill>
                  </a:tcPr>
                </a:tc>
              </a:tr>
            </a:tbl>
          </a:graphicData>
        </a:graphic>
      </p:graphicFrame>
      <p:sp>
        <p:nvSpPr>
          <p:cNvPr id="5" name="">
            <a:extLst xmlns:a="http://schemas.openxmlformats.org/drawingml/2006/main">
              <a:ext uri="{FF2B5EF4-FFF2-40B4-BE49-F238E27FC236}">
                <a16:creationId xmlns:a16="http://schemas.microsoft.com/office/drawing/2014/main" id="{946CBEA2-60F1-4F8B-B7BB-790EE680E3A6}"/>
              </a:ext>
            </a:extLst>
          </p:cNvPr>
          <p:cNvSpPr>
            <a:spLocks xmlns:a="http://schemas.openxmlformats.org/drawingml/2006/main" noGrp="1"/>
          </p:cNvSpPr>
          <p:nvPr/>
        </p:nvSpPr>
        <p:spPr>
          <a:xfrm xmlns:a="http://schemas.openxmlformats.org/drawingml/2006/main">
            <a:off x="685800" y="55435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Public reviews found almost two more liked films per ten than current Dossier.</a:t>
            </a:r>
          </a:p>
        </p:txBody>
      </p:sp>
    </p:spTree>
    <p:extLst>
      <p:ext uri="{BB962C8B-B14F-4D97-AF65-F5344CB8AC3E}">
        <p14:creationId xmlns:p14="http://schemas.microsoft.com/office/powerpoint/2010/main" val="716210543"/>
      </p:ext>
    </p:extLst>
  </p:cSld>
</p:sld>
</file>

<file path=ppt/slides/slide15.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5A40B4F-0CCB-4AAC-BF5D-F16B12E672DE}"/>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Better film information did not close the gap</a:t>
            </a:r>
          </a:p>
        </p:txBody>
      </p:sp>
      <p:sp>
        <p:nvSpPr>
          <p:cNvPr id="2" name="">
            <a:extLst xmlns:a="http://schemas.openxmlformats.org/drawingml/2006/main">
              <a:ext uri="{FF2B5EF4-FFF2-40B4-BE49-F238E27FC236}">
                <a16:creationId xmlns:a16="http://schemas.microsoft.com/office/drawing/2014/main" id="{23D4BAF8-F7D8-40DF-AE32-8B0BC2539EFE}"/>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TMDB is a public database of film details and audience ratings.</a:t>
            </a:r>
          </a:p>
        </p:txBody>
      </p:sp>
      <p:sp>
        <p:nvSpPr>
          <p:cNvPr id="3" name="">
            <a:extLst xmlns:a="http://schemas.openxmlformats.org/drawingml/2006/main">
              <a:ext uri="{FF2B5EF4-FFF2-40B4-BE49-F238E27FC236}">
                <a16:creationId xmlns:a16="http://schemas.microsoft.com/office/drawing/2014/main" id="{8C633739-DB36-4DA5-8A0E-C812180C1056}"/>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15</a:t>
            </a:r>
          </a:p>
        </p:txBody>
      </p:sp>
      <p:graphicFrame>
        <p:nvGraphicFramePr>
          <p:cNvPr id="10" name=""/>
          <p:cNvGraphicFramePr/>
          <p:nvPr/>
        </p:nvGraphicFramePr>
        <p:xfrm>
          <a:off xmlns:a="http://schemas.openxmlformats.org/drawingml/2006/main" x="685800" y="2095500"/>
          <a:ext xmlns:a="http://schemas.openxmlformats.org/drawingml/2006/main" cx="10820400" cy="2238375"/>
        </p:xfrm>
        <a:graphic xmlns:a="http://schemas.openxmlformats.org/drawingml/2006/main">
          <a:graphicData uri="http://schemas.openxmlformats.org/drawingml/2006/table">
            <a:tbl>
              <a:tblPr firstRow="0" bandRow="0"/>
              <a:tblGrid>
                <a:gridCol w="4381500"/>
                <a:gridCol w="3219450"/>
                <a:gridCol w="3219450"/>
              </a:tblGrid>
              <a:tr h="746125">
                <a:tc>
                  <a:txBody>
                    <a:bodyPr lIns="114300" tIns="19050" rIns="114300" bIns="19050">
                      <a:noAutofit/>
                    </a:bodyPr>
                    <a:lstStyle/>
                    <a:p>
                      <a:r>
                        <a:rPr sz="1875" b="1">
                          <a:solidFill>
                            <a:srgbClr val="F2EFE8"/>
                          </a:solidFill>
                          <a:latin typeface="Avenir Next"/>
                          <a:ea typeface="Avenir Next"/>
                          <a:cs typeface="Avenir Next"/>
                        </a:rPr>
                        <a:t>After 20 ratings</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Bundled descriptions</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Updated TMDB details</a:t>
                      </a:r>
                    </a:p>
                  </a:txBody>
                  <a:tcPr marL="91440" marR="91440" marT="45720" marB="45720" anchor="ctr">
                    <a:solidFill>
                      <a:srgbClr val="17252B"/>
                    </a:solidFill>
                  </a:tcPr>
                </a:tc>
              </a:tr>
              <a:tr h="746125">
                <a:tc>
                  <a:txBody>
                    <a:bodyPr lIns="114300" tIns="19050" rIns="114300" bIns="19050">
                      <a:noAutofit/>
                    </a:bodyPr>
                    <a:lstStyle/>
                    <a:p>
                      <a:r>
                        <a:rPr sz="1875" b="1">
                          <a:solidFill>
                            <a:srgbClr val="17252B"/>
                          </a:solidFill>
                          <a:latin typeface="Avenir Next"/>
                          <a:ea typeface="Avenir Next"/>
                          <a:cs typeface="Avenir Next"/>
                        </a:rPr>
                        <a:t>Current Dossier</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61.1%</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59.2%</a:t>
                      </a:r>
                    </a:p>
                  </a:txBody>
                  <a:tcPr marL="91440" marR="91440" marT="45720" marB="45720" anchor="ctr">
                    <a:solidFill>
                      <a:srgbClr val="F2EFE8"/>
                    </a:solidFill>
                  </a:tcPr>
                </a:tc>
              </a:tr>
              <a:tr h="746125">
                <a:tc>
                  <a:txBody>
                    <a:bodyPr lIns="114300" tIns="19050" rIns="114300" bIns="19050">
                      <a:noAutofit/>
                    </a:bodyPr>
                    <a:lstStyle/>
                    <a:p>
                      <a:r>
                        <a:rPr sz="1875" b="1">
                          <a:solidFill>
                            <a:srgbClr val="17252B"/>
                          </a:solidFill>
                          <a:latin typeface="Avenir Next"/>
                          <a:ea typeface="Avenir Next"/>
                          <a:cs typeface="Avenir Next"/>
                        </a:rPr>
                        <a:t>Public reviews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82.3%</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80.7%</a:t>
                      </a:r>
                    </a:p>
                  </a:txBody>
                  <a:tcPr marL="91440" marR="91440" marT="45720" marB="45720" anchor="ctr">
                    <a:solidFill>
                      <a:srgbClr val="F2EFE8"/>
                    </a:solidFill>
                  </a:tcPr>
                </a:tc>
              </a:tr>
            </a:tbl>
          </a:graphicData>
        </a:graphic>
      </p:graphicFrame>
      <p:sp>
        <p:nvSpPr>
          <p:cNvPr id="5" name="">
            <a:extLst xmlns:a="http://schemas.openxmlformats.org/drawingml/2006/main">
              <a:ext uri="{FF2B5EF4-FFF2-40B4-BE49-F238E27FC236}">
                <a16:creationId xmlns:a16="http://schemas.microsoft.com/office/drawing/2014/main" id="{A90A51A5-8FFE-4E6C-9E5C-827DA2D50333}"/>
              </a:ext>
            </a:extLst>
          </p:cNvPr>
          <p:cNvSpPr>
            <a:spLocks xmlns:a="http://schemas.openxmlformats.org/drawingml/2006/main" noGrp="1"/>
          </p:cNvSpPr>
          <p:nvPr/>
        </p:nvSpPr>
        <p:spPr>
          <a:xfrm xmlns:a="http://schemas.openxmlformats.org/drawingml/2006/main">
            <a:off x="685800" y="46767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The same people and hidden ratings remained in the test. We changed the public film information.</a:t>
            </a:r>
          </a:p>
        </p:txBody>
      </p:sp>
      <p:sp>
        <p:nvSpPr>
          <p:cNvPr id="6" name="">
            <a:extLst xmlns:a="http://schemas.openxmlformats.org/drawingml/2006/main">
              <a:ext uri="{FF2B5EF4-FFF2-40B4-BE49-F238E27FC236}">
                <a16:creationId xmlns:a16="http://schemas.microsoft.com/office/drawing/2014/main" id="{1934940A-2E78-42ED-9C19-1BA615264FCC}"/>
              </a:ext>
            </a:extLst>
          </p:cNvPr>
          <p:cNvSpPr>
            <a:spLocks xmlns:a="http://schemas.openxmlformats.org/drawingml/2006/main" noGrp="1"/>
          </p:cNvSpPr>
          <p:nvPr/>
        </p:nvSpPr>
        <p:spPr>
          <a:xfrm xmlns:a="http://schemas.openxmlformats.org/drawingml/2006/main">
            <a:off x="685800" y="57340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Missing film details were not enough to explain the weak recommendations.</a:t>
            </a:r>
          </a:p>
        </p:txBody>
      </p:sp>
    </p:spTree>
    <p:extLst>
      <p:ext uri="{BB962C8B-B14F-4D97-AF65-F5344CB8AC3E}">
        <p14:creationId xmlns:p14="http://schemas.microsoft.com/office/powerpoint/2010/main" val="1321386825"/>
      </p:ext>
    </p:extLst>
  </p:cSld>
</p:sld>
</file>

<file path=ppt/slides/slide16.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DD894A2-1842-42F4-8A57-E5734BF244EB}"/>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More ratings helped slowly on average</a:t>
            </a:r>
          </a:p>
        </p:txBody>
      </p:sp>
      <p:sp>
        <p:nvSpPr>
          <p:cNvPr id="2" name="">
            <a:extLst xmlns:a="http://schemas.openxmlformats.org/drawingml/2006/main">
              <a:ext uri="{FF2B5EF4-FFF2-40B4-BE49-F238E27FC236}">
                <a16:creationId xmlns:a16="http://schemas.microsoft.com/office/drawing/2014/main" id="{5B87BF3B-000A-4417-AAE2-27F2BED36C22}"/>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The fixed TMDB comparison test, 31 viewers</a:t>
            </a:r>
          </a:p>
        </p:txBody>
      </p:sp>
      <p:sp>
        <p:nvSpPr>
          <p:cNvPr id="3" name="">
            <a:extLst xmlns:a="http://schemas.openxmlformats.org/drawingml/2006/main">
              <a:ext uri="{FF2B5EF4-FFF2-40B4-BE49-F238E27FC236}">
                <a16:creationId xmlns:a16="http://schemas.microsoft.com/office/drawing/2014/main" id="{2E1F9F8D-212C-4F7D-929F-E21ECD83BCE6}"/>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16</a:t>
            </a:r>
          </a:p>
        </p:txBody>
      </p:sp>
      <p:graphicFrame>
        <p:nvGraphicFramePr>
          <p:cNvPr id="9" name="Chart"/>
          <p:cNvGraphicFramePr/>
          <p:nvPr/>
        </p:nvGraphicFramePr>
        <p:xfrm>
          <a:off xmlns:a="http://schemas.openxmlformats.org/drawingml/2006/main" x="714375" y="2143125"/>
          <a:ext xmlns:a="http://schemas.openxmlformats.org/drawingml/2006/main" cx="10668000" cy="3048000"/>
        </p:xfrm>
        <a:graphic xmlns:a="http://schemas.openxmlformats.org/drawingml/2006/main">
          <a:graphicData uri="http://schemas.openxmlformats.org/drawingml/2006/chart">
            <c:chart xmlns:r="http://schemas.openxmlformats.org/officeDocument/2006/relationships" xmlns:c="http://schemas.openxmlformats.org/drawingml/2006/chart" r:id="R25955d36cd9a4600"/>
          </a:graphicData>
        </a:graphic>
      </p:graphicFrame>
      <p:sp>
        <p:nvSpPr>
          <p:cNvPr id="5" name="">
            <a:extLst xmlns:a="http://schemas.openxmlformats.org/drawingml/2006/main">
              <a:ext uri="{FF2B5EF4-FFF2-40B4-BE49-F238E27FC236}">
                <a16:creationId xmlns:a16="http://schemas.microsoft.com/office/drawing/2014/main" id="{B9E688C5-1923-4EC8-A169-CB843E7FF018}"/>
              </a:ext>
            </a:extLst>
          </p:cNvPr>
          <p:cNvSpPr>
            <a:spLocks xmlns:a="http://schemas.openxmlformats.org/drawingml/2006/main" noGrp="1"/>
          </p:cNvSpPr>
          <p:nvPr/>
        </p:nvSpPr>
        <p:spPr>
          <a:xfrm xmlns:a="http://schemas.openxmlformats.org/drawingml/2006/main">
            <a:off x="685800" y="566737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35 of 124 sessions got worse between 10 and 40 ratings. The average hides those losses.</a:t>
            </a:r>
          </a:p>
        </p:txBody>
      </p:sp>
    </p:spTree>
    <p:extLst>
      <p:ext uri="{BB962C8B-B14F-4D97-AF65-F5344CB8AC3E}">
        <p14:creationId xmlns:p14="http://schemas.microsoft.com/office/powerpoint/2010/main" val="1305730182"/>
      </p:ext>
    </p:extLst>
  </p:cSld>
</p:sld>
</file>

<file path=ppt/slides/slide17.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85DE354-68CA-417B-B1C8-91887B706FE3}"/>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Claims often corrected, but rankings still failed</a:t>
            </a:r>
          </a:p>
        </p:txBody>
      </p:sp>
      <p:sp>
        <p:nvSpPr>
          <p:cNvPr id="2" name="">
            <a:extLst xmlns:a="http://schemas.openxmlformats.org/drawingml/2006/main">
              <a:ext uri="{FF2B5EF4-FFF2-40B4-BE49-F238E27FC236}">
                <a16:creationId xmlns:a16="http://schemas.microsoft.com/office/drawing/2014/main" id="{AF5865D7-B176-47AC-97E7-E65D24F1105A}"/>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17</a:t>
            </a:r>
          </a:p>
        </p:txBody>
      </p:sp>
      <p:sp>
        <p:nvSpPr>
          <p:cNvPr id="3" name="">
            <a:extLst xmlns:a="http://schemas.openxmlformats.org/drawingml/2006/main">
              <a:ext uri="{FF2B5EF4-FFF2-40B4-BE49-F238E27FC236}">
                <a16:creationId xmlns:a16="http://schemas.microsoft.com/office/drawing/2014/main" id="{A217A762-E67B-482A-9159-956B1D5FDFE5}"/>
              </a:ext>
            </a:extLst>
          </p:cNvPr>
          <p:cNvSpPr>
            <a:spLocks xmlns:a="http://schemas.openxmlformats.org/drawingml/2006/main" noGrp="1"/>
          </p:cNvSpPr>
          <p:nvPr/>
        </p:nvSpPr>
        <p:spPr>
          <a:xfrm xmlns:a="http://schemas.openxmlformats.org/drawingml/2006/main">
            <a:off x="685800" y="2095500"/>
            <a:ext cx="619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250" b="1">
                <a:solidFill>
                  <a:srgbClr val="397564"/>
                </a:solidFill>
                <a:latin typeface="Avenir Next"/>
                <a:ea typeface="Avenir Next"/>
                <a:cs typeface="Avenir Next"/>
              </a:defRPr>
            </a:pPr>
            <a:r>
              <a:rPr sz="5250" b="1">
                <a:solidFill>
                  <a:srgbClr val="397564"/>
                </a:solidFill>
                <a:latin typeface="Avenir Next"/>
                <a:ea typeface="Avenir Next"/>
                <a:cs typeface="Avenir Next"/>
              </a:rPr>
              <a:t>26 of 28</a:t>
            </a:r>
          </a:p>
        </p:txBody>
      </p:sp>
      <p:sp>
        <p:nvSpPr>
          <p:cNvPr id="4" name="">
            <a:extLst xmlns:a="http://schemas.openxmlformats.org/drawingml/2006/main">
              <a:ext uri="{FF2B5EF4-FFF2-40B4-BE49-F238E27FC236}">
                <a16:creationId xmlns:a16="http://schemas.microsoft.com/office/drawing/2014/main" id="{E5E0783A-6D4C-42AE-85A8-85F0A36179AE}"/>
              </a:ext>
            </a:extLst>
          </p:cNvPr>
          <p:cNvSpPr>
            <a:spLocks xmlns:a="http://schemas.openxmlformats.org/drawingml/2006/main" noGrp="1"/>
          </p:cNvSpPr>
          <p:nvPr/>
        </p:nvSpPr>
        <p:spPr>
          <a:xfrm xmlns:a="http://schemas.openxmlformats.org/drawingml/2006/main">
            <a:off x="685800" y="3152775"/>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7252B"/>
                </a:solidFill>
                <a:latin typeface="Avenir Next"/>
                <a:ea typeface="Avenir Next"/>
                <a:cs typeface="Avenir Next"/>
              </a:defRPr>
            </a:pPr>
            <a:r>
              <a:rPr sz="2400" b="0">
                <a:solidFill>
                  <a:srgbClr val="17252B"/>
                </a:solidFill>
                <a:latin typeface="Avenir Next"/>
                <a:ea typeface="Avenir Next"/>
                <a:cs typeface="Avenir Next"/>
              </a:rPr>
              <a:t>wrong early claims corrected after contradictory real ratings</a:t>
            </a:r>
          </a:p>
        </p:txBody>
      </p:sp>
      <p:sp>
        <p:nvSpPr>
          <p:cNvPr id="5" name="">
            <a:extLst xmlns:a="http://schemas.openxmlformats.org/drawingml/2006/main">
              <a:ext uri="{FF2B5EF4-FFF2-40B4-BE49-F238E27FC236}">
                <a16:creationId xmlns:a16="http://schemas.microsoft.com/office/drawing/2014/main" id="{250911DA-DF19-4C26-93DD-C465FF3E95DB}"/>
              </a:ext>
            </a:extLst>
          </p:cNvPr>
          <p:cNvSpPr>
            <a:spLocks xmlns:a="http://schemas.openxmlformats.org/drawingml/2006/main" noGrp="1"/>
          </p:cNvSpPr>
          <p:nvPr/>
        </p:nvSpPr>
        <p:spPr>
          <a:xfrm xmlns:a="http://schemas.openxmlformats.org/drawingml/2006/main">
            <a:off x="685800" y="449580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Two cases went too far. Three other viewers never formed a wrong claim in the first place.</a:t>
            </a:r>
          </a:p>
        </p:txBody>
      </p:sp>
      <p:sp>
        <p:nvSpPr>
          <p:cNvPr id="6" name="">
            <a:extLst xmlns:a="http://schemas.openxmlformats.org/drawingml/2006/main">
              <a:ext uri="{FF2B5EF4-FFF2-40B4-BE49-F238E27FC236}">
                <a16:creationId xmlns:a16="http://schemas.microsoft.com/office/drawing/2014/main" id="{0424E680-7F7A-4C43-A90D-637EB270A7A6}"/>
              </a:ext>
            </a:extLst>
          </p:cNvPr>
          <p:cNvSpPr>
            <a:spLocks xmlns:a="http://schemas.openxmlformats.org/drawingml/2006/main" noGrp="1"/>
          </p:cNvSpPr>
          <p:nvPr/>
        </p:nvSpPr>
        <p:spPr>
          <a:xfrm xmlns:a="http://schemas.openxmlformats.org/drawingml/2006/main">
            <a:off x="685800" y="57150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Correcting a statement about taste does not guarantee better film recommendations.</a:t>
            </a:r>
          </a:p>
        </p:txBody>
      </p:sp>
    </p:spTree>
    <p:extLst>
      <p:ext uri="{BB962C8B-B14F-4D97-AF65-F5344CB8AC3E}">
        <p14:creationId xmlns:p14="http://schemas.microsoft.com/office/powerpoint/2010/main" val="2081939548"/>
      </p:ext>
    </p:extLst>
  </p:cSld>
</p:sld>
</file>

<file path=ppt/slides/slide18.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C659639-C82D-4AD5-9115-8F1320667696}"/>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Dossier’s questions did not teach it faster</a:t>
            </a:r>
          </a:p>
        </p:txBody>
      </p:sp>
      <p:sp>
        <p:nvSpPr>
          <p:cNvPr id="2" name="">
            <a:extLst xmlns:a="http://schemas.openxmlformats.org/drawingml/2006/main">
              <a:ext uri="{FF2B5EF4-FFF2-40B4-BE49-F238E27FC236}">
                <a16:creationId xmlns:a16="http://schemas.microsoft.com/office/drawing/2014/main" id="{4F1B1B6B-0BA6-4D5D-B6DD-B89DF0678508}"/>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The fixed TMDB comparison test, after 40 total ratings</a:t>
            </a:r>
          </a:p>
        </p:txBody>
      </p:sp>
      <p:sp>
        <p:nvSpPr>
          <p:cNvPr id="3" name="">
            <a:extLst xmlns:a="http://schemas.openxmlformats.org/drawingml/2006/main">
              <a:ext uri="{FF2B5EF4-FFF2-40B4-BE49-F238E27FC236}">
                <a16:creationId xmlns:a16="http://schemas.microsoft.com/office/drawing/2014/main" id="{CAA4E68E-ABAF-462B-A9BD-180D2F59D115}"/>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18</a:t>
            </a:r>
          </a:p>
        </p:txBody>
      </p:sp>
      <p:graphicFrame>
        <p:nvGraphicFramePr>
          <p:cNvPr id="10" name=""/>
          <p:cNvGraphicFramePr/>
          <p:nvPr/>
        </p:nvGraphicFramePr>
        <p:xfrm>
          <a:off xmlns:a="http://schemas.openxmlformats.org/drawingml/2006/main" x="685800" y="2095500"/>
          <a:ext xmlns:a="http://schemas.openxmlformats.org/drawingml/2006/main" cx="10820400" cy="2286000"/>
        </p:xfrm>
        <a:graphic xmlns:a="http://schemas.openxmlformats.org/drawingml/2006/main">
          <a:graphicData uri="http://schemas.openxmlformats.org/drawingml/2006/table">
            <a:tbl>
              <a:tblPr firstRow="0" bandRow="0"/>
              <a:tblGrid>
                <a:gridCol w="7810500"/>
                <a:gridCol w="3009900"/>
              </a:tblGrid>
              <a:tr h="762000">
                <a:tc>
                  <a:txBody>
                    <a:bodyPr lIns="114300" tIns="19050" rIns="114300" bIns="19050">
                      <a:noAutofit/>
                    </a:bodyPr>
                    <a:lstStyle/>
                    <a:p>
                      <a:r>
                        <a:rPr sz="1875" b="1">
                          <a:solidFill>
                            <a:srgbClr val="F2EFE8"/>
                          </a:solidFill>
                          <a:latin typeface="Avenir Next"/>
                          <a:ea typeface="Avenir Next"/>
                          <a:cs typeface="Avenir Next"/>
                        </a:rPr>
                        <a:t>Who chooses the next film?</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Ordering score</a:t>
                      </a:r>
                    </a:p>
                  </a:txBody>
                  <a:tcPr marL="91440" marR="91440" marT="45720" marB="45720" anchor="ctr">
                    <a:solidFill>
                      <a:srgbClr val="17252B"/>
                    </a:solidFill>
                  </a:tcPr>
                </a:tc>
              </a:tr>
              <a:tr h="762000">
                <a:tc>
                  <a:txBody>
                    <a:bodyPr lIns="114300" tIns="19050" rIns="114300" bIns="19050">
                      <a:noAutofit/>
                    </a:bodyPr>
                    <a:lstStyle/>
                    <a:p>
                      <a:r>
                        <a:rPr sz="1875" b="1">
                          <a:solidFill>
                            <a:srgbClr val="17252B"/>
                          </a:solidFill>
                          <a:latin typeface="Avenir Next"/>
                          <a:ea typeface="Avenir Next"/>
                          <a:cs typeface="Avenir Next"/>
                        </a:rPr>
                        <a:t>Dossier’s rating queue</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58.1%</a:t>
                      </a:r>
                    </a:p>
                  </a:txBody>
                  <a:tcPr marL="91440" marR="91440" marT="45720" marB="45720" anchor="ctr">
                    <a:solidFill>
                      <a:srgbClr val="F2EFE8"/>
                    </a:solidFill>
                  </a:tcPr>
                </a:tc>
              </a:tr>
              <a:tr h="762000">
                <a:tc>
                  <a:txBody>
                    <a:bodyPr lIns="114300" tIns="19050" rIns="114300" bIns="19050">
                      <a:noAutofit/>
                    </a:bodyPr>
                    <a:lstStyle/>
                    <a:p>
                      <a:r>
                        <a:rPr sz="1875" b="1">
                          <a:solidFill>
                            <a:srgbClr val="17252B"/>
                          </a:solidFill>
                          <a:latin typeface="Avenir Next"/>
                          <a:ea typeface="Avenir Next"/>
                          <a:cs typeface="Avenir Next"/>
                        </a:rPr>
                        <a:t>Random choice from reasonably popular films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61.9%</a:t>
                      </a:r>
                    </a:p>
                  </a:txBody>
                  <a:tcPr marL="91440" marR="91440" marT="45720" marB="45720" anchor="ctr">
                    <a:solidFill>
                      <a:srgbClr val="F2EFE8"/>
                    </a:solidFill>
                  </a:tcPr>
                </a:tc>
              </a:tr>
            </a:tbl>
          </a:graphicData>
        </a:graphic>
      </p:graphicFrame>
      <p:sp>
        <p:nvSpPr>
          <p:cNvPr id="5" name="">
            <a:extLst xmlns:a="http://schemas.openxmlformats.org/drawingml/2006/main">
              <a:ext uri="{FF2B5EF4-FFF2-40B4-BE49-F238E27FC236}">
                <a16:creationId xmlns:a16="http://schemas.microsoft.com/office/drawing/2014/main" id="{57019336-BFFC-4918-A774-F32C7A8CEA39}"/>
              </a:ext>
            </a:extLst>
          </p:cNvPr>
          <p:cNvSpPr>
            <a:spLocks xmlns:a="http://schemas.openxmlformats.org/drawingml/2006/main" noGrp="1"/>
          </p:cNvSpPr>
          <p:nvPr/>
        </p:nvSpPr>
        <p:spPr>
          <a:xfrm xmlns:a="http://schemas.openxmlformats.org/drawingml/2006/main">
            <a:off x="685800" y="4695825"/>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Both started with the same five ratings and used the same hidden films for scoring.</a:t>
            </a:r>
          </a:p>
        </p:txBody>
      </p:sp>
      <p:sp>
        <p:nvSpPr>
          <p:cNvPr id="6" name="">
            <a:extLst xmlns:a="http://schemas.openxmlformats.org/drawingml/2006/main">
              <a:ext uri="{FF2B5EF4-FFF2-40B4-BE49-F238E27FC236}">
                <a16:creationId xmlns:a16="http://schemas.microsoft.com/office/drawing/2014/main" id="{6C1662B6-835B-40B9-976B-9D1E83A53DB0}"/>
              </a:ext>
            </a:extLst>
          </p:cNvPr>
          <p:cNvSpPr>
            <a:spLocks xmlns:a="http://schemas.openxmlformats.org/drawingml/2006/main" noGrp="1"/>
          </p:cNvSpPr>
          <p:nvPr/>
        </p:nvSpPr>
        <p:spPr>
          <a:xfrm xmlns:a="http://schemas.openxmlformats.org/drawingml/2006/main">
            <a:off x="685800" y="57150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The current question strategy does not earn its complexity in this test.</a:t>
            </a:r>
          </a:p>
        </p:txBody>
      </p:sp>
    </p:spTree>
    <p:extLst>
      <p:ext uri="{BB962C8B-B14F-4D97-AF65-F5344CB8AC3E}">
        <p14:creationId xmlns:p14="http://schemas.microsoft.com/office/powerpoint/2010/main" val="1352937410"/>
      </p:ext>
    </p:extLst>
  </p:cSld>
</p:sld>
</file>

<file path=ppt/slides/slide19.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C0EC13D-8189-4F14-94BB-EAAE9348FD37}"/>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Damaged ratings usually damaged the result</a:t>
            </a:r>
          </a:p>
        </p:txBody>
      </p:sp>
      <p:sp>
        <p:nvSpPr>
          <p:cNvPr id="2" name="">
            <a:extLst xmlns:a="http://schemas.openxmlformats.org/drawingml/2006/main">
              <a:ext uri="{FF2B5EF4-FFF2-40B4-BE49-F238E27FC236}">
                <a16:creationId xmlns:a16="http://schemas.microsoft.com/office/drawing/2014/main" id="{A95D370F-55E1-4D3F-9B00-E34B0EB23B43}"/>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Change in ordering score in the fixed TMDB comparison test</a:t>
            </a:r>
          </a:p>
        </p:txBody>
      </p:sp>
      <p:sp>
        <p:nvSpPr>
          <p:cNvPr id="3" name="">
            <a:extLst xmlns:a="http://schemas.openxmlformats.org/drawingml/2006/main">
              <a:ext uri="{FF2B5EF4-FFF2-40B4-BE49-F238E27FC236}">
                <a16:creationId xmlns:a16="http://schemas.microsoft.com/office/drawing/2014/main" id="{B5D08EB3-93C8-4D55-9070-340352E1C3A5}"/>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19</a:t>
            </a:r>
          </a:p>
        </p:txBody>
      </p:sp>
      <p:graphicFrame>
        <p:nvGraphicFramePr>
          <p:cNvPr id="9" name=""/>
          <p:cNvGraphicFramePr/>
          <p:nvPr/>
        </p:nvGraphicFramePr>
        <p:xfrm>
          <a:off xmlns:a="http://schemas.openxmlformats.org/drawingml/2006/main" x="685800" y="2047875"/>
          <a:ext xmlns:a="http://schemas.openxmlformats.org/drawingml/2006/main" cx="10820400" cy="3571875"/>
        </p:xfrm>
        <a:graphic xmlns:a="http://schemas.openxmlformats.org/drawingml/2006/main">
          <a:graphicData uri="http://schemas.openxmlformats.org/drawingml/2006/table">
            <a:tbl>
              <a:tblPr firstRow="0" bandRow="0"/>
              <a:tblGrid>
                <a:gridCol w="8096250"/>
                <a:gridCol w="2724150"/>
              </a:tblGrid>
              <a:tr h="595313">
                <a:tc>
                  <a:txBody>
                    <a:bodyPr lIns="114300" tIns="19050" rIns="114300" bIns="19050">
                      <a:noAutofit/>
                    </a:bodyPr>
                    <a:lstStyle/>
                    <a:p>
                      <a:r>
                        <a:rPr sz="1875" b="1">
                          <a:solidFill>
                            <a:srgbClr val="F2EFE8"/>
                          </a:solidFill>
                          <a:latin typeface="Avenir Next"/>
                          <a:ea typeface="Avenir Next"/>
                          <a:cs typeface="Avenir Next"/>
                        </a:rPr>
                        <a:t>Damage to supplied evidence</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Average change</a:t>
                      </a:r>
                    </a:p>
                  </a:txBody>
                  <a:tcPr marL="91440" marR="91440" marT="45720" marB="45720" anchor="ctr">
                    <a:solidFill>
                      <a:srgbClr val="17252B"/>
                    </a:solidFill>
                  </a:tcPr>
                </a:tc>
              </a:tr>
              <a:tr h="595313">
                <a:tc>
                  <a:txBody>
                    <a:bodyPr lIns="114300" tIns="19050" rIns="114300" bIns="19050">
                      <a:noAutofit/>
                    </a:bodyPr>
                    <a:lstStyle/>
                    <a:p>
                      <a:r>
                        <a:rPr sz="1875" b="1">
                          <a:solidFill>
                            <a:srgbClr val="17252B"/>
                          </a:solidFill>
                          <a:latin typeface="Avenir Next"/>
                          <a:ea typeface="Avenir Next"/>
                          <a:cs typeface="Avenir Next"/>
                        </a:rPr>
                        <a:t>Reverse half the ratings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−6.9 points</a:t>
                      </a:r>
                    </a:p>
                  </a:txBody>
                  <a:tcPr marL="91440" marR="91440" marT="45720" marB="45720" anchor="ctr">
                    <a:solidFill>
                      <a:srgbClr val="F2EFE8"/>
                    </a:solidFill>
                  </a:tcPr>
                </a:tc>
              </a:tr>
              <a:tr h="595313">
                <a:tc>
                  <a:txBody>
                    <a:bodyPr lIns="114300" tIns="19050" rIns="114300" bIns="19050">
                      <a:noAutofit/>
                    </a:bodyPr>
                    <a:lstStyle/>
                    <a:p>
                      <a:r>
                        <a:rPr sz="1875" b="1">
                          <a:solidFill>
                            <a:srgbClr val="17252B"/>
                          </a:solidFill>
                          <a:latin typeface="Avenir Next"/>
                          <a:ea typeface="Avenir Next"/>
                          <a:cs typeface="Avenir Next"/>
                        </a:rPr>
                        <a:t>Shuffle ratings between films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−11.0 points</a:t>
                      </a:r>
                    </a:p>
                  </a:txBody>
                  <a:tcPr marL="91440" marR="91440" marT="45720" marB="45720" anchor="ctr">
                    <a:solidFill>
                      <a:srgbClr val="F2EFE8"/>
                    </a:solidFill>
                  </a:tcPr>
                </a:tc>
              </a:tr>
              <a:tr h="595313">
                <a:tc>
                  <a:txBody>
                    <a:bodyPr lIns="114300" tIns="19050" rIns="114300" bIns="19050">
                      <a:noAutofit/>
                    </a:bodyPr>
                    <a:lstStyle/>
                    <a:p>
                      <a:r>
                        <a:rPr sz="1875" b="1">
                          <a:solidFill>
                            <a:srgbClr val="17252B"/>
                          </a:solidFill>
                          <a:latin typeface="Avenir Next"/>
                          <a:ea typeface="Avenir Next"/>
                          <a:cs typeface="Avenir Next"/>
                        </a:rPr>
                        <a:t>Remove important ratings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−4.7 points</a:t>
                      </a:r>
                    </a:p>
                  </a:txBody>
                  <a:tcPr marL="91440" marR="91440" marT="45720" marB="45720" anchor="ctr">
                    <a:solidFill>
                      <a:srgbClr val="F2EFE8"/>
                    </a:solidFill>
                  </a:tcPr>
                </a:tc>
              </a:tr>
              <a:tr h="595313">
                <a:tc>
                  <a:txBody>
                    <a:bodyPr lIns="114300" tIns="19050" rIns="114300" bIns="19050">
                      <a:noAutofit/>
                    </a:bodyPr>
                    <a:lstStyle/>
                    <a:p>
                      <a:r>
                        <a:rPr sz="1875" b="1">
                          <a:solidFill>
                            <a:srgbClr val="17252B"/>
                          </a:solidFill>
                          <a:latin typeface="Avenir Next"/>
                          <a:ea typeface="Avenir Next"/>
                          <a:cs typeface="Avenir Next"/>
                        </a:rPr>
                        <a:t>Add contradictory ratings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−3.4 points</a:t>
                      </a:r>
                    </a:p>
                  </a:txBody>
                  <a:tcPr marL="91440" marR="91440" marT="45720" marB="45720" anchor="ctr">
                    <a:solidFill>
                      <a:srgbClr val="F2EFE8"/>
                    </a:solidFill>
                  </a:tcPr>
                </a:tc>
              </a:tr>
              <a:tr h="595313">
                <a:tc>
                  <a:txBody>
                    <a:bodyPr lIns="114300" tIns="19050" rIns="114300" bIns="19050">
                      <a:noAutofit/>
                    </a:bodyPr>
                    <a:lstStyle/>
                    <a:p>
                      <a:r>
                        <a:rPr sz="1875" b="1">
                          <a:solidFill>
                            <a:srgbClr val="17252B"/>
                          </a:solidFill>
                          <a:latin typeface="Avenir Next"/>
                          <a:ea typeface="Avenir Next"/>
                          <a:cs typeface="Avenir Next"/>
                        </a:rPr>
                        <a:t>Reduce 20 ratings to five</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−3.1 points</a:t>
                      </a:r>
                    </a:p>
                  </a:txBody>
                  <a:tcPr marL="91440" marR="91440" marT="45720" marB="45720" anchor="ctr">
                    <a:solidFill>
                      <a:srgbClr val="F2EFE8"/>
                    </a:solidFill>
                  </a:tcPr>
                </a:tc>
              </a:tr>
            </a:tbl>
          </a:graphicData>
        </a:graphic>
      </p:graphicFrame>
      <p:sp>
        <p:nvSpPr>
          <p:cNvPr id="5" name="">
            <a:extLst xmlns:a="http://schemas.openxmlformats.org/drawingml/2006/main">
              <a:ext uri="{FF2B5EF4-FFF2-40B4-BE49-F238E27FC236}">
                <a16:creationId xmlns:a16="http://schemas.microsoft.com/office/drawing/2014/main" id="{063A8654-A86E-443C-8DCD-39B64319C0E3}"/>
              </a:ext>
            </a:extLst>
          </p:cNvPr>
          <p:cNvSpPr>
            <a:spLocks xmlns:a="http://schemas.openxmlformats.org/drawingml/2006/main" noGrp="1"/>
          </p:cNvSpPr>
          <p:nvPr/>
        </p:nvSpPr>
        <p:spPr>
          <a:xfrm xmlns:a="http://schemas.openxmlformats.org/drawingml/2006/main">
            <a:off x="685800" y="580072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97564"/>
                </a:solidFill>
                <a:latin typeface="Avenir Next"/>
                <a:ea typeface="Avenir Next"/>
                <a:cs typeface="Avenir Next"/>
              </a:defRPr>
            </a:pPr>
            <a:r>
              <a:rPr sz="1875" b="1">
                <a:solidFill>
                  <a:srgbClr val="397564"/>
                </a:solidFill>
                <a:latin typeface="Avenir Next"/>
                <a:ea typeface="Avenir Next"/>
                <a:cs typeface="Avenir Next"/>
              </a:rPr>
              <a:t>The test reacts to bad evidence. Some individuals still improve when evidence gets worse.</a:t>
            </a:r>
          </a:p>
        </p:txBody>
      </p:sp>
    </p:spTree>
    <p:extLst>
      <p:ext uri="{BB962C8B-B14F-4D97-AF65-F5344CB8AC3E}">
        <p14:creationId xmlns:p14="http://schemas.microsoft.com/office/powerpoint/2010/main" val="1032986913"/>
      </p:ext>
    </p:extLst>
  </p:cSld>
</p:sld>
</file>

<file path=ppt/slides/slide20.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AE27926-AD28-4F18-8E6B-C3E8CA1F6385}"/>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Public reviews drove the strongest alternatives</a:t>
            </a:r>
          </a:p>
        </p:txBody>
      </p:sp>
      <p:sp>
        <p:nvSpPr>
          <p:cNvPr id="2" name="">
            <a:extLst xmlns:a="http://schemas.openxmlformats.org/drawingml/2006/main">
              <a:ext uri="{FF2B5EF4-FFF2-40B4-BE49-F238E27FC236}">
                <a16:creationId xmlns:a16="http://schemas.microsoft.com/office/drawing/2014/main" id="{12FBCE34-B013-45BF-B60C-308501FE9D1D}"/>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Same 31 viewers and hidden films, after 20 ratings</a:t>
            </a:r>
          </a:p>
        </p:txBody>
      </p:sp>
      <p:sp>
        <p:nvSpPr>
          <p:cNvPr id="3" name="">
            <a:extLst xmlns:a="http://schemas.openxmlformats.org/drawingml/2006/main">
              <a:ext uri="{FF2B5EF4-FFF2-40B4-BE49-F238E27FC236}">
                <a16:creationId xmlns:a16="http://schemas.microsoft.com/office/drawing/2014/main" id="{7B1808A1-0BA3-4823-B46D-EB823E5B2F9C}"/>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20</a:t>
            </a:r>
          </a:p>
        </p:txBody>
      </p:sp>
      <p:graphicFrame>
        <p:nvGraphicFramePr>
          <p:cNvPr id="9" name=""/>
          <p:cNvGraphicFramePr/>
          <p:nvPr/>
        </p:nvGraphicFramePr>
        <p:xfrm>
          <a:off xmlns:a="http://schemas.openxmlformats.org/drawingml/2006/main" x="685800" y="2057400"/>
          <a:ext xmlns:a="http://schemas.openxmlformats.org/drawingml/2006/main" cx="10820400" cy="3381375"/>
        </p:xfrm>
        <a:graphic xmlns:a="http://schemas.openxmlformats.org/drawingml/2006/main">
          <a:graphicData uri="http://schemas.openxmlformats.org/drawingml/2006/table">
            <a:tbl>
              <a:tblPr firstRow="0" bandRow="0"/>
              <a:tblGrid>
                <a:gridCol w="8096250"/>
                <a:gridCol w="2724150"/>
              </a:tblGrid>
              <a:tr h="563563">
                <a:tc>
                  <a:txBody>
                    <a:bodyPr lIns="114300" tIns="19050" rIns="114300" bIns="19050">
                      <a:noAutofit/>
                    </a:bodyPr>
                    <a:lstStyle/>
                    <a:p>
                      <a:r>
                        <a:rPr sz="1875" b="1">
                          <a:solidFill>
                            <a:srgbClr val="F2EFE8"/>
                          </a:solidFill>
                          <a:latin typeface="Avenir Next"/>
                          <a:ea typeface="Avenir Next"/>
                          <a:cs typeface="Avenir Next"/>
                        </a:rPr>
                        <a:t>Method</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Ordering score</a:t>
                      </a:r>
                    </a:p>
                  </a:txBody>
                  <a:tcPr marL="91440" marR="91440" marT="45720" marB="45720" anchor="ctr">
                    <a:solidFill>
                      <a:srgbClr val="17252B"/>
                    </a:solidFill>
                  </a:tcPr>
                </a:tc>
              </a:tr>
              <a:tr h="563563">
                <a:tc>
                  <a:txBody>
                    <a:bodyPr lIns="114300" tIns="19050" rIns="114300" bIns="19050">
                      <a:noAutofit/>
                    </a:bodyPr>
                    <a:lstStyle/>
                    <a:p>
                      <a:r>
                        <a:rPr sz="1875" b="1">
                          <a:solidFill>
                            <a:srgbClr val="17252B"/>
                          </a:solidFill>
                          <a:latin typeface="Avenir Next"/>
                          <a:ea typeface="Avenir Next"/>
                          <a:cs typeface="Avenir Next"/>
                        </a:rPr>
                        <a:t>Current Dossier</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59.2%</a:t>
                      </a:r>
                    </a:p>
                  </a:txBody>
                  <a:tcPr marL="91440" marR="91440" marT="45720" marB="45720" anchor="ctr">
                    <a:solidFill>
                      <a:srgbClr val="F2EFE8"/>
                    </a:solidFill>
                  </a:tcPr>
                </a:tc>
              </a:tr>
              <a:tr h="563563">
                <a:tc>
                  <a:txBody>
                    <a:bodyPr lIns="114300" tIns="19050" rIns="114300" bIns="19050">
                      <a:noAutofit/>
                    </a:bodyPr>
                    <a:lstStyle/>
                    <a:p>
                      <a:r>
                        <a:rPr sz="1875" b="1">
                          <a:solidFill>
                            <a:srgbClr val="17252B"/>
                          </a:solidFill>
                          <a:latin typeface="Avenir Next"/>
                          <a:ea typeface="Avenir Next"/>
                          <a:cs typeface="Avenir Next"/>
                        </a:rPr>
                        <a:t>Dossier without inferred claims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59.1%</a:t>
                      </a:r>
                    </a:p>
                  </a:txBody>
                  <a:tcPr marL="91440" marR="91440" marT="45720" marB="45720" anchor="ctr">
                    <a:solidFill>
                      <a:srgbClr val="F2EFE8"/>
                    </a:solidFill>
                  </a:tcPr>
                </a:tc>
              </a:tr>
              <a:tr h="563563">
                <a:tc>
                  <a:txBody>
                    <a:bodyPr lIns="114300" tIns="19050" rIns="114300" bIns="19050">
                      <a:noAutofit/>
                    </a:bodyPr>
                    <a:lstStyle/>
                    <a:p>
                      <a:r>
                        <a:rPr sz="1875" b="1">
                          <a:solidFill>
                            <a:srgbClr val="17252B"/>
                          </a:solidFill>
                          <a:latin typeface="Avenir Next"/>
                          <a:ea typeface="Avenir Next"/>
                          <a:cs typeface="Avenir Next"/>
                        </a:rPr>
                        <a:t>Dossier with much more weight on reviews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75.0%</a:t>
                      </a:r>
                    </a:p>
                  </a:txBody>
                  <a:tcPr marL="91440" marR="91440" marT="45720" marB="45720" anchor="ctr">
                    <a:solidFill>
                      <a:srgbClr val="F2EFE8"/>
                    </a:solidFill>
                  </a:tcPr>
                </a:tc>
              </a:tr>
              <a:tr h="563563">
                <a:tc>
                  <a:txBody>
                    <a:bodyPr lIns="114300" tIns="19050" rIns="114300" bIns="19050">
                      <a:noAutofit/>
                    </a:bodyPr>
                    <a:lstStyle/>
                    <a:p>
                      <a:r>
                        <a:rPr sz="1875" b="1">
                          <a:solidFill>
                            <a:srgbClr val="17252B"/>
                          </a:solidFill>
                          <a:latin typeface="Avenir Next"/>
                          <a:ea typeface="Avenir Next"/>
                          <a:cs typeface="Avenir Next"/>
                        </a:rPr>
                        <a:t>Public reviews alone</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80.7%</a:t>
                      </a:r>
                    </a:p>
                  </a:txBody>
                  <a:tcPr marL="91440" marR="91440" marT="45720" marB="45720" anchor="ctr">
                    <a:solidFill>
                      <a:srgbClr val="F2EFE8"/>
                    </a:solidFill>
                  </a:tcPr>
                </a:tc>
              </a:tr>
              <a:tr h="563563">
                <a:tc>
                  <a:txBody>
                    <a:bodyPr lIns="114300" tIns="19050" rIns="114300" bIns="19050">
                      <a:noAutofit/>
                    </a:bodyPr>
                    <a:lstStyle/>
                    <a:p>
                      <a:r>
                        <a:rPr sz="1875" b="1">
                          <a:solidFill>
                            <a:srgbClr val="17252B"/>
                          </a:solidFill>
                          <a:latin typeface="Avenir Next"/>
                          <a:ea typeface="Avenir Next"/>
                          <a:cs typeface="Avenir Next"/>
                        </a:rPr>
                        <a:t>75% reviews and 25% genre/tag matching</a:t>
                      </a:r>
                    </a:p>
                  </a:txBody>
                  <a:tcPr marL="91440" marR="91440" marT="45720" marB="45720" anchor="ctr">
                    <a:solidFill>
                      <a:srgbClr val="E4ECE7"/>
                    </a:solidFill>
                  </a:tcPr>
                </a:tc>
                <a:tc>
                  <a:txBody>
                    <a:bodyPr lIns="114300" tIns="19050" rIns="114300" bIns="19050">
                      <a:noAutofit/>
                    </a:bodyPr>
                    <a:lstStyle/>
                    <a:p>
                      <a:r>
                        <a:rPr sz="1875" b="1">
                          <a:solidFill>
                            <a:srgbClr val="17252B"/>
                          </a:solidFill>
                          <a:latin typeface="Avenir Next"/>
                          <a:ea typeface="Avenir Next"/>
                          <a:cs typeface="Avenir Next"/>
                        </a:rPr>
                        <a:t>81.3%</a:t>
                      </a:r>
                    </a:p>
                  </a:txBody>
                  <a:tcPr marL="91440" marR="91440" marT="45720" marB="45720" anchor="ctr">
                    <a:solidFill>
                      <a:srgbClr val="E4ECE7"/>
                    </a:solidFill>
                  </a:tcPr>
                </a:tc>
              </a:tr>
            </a:tbl>
          </a:graphicData>
        </a:graphic>
      </p:graphicFrame>
      <p:sp>
        <p:nvSpPr>
          <p:cNvPr id="5" name="">
            <a:extLst xmlns:a="http://schemas.openxmlformats.org/drawingml/2006/main">
              <a:ext uri="{FF2B5EF4-FFF2-40B4-BE49-F238E27FC236}">
                <a16:creationId xmlns:a16="http://schemas.microsoft.com/office/drawing/2014/main" id="{ECEC6334-BD53-462B-A45A-28ED2568647C}"/>
              </a:ext>
            </a:extLst>
          </p:cNvPr>
          <p:cNvSpPr>
            <a:spLocks xmlns:a="http://schemas.openxmlformats.org/drawingml/2006/main" noGrp="1"/>
          </p:cNvSpPr>
          <p:nvPr/>
        </p:nvSpPr>
        <p:spPr>
          <a:xfrm xmlns:a="http://schemas.openxmlformats.org/drawingml/2006/main">
            <a:off x="685800" y="57150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397564"/>
                </a:solidFill>
                <a:latin typeface="Avenir Next"/>
                <a:ea typeface="Avenir Next"/>
                <a:cs typeface="Avenir Next"/>
              </a:defRPr>
            </a:pPr>
            <a:r>
              <a:rPr sz="2100" b="1">
                <a:solidFill>
                  <a:srgbClr val="397564"/>
                </a:solidFill>
                <a:latin typeface="Avenir Next"/>
                <a:ea typeface="Avenir Next"/>
                <a:cs typeface="Avenir Next"/>
              </a:rPr>
              <a:t>The 0.6-point gain was small and exploratory. We needed a separate viewer check.</a:t>
            </a:r>
          </a:p>
        </p:txBody>
      </p:sp>
    </p:spTree>
    <p:extLst>
      <p:ext uri="{BB962C8B-B14F-4D97-AF65-F5344CB8AC3E}">
        <p14:creationId xmlns:p14="http://schemas.microsoft.com/office/powerpoint/2010/main" val="1346261625"/>
      </p:ext>
    </p:extLst>
  </p:cSld>
</p:sld>
</file>

<file path=ppt/slides/slide21.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4A83064-A36B-4D55-8C40-DAB9F795E71B}"/>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A small benefit repeated on 47 new viewers</a:t>
            </a:r>
          </a:p>
        </p:txBody>
      </p:sp>
      <p:sp>
        <p:nvSpPr>
          <p:cNvPr id="2" name="">
            <a:extLst xmlns:a="http://schemas.openxmlformats.org/drawingml/2006/main">
              <a:ext uri="{FF2B5EF4-FFF2-40B4-BE49-F238E27FC236}">
                <a16:creationId xmlns:a16="http://schemas.microsoft.com/office/drawing/2014/main" id="{0A180BC8-4058-4906-A36A-E9715C703A87}"/>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Same fixed 75/25 method, after 20 ratings</a:t>
            </a:r>
          </a:p>
        </p:txBody>
      </p:sp>
      <p:sp>
        <p:nvSpPr>
          <p:cNvPr id="3" name="">
            <a:extLst xmlns:a="http://schemas.openxmlformats.org/drawingml/2006/main">
              <a:ext uri="{FF2B5EF4-FFF2-40B4-BE49-F238E27FC236}">
                <a16:creationId xmlns:a16="http://schemas.microsoft.com/office/drawing/2014/main" id="{449E45FB-A605-4EF4-B573-8A3CD08DBF9D}"/>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21</a:t>
            </a:r>
          </a:p>
        </p:txBody>
      </p:sp>
      <p:graphicFrame>
        <p:nvGraphicFramePr>
          <p:cNvPr id="10" name=""/>
          <p:cNvGraphicFramePr/>
          <p:nvPr/>
        </p:nvGraphicFramePr>
        <p:xfrm>
          <a:off xmlns:a="http://schemas.openxmlformats.org/drawingml/2006/main" x="685800" y="2143125"/>
          <a:ext xmlns:a="http://schemas.openxmlformats.org/drawingml/2006/main" cx="10820400" cy="2333625"/>
        </p:xfrm>
        <a:graphic xmlns:a="http://schemas.openxmlformats.org/drawingml/2006/main">
          <a:graphicData uri="http://schemas.openxmlformats.org/drawingml/2006/table">
            <a:tbl>
              <a:tblPr firstRow="0" bandRow="0"/>
              <a:tblGrid>
                <a:gridCol w="5010150"/>
                <a:gridCol w="2619375"/>
                <a:gridCol w="3190875"/>
              </a:tblGrid>
              <a:tr h="583406">
                <a:tc>
                  <a:txBody>
                    <a:bodyPr lIns="114300" tIns="19050" rIns="114300" bIns="19050">
                      <a:noAutofit/>
                    </a:bodyPr>
                    <a:lstStyle/>
                    <a:p>
                      <a:r>
                        <a:rPr sz="1875" b="1">
                          <a:solidFill>
                            <a:srgbClr val="F2EFE8"/>
                          </a:solidFill>
                          <a:latin typeface="Avenir Next"/>
                          <a:ea typeface="Avenir Next"/>
                          <a:cs typeface="Avenir Next"/>
                        </a:rPr>
                        <a:t>Method</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Ordering score</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Liked films per ten</a:t>
                      </a:r>
                    </a:p>
                  </a:txBody>
                  <a:tcPr marL="91440" marR="91440" marT="45720" marB="45720" anchor="ctr">
                    <a:solidFill>
                      <a:srgbClr val="17252B"/>
                    </a:solidFill>
                  </a:tcPr>
                </a:tc>
              </a:tr>
              <a:tr h="583406">
                <a:tc>
                  <a:txBody>
                    <a:bodyPr lIns="114300" tIns="19050" rIns="114300" bIns="19050">
                      <a:noAutofit/>
                    </a:bodyPr>
                    <a:lstStyle/>
                    <a:p>
                      <a:r>
                        <a:rPr sz="1875" b="1">
                          <a:solidFill>
                            <a:srgbClr val="17252B"/>
                          </a:solidFill>
                          <a:latin typeface="Avenir Next"/>
                          <a:ea typeface="Avenir Next"/>
                          <a:cs typeface="Avenir Next"/>
                        </a:rPr>
                        <a:t>Public reviews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72.9%</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6.53</a:t>
                      </a:r>
                    </a:p>
                  </a:txBody>
                  <a:tcPr marL="91440" marR="91440" marT="45720" marB="45720" anchor="ctr">
                    <a:solidFill>
                      <a:srgbClr val="F2EFE8"/>
                    </a:solidFill>
                  </a:tcPr>
                </a:tc>
              </a:tr>
              <a:tr h="583406">
                <a:tc>
                  <a:txBody>
                    <a:bodyPr lIns="114300" tIns="19050" rIns="114300" bIns="19050">
                      <a:noAutofit/>
                    </a:bodyPr>
                    <a:lstStyle/>
                    <a:p>
                      <a:r>
                        <a:rPr sz="1875" b="1">
                          <a:solidFill>
                            <a:srgbClr val="17252B"/>
                          </a:solidFill>
                          <a:latin typeface="Avenir Next"/>
                          <a:ea typeface="Avenir Next"/>
                          <a:cs typeface="Avenir Next"/>
                        </a:rPr>
                        <a:t>Fixed reviews plus tags</a:t>
                      </a:r>
                    </a:p>
                  </a:txBody>
                  <a:tcPr marL="91440" marR="91440" marT="45720" marB="45720" anchor="ctr">
                    <a:solidFill>
                      <a:srgbClr val="E4ECE7"/>
                    </a:solidFill>
                  </a:tcPr>
                </a:tc>
                <a:tc>
                  <a:txBody>
                    <a:bodyPr lIns="114300" tIns="19050" rIns="114300" bIns="19050">
                      <a:noAutofit/>
                    </a:bodyPr>
                    <a:lstStyle/>
                    <a:p>
                      <a:r>
                        <a:rPr sz="1875" b="1">
                          <a:solidFill>
                            <a:srgbClr val="17252B"/>
                          </a:solidFill>
                          <a:latin typeface="Avenir Next"/>
                          <a:ea typeface="Avenir Next"/>
                          <a:cs typeface="Avenir Next"/>
                        </a:rPr>
                        <a:t>73.8%</a:t>
                      </a:r>
                    </a:p>
                  </a:txBody>
                  <a:tcPr marL="91440" marR="91440" marT="45720" marB="45720" anchor="ctr">
                    <a:solidFill>
                      <a:srgbClr val="E4ECE7"/>
                    </a:solidFill>
                  </a:tcPr>
                </a:tc>
                <a:tc>
                  <a:txBody>
                    <a:bodyPr lIns="114300" tIns="19050" rIns="114300" bIns="19050">
                      <a:noAutofit/>
                    </a:bodyPr>
                    <a:lstStyle/>
                    <a:p>
                      <a:r>
                        <a:rPr sz="1875" b="1">
                          <a:solidFill>
                            <a:srgbClr val="17252B"/>
                          </a:solidFill>
                          <a:latin typeface="Avenir Next"/>
                          <a:ea typeface="Avenir Next"/>
                          <a:cs typeface="Avenir Next"/>
                        </a:rPr>
                        <a:t>6.78</a:t>
                      </a:r>
                    </a:p>
                  </a:txBody>
                  <a:tcPr marL="91440" marR="91440" marT="45720" marB="45720" anchor="ctr">
                    <a:solidFill>
                      <a:srgbClr val="E4ECE7"/>
                    </a:solidFill>
                  </a:tcPr>
                </a:tc>
              </a:tr>
              <a:tr h="583406">
                <a:tc>
                  <a:txBody>
                    <a:bodyPr lIns="114300" tIns="19050" rIns="114300" bIns="19050">
                      <a:noAutofit/>
                    </a:bodyPr>
                    <a:lstStyle/>
                    <a:p>
                      <a:r>
                        <a:rPr sz="1875" b="1">
                          <a:solidFill>
                            <a:srgbClr val="17252B"/>
                          </a:solidFill>
                          <a:latin typeface="Avenir Next"/>
                          <a:ea typeface="Avenir Next"/>
                          <a:cs typeface="Avenir Next"/>
                        </a:rPr>
                        <a:t>Current Dossier</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60.1%</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5.13</a:t>
                      </a:r>
                    </a:p>
                  </a:txBody>
                  <a:tcPr marL="91440" marR="91440" marT="45720" marB="45720" anchor="ctr">
                    <a:solidFill>
                      <a:srgbClr val="F2EFE8"/>
                    </a:solidFill>
                  </a:tcPr>
                </a:tc>
              </a:tr>
            </a:tbl>
          </a:graphicData>
        </a:graphic>
      </p:graphicFrame>
      <p:sp>
        <p:nvSpPr>
          <p:cNvPr id="5" name="">
            <a:extLst xmlns:a="http://schemas.openxmlformats.org/drawingml/2006/main">
              <a:ext uri="{FF2B5EF4-FFF2-40B4-BE49-F238E27FC236}">
                <a16:creationId xmlns:a16="http://schemas.microsoft.com/office/drawing/2014/main" id="{24184814-2E18-499E-A140-E2C8C277BC68}"/>
              </a:ext>
            </a:extLst>
          </p:cNvPr>
          <p:cNvSpPr>
            <a:spLocks xmlns:a="http://schemas.openxmlformats.org/drawingml/2006/main" noGrp="1"/>
          </p:cNvSpPr>
          <p:nvPr/>
        </p:nvSpPr>
        <p:spPr>
          <a:xfrm xmlns:a="http://schemas.openxmlformats.org/drawingml/2006/main">
            <a:off x="685800" y="4810125"/>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About one ranking point better than public reviews.</a:t>
            </a:r>
          </a:p>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The likely gain is 0.3 to 1.6 points.</a:t>
            </a:r>
          </a:p>
        </p:txBody>
      </p:sp>
      <p:sp>
        <p:nvSpPr>
          <p:cNvPr id="6" name="">
            <a:extLst xmlns:a="http://schemas.openxmlformats.org/drawingml/2006/main">
              <a:ext uri="{FF2B5EF4-FFF2-40B4-BE49-F238E27FC236}">
                <a16:creationId xmlns:a16="http://schemas.microsoft.com/office/drawing/2014/main" id="{A7649581-46A3-4BC4-85E8-D171DB95F726}"/>
              </a:ext>
            </a:extLst>
          </p:cNvPr>
          <p:cNvSpPr>
            <a:spLocks xmlns:a="http://schemas.openxmlformats.org/drawingml/2006/main" noGrp="1"/>
          </p:cNvSpPr>
          <p:nvPr/>
        </p:nvSpPr>
        <p:spPr>
          <a:xfrm xmlns:a="http://schemas.openxmlformats.org/drawingml/2006/main">
            <a:off x="685800" y="58102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About one extra liked film for every 40 suggestions, on average in this test.</a:t>
            </a:r>
          </a:p>
        </p:txBody>
      </p:sp>
    </p:spTree>
    <p:extLst>
      <p:ext uri="{BB962C8B-B14F-4D97-AF65-F5344CB8AC3E}">
        <p14:creationId xmlns:p14="http://schemas.microsoft.com/office/powerpoint/2010/main" val="937024436"/>
      </p:ext>
    </p:extLst>
  </p:cSld>
</p:sld>
</file>

<file path=ppt/slides/slide22.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2504BA6-1B85-49E8-9383-83FFD6665744}"/>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average benefit hides people who lose</a:t>
            </a:r>
          </a:p>
        </p:txBody>
      </p:sp>
      <p:sp>
        <p:nvSpPr>
          <p:cNvPr id="2" name="">
            <a:extLst xmlns:a="http://schemas.openxmlformats.org/drawingml/2006/main">
              <a:ext uri="{FF2B5EF4-FFF2-40B4-BE49-F238E27FC236}">
                <a16:creationId xmlns:a16="http://schemas.microsoft.com/office/drawing/2014/main" id="{6E8F4C72-8A9B-41F2-AF8C-146EFA7AE7FE}"/>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Two viewers from the 47-person check, after 20 ratings</a:t>
            </a:r>
          </a:p>
        </p:txBody>
      </p:sp>
      <p:sp>
        <p:nvSpPr>
          <p:cNvPr id="3" name="">
            <a:extLst xmlns:a="http://schemas.openxmlformats.org/drawingml/2006/main">
              <a:ext uri="{FF2B5EF4-FFF2-40B4-BE49-F238E27FC236}">
                <a16:creationId xmlns:a16="http://schemas.microsoft.com/office/drawing/2014/main" id="{4E23F9C9-9B00-49D9-B389-F3C50AD23A59}"/>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22</a:t>
            </a:r>
          </a:p>
        </p:txBody>
      </p:sp>
      <p:graphicFrame>
        <p:nvGraphicFramePr>
          <p:cNvPr id="9" name="Chart"/>
          <p:cNvGraphicFramePr/>
          <p:nvPr/>
        </p:nvGraphicFramePr>
        <p:xfrm>
          <a:off xmlns:a="http://schemas.openxmlformats.org/drawingml/2006/main" x="666750" y="2171700"/>
          <a:ext xmlns:a="http://schemas.openxmlformats.org/drawingml/2006/main" cx="10572750" cy="2952750"/>
        </p:xfrm>
        <a:graphic xmlns:a="http://schemas.openxmlformats.org/drawingml/2006/main">
          <a:graphicData uri="http://schemas.openxmlformats.org/drawingml/2006/chart">
            <c:chart xmlns:r="http://schemas.openxmlformats.org/officeDocument/2006/relationships" xmlns:c="http://schemas.openxmlformats.org/drawingml/2006/chart" r:id="R2d9feb4c60a64b88"/>
          </a:graphicData>
        </a:graphic>
      </p:graphicFrame>
      <p:sp>
        <p:nvSpPr>
          <p:cNvPr id="5" name="">
            <a:extLst xmlns:a="http://schemas.openxmlformats.org/drawingml/2006/main">
              <a:ext uri="{FF2B5EF4-FFF2-40B4-BE49-F238E27FC236}">
                <a16:creationId xmlns:a16="http://schemas.microsoft.com/office/drawing/2014/main" id="{AEEB6365-9228-4E6C-A5AC-19E5C9BB0284}"/>
              </a:ext>
            </a:extLst>
          </p:cNvPr>
          <p:cNvSpPr>
            <a:spLocks xmlns:a="http://schemas.openxmlformats.org/drawingml/2006/main" noGrp="1"/>
          </p:cNvSpPr>
          <p:nvPr/>
        </p:nvSpPr>
        <p:spPr>
          <a:xfrm xmlns:a="http://schemas.openxmlformats.org/drawingml/2006/main">
            <a:off x="685800" y="57340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A universal switch would throw away useful personalisation for these viewers.</a:t>
            </a:r>
          </a:p>
        </p:txBody>
      </p:sp>
    </p:spTree>
    <p:extLst>
      <p:ext uri="{BB962C8B-B14F-4D97-AF65-F5344CB8AC3E}">
        <p14:creationId xmlns:p14="http://schemas.microsoft.com/office/powerpoint/2010/main" val="1324284241"/>
      </p:ext>
    </p:extLst>
  </p:cSld>
</p:sld>
</file>

<file path=ppt/slides/slide23.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9C275CF-B30F-43B2-9945-9DE83E62743A}"/>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five worst learning declines reproduced</a:t>
            </a:r>
          </a:p>
        </p:txBody>
      </p:sp>
      <p:sp>
        <p:nvSpPr>
          <p:cNvPr id="2" name="">
            <a:extLst xmlns:a="http://schemas.openxmlformats.org/drawingml/2006/main">
              <a:ext uri="{FF2B5EF4-FFF2-40B4-BE49-F238E27FC236}">
                <a16:creationId xmlns:a16="http://schemas.microsoft.com/office/drawing/2014/main" id="{5D943F6A-2727-4FE3-B9A8-6DE27EEF3C5C}"/>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Ordering score in current Dossier with more real ratings</a:t>
            </a:r>
          </a:p>
        </p:txBody>
      </p:sp>
      <p:sp>
        <p:nvSpPr>
          <p:cNvPr id="3" name="">
            <a:extLst xmlns:a="http://schemas.openxmlformats.org/drawingml/2006/main">
              <a:ext uri="{FF2B5EF4-FFF2-40B4-BE49-F238E27FC236}">
                <a16:creationId xmlns:a16="http://schemas.microsoft.com/office/drawing/2014/main" id="{7FC27CFF-6DCB-499F-A297-8CC287C7D4C2}"/>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23</a:t>
            </a:r>
          </a:p>
        </p:txBody>
      </p:sp>
      <p:graphicFrame>
        <p:nvGraphicFramePr>
          <p:cNvPr id="9" name=""/>
          <p:cNvGraphicFramePr/>
          <p:nvPr/>
        </p:nvGraphicFramePr>
        <p:xfrm>
          <a:off xmlns:a="http://schemas.openxmlformats.org/drawingml/2006/main" x="685800" y="2057400"/>
          <a:ext xmlns:a="http://schemas.openxmlformats.org/drawingml/2006/main" cx="10820400" cy="3429000"/>
        </p:xfrm>
        <a:graphic xmlns:a="http://schemas.openxmlformats.org/drawingml/2006/main">
          <a:graphicData uri="http://schemas.openxmlformats.org/drawingml/2006/table">
            <a:tbl>
              <a:tblPr firstRow="0" bandRow="0"/>
              <a:tblGrid>
                <a:gridCol w="5010150"/>
                <a:gridCol w="2905125"/>
                <a:gridCol w="2905125"/>
              </a:tblGrid>
              <a:tr h="571500">
                <a:tc>
                  <a:txBody>
                    <a:bodyPr lIns="114300" tIns="19050" rIns="114300" bIns="19050">
                      <a:noAutofit/>
                    </a:bodyPr>
                    <a:lstStyle/>
                    <a:p>
                      <a:r>
                        <a:rPr sz="1875" b="1">
                          <a:solidFill>
                            <a:srgbClr val="F2EFE8"/>
                          </a:solidFill>
                          <a:latin typeface="Avenir Next"/>
                          <a:ea typeface="Avenir Next"/>
                          <a:cs typeface="Avenir Next"/>
                        </a:rPr>
                        <a:t>Viewer and rating order</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After 10 ratings</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After 40 ratings</a:t>
                      </a:r>
                    </a:p>
                  </a:txBody>
                  <a:tcPr marL="91440" marR="91440" marT="45720" marB="45720" anchor="ctr">
                    <a:solidFill>
                      <a:srgbClr val="17252B"/>
                    </a:solidFill>
                  </a:tcPr>
                </a:tc>
              </a:tr>
              <a:tr h="571500">
                <a:tc>
                  <a:txBody>
                    <a:bodyPr lIns="114300" tIns="19050" rIns="114300" bIns="19050">
                      <a:noAutofit/>
                    </a:bodyPr>
                    <a:lstStyle/>
                    <a:p>
                      <a:r>
                        <a:rPr sz="1875" b="1">
                          <a:solidFill>
                            <a:srgbClr val="17252B"/>
                          </a:solidFill>
                          <a:latin typeface="Avenir Next"/>
                          <a:ea typeface="Avenir Next"/>
                          <a:cs typeface="Avenir Next"/>
                        </a:rPr>
                        <a:t>Viewer 21 / order 83</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67.2%</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37.7%</a:t>
                      </a:r>
                    </a:p>
                  </a:txBody>
                  <a:tcPr marL="91440" marR="91440" marT="45720" marB="45720" anchor="ctr">
                    <a:solidFill>
                      <a:srgbClr val="F2EFE8"/>
                    </a:solidFill>
                  </a:tcPr>
                </a:tc>
              </a:tr>
              <a:tr h="571500">
                <a:tc>
                  <a:txBody>
                    <a:bodyPr lIns="114300" tIns="19050" rIns="114300" bIns="19050">
                      <a:noAutofit/>
                    </a:bodyPr>
                    <a:lstStyle/>
                    <a:p>
                      <a:r>
                        <a:rPr sz="1875" b="1">
                          <a:solidFill>
                            <a:srgbClr val="17252B"/>
                          </a:solidFill>
                          <a:latin typeface="Avenir Next"/>
                          <a:ea typeface="Avenir Next"/>
                          <a:cs typeface="Avenir Next"/>
                        </a:rPr>
                        <a:t>Viewer 177 / order 11</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79.4%</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55.5%</a:t>
                      </a:r>
                    </a:p>
                  </a:txBody>
                  <a:tcPr marL="91440" marR="91440" marT="45720" marB="45720" anchor="ctr">
                    <a:solidFill>
                      <a:srgbClr val="F2EFE8"/>
                    </a:solidFill>
                  </a:tcPr>
                </a:tc>
              </a:tr>
              <a:tr h="571500">
                <a:tc>
                  <a:txBody>
                    <a:bodyPr lIns="114300" tIns="19050" rIns="114300" bIns="19050">
                      <a:noAutofit/>
                    </a:bodyPr>
                    <a:lstStyle/>
                    <a:p>
                      <a:r>
                        <a:rPr sz="1875" b="1">
                          <a:solidFill>
                            <a:srgbClr val="17252B"/>
                          </a:solidFill>
                          <a:latin typeface="Avenir Next"/>
                          <a:ea typeface="Avenir Next"/>
                          <a:cs typeface="Avenir Next"/>
                        </a:rPr>
                        <a:t>Viewer 483 / order 83</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51.1%</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28.3%</a:t>
                      </a:r>
                    </a:p>
                  </a:txBody>
                  <a:tcPr marL="91440" marR="91440" marT="45720" marB="45720" anchor="ctr">
                    <a:solidFill>
                      <a:srgbClr val="F2EFE8"/>
                    </a:solidFill>
                  </a:tcPr>
                </a:tc>
              </a:tr>
              <a:tr h="571500">
                <a:tc>
                  <a:txBody>
                    <a:bodyPr lIns="114300" tIns="19050" rIns="114300" bIns="19050">
                      <a:noAutofit/>
                    </a:bodyPr>
                    <a:lstStyle/>
                    <a:p>
                      <a:r>
                        <a:rPr sz="1875" b="1">
                          <a:solidFill>
                            <a:srgbClr val="17252B"/>
                          </a:solidFill>
                          <a:latin typeface="Avenir Next"/>
                          <a:ea typeface="Avenir Next"/>
                          <a:cs typeface="Avenir Next"/>
                        </a:rPr>
                        <a:t>Viewer 21 / order 11</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68.7%</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46.3%</a:t>
                      </a:r>
                    </a:p>
                  </a:txBody>
                  <a:tcPr marL="91440" marR="91440" marT="45720" marB="45720" anchor="ctr">
                    <a:solidFill>
                      <a:srgbClr val="F2EFE8"/>
                    </a:solidFill>
                  </a:tcPr>
                </a:tc>
              </a:tr>
              <a:tr h="571500">
                <a:tc>
                  <a:txBody>
                    <a:bodyPr lIns="114300" tIns="19050" rIns="114300" bIns="19050">
                      <a:noAutofit/>
                    </a:bodyPr>
                    <a:lstStyle/>
                    <a:p>
                      <a:r>
                        <a:rPr sz="1875" b="1">
                          <a:solidFill>
                            <a:srgbClr val="17252B"/>
                          </a:solidFill>
                          <a:latin typeface="Avenir Next"/>
                          <a:ea typeface="Avenir Next"/>
                          <a:cs typeface="Avenir Next"/>
                        </a:rPr>
                        <a:t>Viewer 603 / order 29</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70.4%</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49.0%</a:t>
                      </a:r>
                    </a:p>
                  </a:txBody>
                  <a:tcPr marL="91440" marR="91440" marT="45720" marB="45720" anchor="ctr">
                    <a:solidFill>
                      <a:srgbClr val="F2EFE8"/>
                    </a:solidFill>
                  </a:tcPr>
                </a:tc>
              </a:tr>
            </a:tbl>
          </a:graphicData>
        </a:graphic>
      </p:graphicFrame>
      <p:sp>
        <p:nvSpPr>
          <p:cNvPr id="5" name="">
            <a:extLst xmlns:a="http://schemas.openxmlformats.org/drawingml/2006/main">
              <a:ext uri="{FF2B5EF4-FFF2-40B4-BE49-F238E27FC236}">
                <a16:creationId xmlns:a16="http://schemas.microsoft.com/office/drawing/2014/main" id="{8AFFCD0A-B1FC-426D-82FA-1CC7A271AF51}"/>
              </a:ext>
            </a:extLst>
          </p:cNvPr>
          <p:cNvSpPr>
            <a:spLocks xmlns:a="http://schemas.openxmlformats.org/drawingml/2006/main" noGrp="1"/>
          </p:cNvSpPr>
          <p:nvPr/>
        </p:nvSpPr>
        <p:spPr>
          <a:xfrm xmlns:a="http://schemas.openxmlformats.org/drawingml/2006/main">
            <a:off x="685800" y="57340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These are large losses for particular people. The current model can learn backwards.</a:t>
            </a:r>
          </a:p>
        </p:txBody>
      </p:sp>
    </p:spTree>
    <p:extLst>
      <p:ext uri="{BB962C8B-B14F-4D97-AF65-F5344CB8AC3E}">
        <p14:creationId xmlns:p14="http://schemas.microsoft.com/office/powerpoint/2010/main" val="620586939"/>
      </p:ext>
    </p:extLst>
  </p:cSld>
</p:sld>
</file>

<file path=ppt/slides/slide24.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F091781-5AC3-4FFA-8ABF-A29D1A7A75AA}"/>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New evidence can spread to the wrong films</a:t>
            </a:r>
          </a:p>
        </p:txBody>
      </p:sp>
      <p:sp>
        <p:nvSpPr>
          <p:cNvPr id="2" name="">
            <a:extLst xmlns:a="http://schemas.openxmlformats.org/drawingml/2006/main">
              <a:ext uri="{FF2B5EF4-FFF2-40B4-BE49-F238E27FC236}">
                <a16:creationId xmlns:a16="http://schemas.microsoft.com/office/drawing/2014/main" id="{CCB4DE19-4B84-4C79-98CE-F5F1FA89E80D}"/>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24</a:t>
            </a:r>
          </a:p>
        </p:txBody>
      </p:sp>
      <p:sp>
        <p:nvSpPr>
          <p:cNvPr id="3" name="">
            <a:extLst xmlns:a="http://schemas.openxmlformats.org/drawingml/2006/main">
              <a:ext uri="{FF2B5EF4-FFF2-40B4-BE49-F238E27FC236}">
                <a16:creationId xmlns:a16="http://schemas.microsoft.com/office/drawing/2014/main" id="{6C716A26-18C3-4996-B1A1-8B12F4FF777D}"/>
              </a:ext>
            </a:extLst>
          </p:cNvPr>
          <p:cNvSpPr>
            <a:spLocks xmlns:a="http://schemas.openxmlformats.org/drawingml/2006/main" noGrp="1"/>
          </p:cNvSpPr>
          <p:nvPr/>
        </p:nvSpPr>
        <p:spPr>
          <a:xfrm xmlns:a="http://schemas.openxmlformats.org/drawingml/2006/main">
            <a:off x="685800" y="205740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7252B"/>
                </a:solidFill>
                <a:latin typeface="Avenir Next"/>
                <a:ea typeface="Avenir Next"/>
                <a:cs typeface="Avenir Next"/>
              </a:defRPr>
            </a:pPr>
            <a:r>
              <a:rPr sz="2550" b="1">
                <a:solidFill>
                  <a:srgbClr val="17252B"/>
                </a:solidFill>
                <a:latin typeface="Avenir Next"/>
                <a:ea typeface="Avenir Next"/>
                <a:cs typeface="Avenir Next"/>
              </a:rPr>
              <a:t>A new like can boost the wrong film</a:t>
            </a:r>
          </a:p>
        </p:txBody>
      </p:sp>
      <p:sp>
        <p:nvSpPr>
          <p:cNvPr id="4" name="">
            <a:extLst xmlns:a="http://schemas.openxmlformats.org/drawingml/2006/main">
              <a:ext uri="{FF2B5EF4-FFF2-40B4-BE49-F238E27FC236}">
                <a16:creationId xmlns:a16="http://schemas.microsoft.com/office/drawing/2014/main" id="{7A317E4D-DD26-4AA6-9F56-FBFF4BA1EBC3}"/>
              </a:ext>
            </a:extLst>
          </p:cNvPr>
          <p:cNvSpPr>
            <a:spLocks xmlns:a="http://schemas.openxmlformats.org/drawingml/2006/main" noGrp="1"/>
          </p:cNvSpPr>
          <p:nvPr/>
        </p:nvSpPr>
        <p:spPr>
          <a:xfrm xmlns:a="http://schemas.openxmlformats.org/drawingml/2006/main">
            <a:off x="685800" y="3238500"/>
            <a:ext cx="4857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Liking The Fellowship of the Ring</a:t>
            </a:r>
          </a:p>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boosts disliked Fantastic Four</a:t>
            </a:r>
          </a:p>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ahead of liked Adaptation.</a:t>
            </a:r>
          </a:p>
        </p:txBody>
      </p:sp>
      <p:sp>
        <p:nvSpPr>
          <p:cNvPr id="5" name="">
            <a:extLst xmlns:a="http://schemas.openxmlformats.org/drawingml/2006/main">
              <a:ext uri="{FF2B5EF4-FFF2-40B4-BE49-F238E27FC236}">
                <a16:creationId xmlns:a16="http://schemas.microsoft.com/office/drawing/2014/main" id="{FBD0ED05-FE3D-4BD7-AC15-A942D17233F4}"/>
              </a:ext>
            </a:extLst>
          </p:cNvPr>
          <p:cNvSpPr>
            <a:spLocks xmlns:a="http://schemas.openxmlformats.org/drawingml/2006/main" noGrp="1"/>
          </p:cNvSpPr>
          <p:nvPr/>
        </p:nvSpPr>
        <p:spPr>
          <a:xfrm xmlns:a="http://schemas.openxmlformats.org/drawingml/2006/main">
            <a:off x="6477000" y="205740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7252B"/>
                </a:solidFill>
                <a:latin typeface="Avenir Next"/>
                <a:ea typeface="Avenir Next"/>
                <a:cs typeface="Avenir Next"/>
              </a:defRPr>
            </a:pPr>
            <a:r>
              <a:rPr sz="2550" b="1">
                <a:solidFill>
                  <a:srgbClr val="17252B"/>
                </a:solidFill>
                <a:latin typeface="Avenir Next"/>
                <a:ea typeface="Avenir Next"/>
                <a:cs typeface="Avenir Next"/>
              </a:rPr>
              <a:t>A new dislike can penalise a favourite</a:t>
            </a:r>
          </a:p>
        </p:txBody>
      </p:sp>
      <p:sp>
        <p:nvSpPr>
          <p:cNvPr id="6" name="">
            <a:extLst xmlns:a="http://schemas.openxmlformats.org/drawingml/2006/main">
              <a:ext uri="{FF2B5EF4-FFF2-40B4-BE49-F238E27FC236}">
                <a16:creationId xmlns:a16="http://schemas.microsoft.com/office/drawing/2014/main" id="{18FD0E6A-ED46-4851-BCC6-7B072273D51E}"/>
              </a:ext>
            </a:extLst>
          </p:cNvPr>
          <p:cNvSpPr>
            <a:spLocks xmlns:a="http://schemas.openxmlformats.org/drawingml/2006/main" noGrp="1"/>
          </p:cNvSpPr>
          <p:nvPr/>
        </p:nvSpPr>
        <p:spPr>
          <a:xfrm xmlns:a="http://schemas.openxmlformats.org/drawingml/2006/main">
            <a:off x="6477000" y="3238500"/>
            <a:ext cx="4857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Disliking The Two Towers</a:t>
            </a:r>
          </a:p>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pushes disliked It Takes Two</a:t>
            </a:r>
          </a:p>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ahead of liked Total Recall.</a:t>
            </a:r>
          </a:p>
        </p:txBody>
      </p:sp>
      <p:sp>
        <p:nvSpPr>
          <p:cNvPr id="7" name="">
            <a:extLst xmlns:a="http://schemas.openxmlformats.org/drawingml/2006/main">
              <a:ext uri="{FF2B5EF4-FFF2-40B4-BE49-F238E27FC236}">
                <a16:creationId xmlns:a16="http://schemas.microsoft.com/office/drawing/2014/main" id="{02F79B3F-95BC-4DD3-83CB-7976EC318787}"/>
              </a:ext>
            </a:extLst>
          </p:cNvPr>
          <p:cNvSpPr>
            <a:spLocks xmlns:a="http://schemas.openxmlformats.org/drawingml/2006/main" noGrp="1"/>
          </p:cNvSpPr>
          <p:nvPr/>
        </p:nvSpPr>
        <p:spPr>
          <a:xfrm xmlns:a="http://schemas.openxmlformats.org/drawingml/2006/main">
            <a:off x="685800" y="56388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Broad film similarities reach too far. More ratings can strengthen the wrong match.</a:t>
            </a:r>
          </a:p>
        </p:txBody>
      </p:sp>
    </p:spTree>
    <p:extLst>
      <p:ext uri="{BB962C8B-B14F-4D97-AF65-F5344CB8AC3E}">
        <p14:creationId xmlns:p14="http://schemas.microsoft.com/office/powerpoint/2010/main" val="323643378"/>
      </p:ext>
    </p:extLst>
  </p:cSld>
</p:sld>
</file>

<file path=ppt/slides/slide25.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33487ED-DECF-4D33-AB38-66DA346015BA}"/>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Rating order changes the final model too</a:t>
            </a:r>
          </a:p>
        </p:txBody>
      </p:sp>
      <p:sp>
        <p:nvSpPr>
          <p:cNvPr id="2" name="">
            <a:extLst xmlns:a="http://schemas.openxmlformats.org/drawingml/2006/main">
              <a:ext uri="{FF2B5EF4-FFF2-40B4-BE49-F238E27FC236}">
                <a16:creationId xmlns:a16="http://schemas.microsoft.com/office/drawing/2014/main" id="{C0217844-599B-422D-8E11-0E43EE9A6271}"/>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25</a:t>
            </a:r>
          </a:p>
        </p:txBody>
      </p:sp>
      <p:sp>
        <p:nvSpPr>
          <p:cNvPr id="3" name="">
            <a:extLst xmlns:a="http://schemas.openxmlformats.org/drawingml/2006/main">
              <a:ext uri="{FF2B5EF4-FFF2-40B4-BE49-F238E27FC236}">
                <a16:creationId xmlns:a16="http://schemas.microsoft.com/office/drawing/2014/main" id="{9742D827-BC5E-4167-A1D6-14C66940E5B5}"/>
              </a:ext>
            </a:extLst>
          </p:cNvPr>
          <p:cNvSpPr>
            <a:spLocks xmlns:a="http://schemas.openxmlformats.org/drawingml/2006/main" noGrp="1"/>
          </p:cNvSpPr>
          <p:nvPr/>
        </p:nvSpPr>
        <p:spPr>
          <a:xfrm xmlns:a="http://schemas.openxmlformats.org/drawingml/2006/main">
            <a:off x="685800" y="20955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400" b="1">
                <a:solidFill>
                  <a:srgbClr val="BC432A"/>
                </a:solidFill>
                <a:latin typeface="Avenir Next"/>
                <a:ea typeface="Avenir Next"/>
                <a:cs typeface="Avenir Next"/>
              </a:defRPr>
            </a:pPr>
            <a:r>
              <a:rPr sz="5400" b="1">
                <a:solidFill>
                  <a:srgbClr val="BC432A"/>
                </a:solidFill>
                <a:latin typeface="Avenir Next"/>
                <a:ea typeface="Avenir Next"/>
                <a:cs typeface="Avenir Next"/>
              </a:rPr>
              <a:t>44.7% to 57.6%</a:t>
            </a:r>
          </a:p>
        </p:txBody>
      </p:sp>
      <p:sp>
        <p:nvSpPr>
          <p:cNvPr id="4" name="">
            <a:extLst xmlns:a="http://schemas.openxmlformats.org/drawingml/2006/main">
              <a:ext uri="{FF2B5EF4-FFF2-40B4-BE49-F238E27FC236}">
                <a16:creationId xmlns:a16="http://schemas.microsoft.com/office/drawing/2014/main" id="{4B3F422B-4FE9-4A7B-A3E3-818FE9CC6F69}"/>
              </a:ext>
            </a:extLst>
          </p:cNvPr>
          <p:cNvSpPr>
            <a:spLocks xmlns:a="http://schemas.openxmlformats.org/drawingml/2006/main" noGrp="1"/>
          </p:cNvSpPr>
          <p:nvPr/>
        </p:nvSpPr>
        <p:spPr>
          <a:xfrm xmlns:a="http://schemas.openxmlformats.org/drawingml/2006/main">
            <a:off x="685800" y="334327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7252B"/>
                </a:solidFill>
                <a:latin typeface="Avenir Next"/>
                <a:ea typeface="Avenir Next"/>
                <a:cs typeface="Avenir Next"/>
              </a:defRPr>
            </a:pPr>
            <a:r>
              <a:rPr sz="2400" b="0">
                <a:solidFill>
                  <a:srgbClr val="17252B"/>
                </a:solidFill>
                <a:latin typeface="Avenir Next"/>
                <a:ea typeface="Avenir Next"/>
                <a:cs typeface="Avenir Next"/>
              </a:rPr>
              <a:t>One viewer’s ordering score across different orders</a:t>
            </a:r>
          </a:p>
          <a:p xmlns:a="http://schemas.openxmlformats.org/drawingml/2006/main">
            <a:pPr>
              <a:defRPr sz="2400" b="0">
                <a:solidFill>
                  <a:srgbClr val="17252B"/>
                </a:solidFill>
                <a:latin typeface="Avenir Next"/>
                <a:ea typeface="Avenir Next"/>
                <a:cs typeface="Avenir Next"/>
              </a:defRPr>
            </a:pPr>
            <a:r>
              <a:rPr sz="2400" b="0">
                <a:solidFill>
                  <a:srgbClr val="17252B"/>
                </a:solidFill>
                <a:latin typeface="Avenir Next"/>
                <a:ea typeface="Avenir Next"/>
                <a:cs typeface="Avenir Next"/>
              </a:rPr>
              <a:t>of the same 40 ratings.</a:t>
            </a:r>
          </a:p>
        </p:txBody>
      </p:sp>
      <p:sp>
        <p:nvSpPr>
          <p:cNvPr id="5" name="">
            <a:extLst xmlns:a="http://schemas.openxmlformats.org/drawingml/2006/main">
              <a:ext uri="{FF2B5EF4-FFF2-40B4-BE49-F238E27FC236}">
                <a16:creationId xmlns:a16="http://schemas.microsoft.com/office/drawing/2014/main" id="{AB891773-ED21-48A7-B1F0-AF4F1751960B}"/>
              </a:ext>
            </a:extLst>
          </p:cNvPr>
          <p:cNvSpPr>
            <a:spLocks xmlns:a="http://schemas.openxmlformats.org/drawingml/2006/main" noGrp="1"/>
          </p:cNvSpPr>
          <p:nvPr/>
        </p:nvSpPr>
        <p:spPr>
          <a:xfrm xmlns:a="http://schemas.openxmlformats.org/drawingml/2006/main">
            <a:off x="685800" y="481965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We held the inferred claims fixed. The film-grouping step still produced different recommendations.</a:t>
            </a:r>
          </a:p>
        </p:txBody>
      </p:sp>
    </p:spTree>
    <p:extLst>
      <p:ext uri="{BB962C8B-B14F-4D97-AF65-F5344CB8AC3E}">
        <p14:creationId xmlns:p14="http://schemas.microsoft.com/office/powerpoint/2010/main" val="736380728"/>
      </p:ext>
    </p:extLst>
  </p:cSld>
</p:sld>
</file>

<file path=ppt/slides/slide26.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5038CE6-3DF2-47D8-9902-5B242BDECDB4}"/>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proposed protection rule</a:t>
            </a:r>
          </a:p>
        </p:txBody>
      </p:sp>
      <p:sp>
        <p:nvSpPr>
          <p:cNvPr id="2" name="">
            <a:extLst xmlns:a="http://schemas.openxmlformats.org/drawingml/2006/main">
              <a:ext uri="{FF2B5EF4-FFF2-40B4-BE49-F238E27FC236}">
                <a16:creationId xmlns:a16="http://schemas.microsoft.com/office/drawing/2014/main" id="{ACEAAD8F-A3DB-4F5D-8F93-3BCDB902D10A}"/>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26</a:t>
            </a:r>
          </a:p>
        </p:txBody>
      </p:sp>
      <p:sp>
        <p:nvSpPr>
          <p:cNvPr id="3" name="">
            <a:extLst xmlns:a="http://schemas.openxmlformats.org/drawingml/2006/main">
              <a:ext uri="{FF2B5EF4-FFF2-40B4-BE49-F238E27FC236}">
                <a16:creationId xmlns:a16="http://schemas.microsoft.com/office/drawing/2014/main" id="{1BCC079E-E448-4AC3-84E1-6C0D95382B15}"/>
              </a:ext>
            </a:extLst>
          </p:cNvPr>
          <p:cNvSpPr>
            <a:spLocks xmlns:a="http://schemas.openxmlformats.org/drawingml/2006/main" noGrp="1"/>
          </p:cNvSpPr>
          <p:nvPr/>
        </p:nvSpPr>
        <p:spPr>
          <a:xfrm xmlns:a="http://schemas.openxmlformats.org/drawingml/2006/main">
            <a:off x="685800" y="200025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Start with the unchanged 75% reviews / 25% tags ranking.</a:t>
            </a:r>
          </a:p>
        </p:txBody>
      </p:sp>
      <p:sp>
        <p:nvSpPr>
          <p:cNvPr id="4" name="">
            <a:extLst xmlns:a="http://schemas.openxmlformats.org/drawingml/2006/main">
              <a:ext uri="{FF2B5EF4-FFF2-40B4-BE49-F238E27FC236}">
                <a16:creationId xmlns:a16="http://schemas.microsoft.com/office/drawing/2014/main" id="{70AD63B1-63C5-4645-BE10-2C5CCFF2A9D0}"/>
              </a:ext>
            </a:extLst>
          </p:cNvPr>
          <p:cNvSpPr>
            <a:spLocks xmlns:a="http://schemas.openxmlformats.org/drawingml/2006/main" noGrp="1"/>
          </p:cNvSpPr>
          <p:nvPr/>
        </p:nvSpPr>
        <p:spPr>
          <a:xfrm xmlns:a="http://schemas.openxmlformats.org/drawingml/2006/main">
            <a:off x="685800" y="321945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Temporarily hide some ratings the person already supplied. Test whether current Dossier predicts them better.</a:t>
            </a:r>
          </a:p>
        </p:txBody>
      </p:sp>
      <p:sp>
        <p:nvSpPr>
          <p:cNvPr id="5" name="">
            <a:extLst xmlns:a="http://schemas.openxmlformats.org/drawingml/2006/main">
              <a:ext uri="{FF2B5EF4-FFF2-40B4-BE49-F238E27FC236}">
                <a16:creationId xmlns:a16="http://schemas.microsoft.com/office/drawing/2014/main" id="{9D41AE14-4DFD-402D-932F-8F60AFE1F9CC}"/>
              </a:ext>
            </a:extLst>
          </p:cNvPr>
          <p:cNvSpPr>
            <a:spLocks xmlns:a="http://schemas.openxmlformats.org/drawingml/2006/main" noGrp="1"/>
          </p:cNvSpPr>
          <p:nvPr/>
        </p:nvSpPr>
        <p:spPr>
          <a:xfrm xmlns:a="http://schemas.openxmlformats.org/drawingml/2006/main">
            <a:off x="685800" y="443865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Switch only if that advantage repeats. Require at least 20 ratings, six likes, and six dislikes.</a:t>
            </a:r>
          </a:p>
        </p:txBody>
      </p:sp>
      <p:sp>
        <p:nvSpPr>
          <p:cNvPr id="6" name="">
            <a:extLst xmlns:a="http://schemas.openxmlformats.org/drawingml/2006/main">
              <a:ext uri="{FF2B5EF4-FFF2-40B4-BE49-F238E27FC236}">
                <a16:creationId xmlns:a16="http://schemas.microsoft.com/office/drawing/2014/main" id="{C96D5E6A-FDFE-4A4D-A6C0-A7ED87263067}"/>
              </a:ext>
            </a:extLst>
          </p:cNvPr>
          <p:cNvSpPr>
            <a:spLocks xmlns:a="http://schemas.openxmlformats.org/drawingml/2006/main" noGrp="1"/>
          </p:cNvSpPr>
          <p:nvPr/>
        </p:nvSpPr>
        <p:spPr>
          <a:xfrm xmlns:a="http://schemas.openxmlformats.org/drawingml/2006/main">
            <a:off x="685800" y="57721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We kept this rule unchanged, then tested 30 new viewers and the 78 previous viewers.</a:t>
            </a:r>
          </a:p>
        </p:txBody>
      </p:sp>
    </p:spTree>
    <p:extLst>
      <p:ext uri="{BB962C8B-B14F-4D97-AF65-F5344CB8AC3E}">
        <p14:creationId xmlns:p14="http://schemas.microsoft.com/office/powerpoint/2010/main" val="605217081"/>
      </p:ext>
    </p:extLst>
  </p:cSld>
</p:sld>
</file>

<file path=ppt/slides/slide27.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FF3A7CB-C0BE-46C3-9192-9F2AEB0637E0}"/>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protection rule missed the people it needed</a:t>
            </a:r>
          </a:p>
        </p:txBody>
      </p:sp>
      <p:sp>
        <p:nvSpPr>
          <p:cNvPr id="2" name="">
            <a:extLst xmlns:a="http://schemas.openxmlformats.org/drawingml/2006/main">
              <a:ext uri="{FF2B5EF4-FFF2-40B4-BE49-F238E27FC236}">
                <a16:creationId xmlns:a16="http://schemas.microsoft.com/office/drawing/2014/main" id="{1C0E6CDE-9ADD-4DE7-9B99-4BD4BD2E0D88}"/>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27</a:t>
            </a:r>
          </a:p>
        </p:txBody>
      </p:sp>
      <p:sp>
        <p:nvSpPr>
          <p:cNvPr id="3" name="">
            <a:extLst xmlns:a="http://schemas.openxmlformats.org/drawingml/2006/main">
              <a:ext uri="{FF2B5EF4-FFF2-40B4-BE49-F238E27FC236}">
                <a16:creationId xmlns:a16="http://schemas.microsoft.com/office/drawing/2014/main" id="{C52949A8-7CB8-4CD2-A18C-E07A4E81EAB7}"/>
              </a:ext>
            </a:extLst>
          </p:cNvPr>
          <p:cNvSpPr>
            <a:spLocks xmlns:a="http://schemas.openxmlformats.org/drawingml/2006/main" noGrp="1"/>
          </p:cNvSpPr>
          <p:nvPr/>
        </p:nvSpPr>
        <p:spPr>
          <a:xfrm xmlns:a="http://schemas.openxmlformats.org/drawingml/2006/main">
            <a:off x="685800" y="2076450"/>
            <a:ext cx="552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700" b="1">
                <a:solidFill>
                  <a:srgbClr val="BC432A"/>
                </a:solidFill>
                <a:latin typeface="Avenir Next"/>
                <a:ea typeface="Avenir Next"/>
                <a:cs typeface="Avenir Next"/>
              </a:defRPr>
            </a:pPr>
            <a:r>
              <a:rPr sz="5700" b="1">
                <a:solidFill>
                  <a:srgbClr val="BC432A"/>
                </a:solidFill>
                <a:latin typeface="Avenir Next"/>
                <a:ea typeface="Avenir Next"/>
                <a:cs typeface="Avenir Next"/>
              </a:rPr>
              <a:t>0 of 120</a:t>
            </a:r>
          </a:p>
        </p:txBody>
      </p:sp>
      <p:sp>
        <p:nvSpPr>
          <p:cNvPr id="4" name="">
            <a:extLst xmlns:a="http://schemas.openxmlformats.org/drawingml/2006/main">
              <a:ext uri="{FF2B5EF4-FFF2-40B4-BE49-F238E27FC236}">
                <a16:creationId xmlns:a16="http://schemas.microsoft.com/office/drawing/2014/main" id="{DEF9549A-8CA7-42A1-9489-E14139DE74C8}"/>
              </a:ext>
            </a:extLst>
          </p:cNvPr>
          <p:cNvSpPr>
            <a:spLocks xmlns:a="http://schemas.openxmlformats.org/drawingml/2006/main" noGrp="1"/>
          </p:cNvSpPr>
          <p:nvPr/>
        </p:nvSpPr>
        <p:spPr>
          <a:xfrm xmlns:a="http://schemas.openxmlformats.org/drawingml/2006/main">
            <a:off x="685800" y="3333750"/>
            <a:ext cx="5429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new-viewer sessions chose</a:t>
            </a:r>
          </a:p>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a personal override after 40 ratings</a:t>
            </a:r>
          </a:p>
        </p:txBody>
      </p:sp>
      <p:sp>
        <p:nvSpPr>
          <p:cNvPr id="5" name="">
            <a:extLst xmlns:a="http://schemas.openxmlformats.org/drawingml/2006/main">
              <a:ext uri="{FF2B5EF4-FFF2-40B4-BE49-F238E27FC236}">
                <a16:creationId xmlns:a16="http://schemas.microsoft.com/office/drawing/2014/main" id="{6D571990-13AC-4633-A1BA-0BDE7137707C}"/>
              </a:ext>
            </a:extLst>
          </p:cNvPr>
          <p:cNvSpPr>
            <a:spLocks xmlns:a="http://schemas.openxmlformats.org/drawingml/2006/main" noGrp="1"/>
          </p:cNvSpPr>
          <p:nvPr/>
        </p:nvSpPr>
        <p:spPr>
          <a:xfrm xmlns:a="http://schemas.openxmlformats.org/drawingml/2006/main">
            <a:off x="6572250" y="2114550"/>
            <a:ext cx="476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19 missed opportunities</a:t>
            </a:r>
          </a:p>
        </p:txBody>
      </p:sp>
      <p:sp>
        <p:nvSpPr>
          <p:cNvPr id="6" name="">
            <a:extLst xmlns:a="http://schemas.openxmlformats.org/drawingml/2006/main">
              <a:ext uri="{FF2B5EF4-FFF2-40B4-BE49-F238E27FC236}">
                <a16:creationId xmlns:a16="http://schemas.microsoft.com/office/drawing/2014/main" id="{EC7DD40D-1E07-456A-AE4D-D83B0398EC80}"/>
              </a:ext>
            </a:extLst>
          </p:cNvPr>
          <p:cNvSpPr>
            <a:spLocks xmlns:a="http://schemas.openxmlformats.org/drawingml/2006/main" noGrp="1"/>
          </p:cNvSpPr>
          <p:nvPr/>
        </p:nvSpPr>
        <p:spPr>
          <a:xfrm xmlns:a="http://schemas.openxmlformats.org/drawingml/2006/main">
            <a:off x="6572250" y="3438525"/>
            <a:ext cx="47148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Current Dossier would rank the hidden films at least three points better in those sessions.</a:t>
            </a:r>
          </a:p>
        </p:txBody>
      </p:sp>
      <p:sp>
        <p:nvSpPr>
          <p:cNvPr id="7" name="">
            <a:extLst xmlns:a="http://schemas.openxmlformats.org/drawingml/2006/main">
              <a:ext uri="{FF2B5EF4-FFF2-40B4-BE49-F238E27FC236}">
                <a16:creationId xmlns:a16="http://schemas.microsoft.com/office/drawing/2014/main" id="{DDFBEA4A-2F5A-4EC3-A9A2-A00A0F4F044E}"/>
              </a:ext>
            </a:extLst>
          </p:cNvPr>
          <p:cNvSpPr>
            <a:spLocks xmlns:a="http://schemas.openxmlformats.org/drawingml/2006/main" noGrp="1"/>
          </p:cNvSpPr>
          <p:nvPr/>
        </p:nvSpPr>
        <p:spPr>
          <a:xfrm xmlns:a="http://schemas.openxmlformats.org/drawingml/2006/main">
            <a:off x="685800" y="57531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The six-dislike requirement blocks viewers 82 and 484. It misses the people we need to protect.</a:t>
            </a:r>
          </a:p>
        </p:txBody>
      </p:sp>
    </p:spTree>
    <p:extLst>
      <p:ext uri="{BB962C8B-B14F-4D97-AF65-F5344CB8AC3E}">
        <p14:creationId xmlns:p14="http://schemas.microsoft.com/office/powerpoint/2010/main" val="350634037"/>
      </p:ext>
    </p:extLst>
  </p:cSld>
</p:sld>
</file>

<file path=ppt/slides/slide28.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EC4D708-FF4A-4B88-9E1A-9A34B685B85A}"/>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fixed alternative avoided large losses</a:t>
            </a:r>
          </a:p>
        </p:txBody>
      </p:sp>
      <p:sp>
        <p:nvSpPr>
          <p:cNvPr id="2" name="">
            <a:extLst xmlns:a="http://schemas.openxmlformats.org/drawingml/2006/main">
              <a:ext uri="{FF2B5EF4-FFF2-40B4-BE49-F238E27FC236}">
                <a16:creationId xmlns:a16="http://schemas.microsoft.com/office/drawing/2014/main" id="{E8E02FF4-4C1B-4D2F-B441-32D2FD53906D}"/>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28</a:t>
            </a:r>
          </a:p>
        </p:txBody>
      </p:sp>
      <p:graphicFrame>
        <p:nvGraphicFramePr>
          <p:cNvPr id="7" name=""/>
          <p:cNvGraphicFramePr/>
          <p:nvPr/>
        </p:nvGraphicFramePr>
        <p:xfrm>
          <a:off xmlns:a="http://schemas.openxmlformats.org/drawingml/2006/main" x="685800" y="2057400"/>
          <a:ext xmlns:a="http://schemas.openxmlformats.org/drawingml/2006/main" cx="10820400" cy="3371850"/>
        </p:xfrm>
        <a:graphic xmlns:a="http://schemas.openxmlformats.org/drawingml/2006/main">
          <a:graphicData uri="http://schemas.openxmlformats.org/drawingml/2006/table">
            <a:tbl>
              <a:tblPr firstRow="0" bandRow="0"/>
              <a:tblGrid>
                <a:gridCol w="4953000"/>
                <a:gridCol w="2933700"/>
                <a:gridCol w="2933700"/>
              </a:tblGrid>
              <a:tr h="561975">
                <a:tc>
                  <a:txBody>
                    <a:bodyPr lIns="114300" tIns="19050" rIns="114300" bIns="19050">
                      <a:noAutofit/>
                    </a:bodyPr>
                    <a:lstStyle/>
                    <a:p>
                      <a:r>
                        <a:rPr sz="1800" b="1">
                          <a:solidFill>
                            <a:srgbClr val="F2EFE8"/>
                          </a:solidFill>
                          <a:latin typeface="Avenir Next"/>
                          <a:ea typeface="Avenir Next"/>
                          <a:cs typeface="Avenir Next"/>
                        </a:rPr>
                        <a:t>Known session</a:t>
                      </a:r>
                    </a:p>
                  </a:txBody>
                  <a:tcPr marL="91440" marR="91440" marT="45720" marB="45720" anchor="ctr">
                    <a:solidFill>
                      <a:srgbClr val="17252B"/>
                    </a:solidFill>
                  </a:tcPr>
                </a:tc>
                <a:tc>
                  <a:txBody>
                    <a:bodyPr lIns="114300" tIns="19050" rIns="114300" bIns="19050">
                      <a:noAutofit/>
                    </a:bodyPr>
                    <a:lstStyle/>
                    <a:p>
                      <a:r>
                        <a:rPr sz="1800" b="1">
                          <a:solidFill>
                            <a:srgbClr val="F2EFE8"/>
                          </a:solidFill>
                          <a:latin typeface="Avenir Next"/>
                          <a:ea typeface="Avenir Next"/>
                          <a:cs typeface="Avenir Next"/>
                        </a:rPr>
                        <a:t>Current Dossier, 40 ratings</a:t>
                      </a:r>
                    </a:p>
                  </a:txBody>
                  <a:tcPr marL="91440" marR="91440" marT="45720" marB="45720" anchor="ctr">
                    <a:solidFill>
                      <a:srgbClr val="17252B"/>
                    </a:solidFill>
                  </a:tcPr>
                </a:tc>
                <a:tc>
                  <a:txBody>
                    <a:bodyPr lIns="114300" tIns="19050" rIns="114300" bIns="19050">
                      <a:noAutofit/>
                    </a:bodyPr>
                    <a:lstStyle/>
                    <a:p>
                      <a:r>
                        <a:rPr sz="1800" b="1">
                          <a:solidFill>
                            <a:srgbClr val="F2EFE8"/>
                          </a:solidFill>
                          <a:latin typeface="Avenir Next"/>
                          <a:ea typeface="Avenir Next"/>
                          <a:cs typeface="Avenir Next"/>
                        </a:rPr>
                        <a:t>Fixed alternative, 40 ratings</a:t>
                      </a:r>
                    </a:p>
                  </a:txBody>
                  <a:tcPr marL="91440" marR="91440" marT="45720" marB="45720" anchor="ctr">
                    <a:solidFill>
                      <a:srgbClr val="17252B"/>
                    </a:solidFill>
                  </a:tcPr>
                </a:tc>
              </a:tr>
              <a:tr h="561975">
                <a:tc>
                  <a:txBody>
                    <a:bodyPr lIns="114300" tIns="19050" rIns="114300" bIns="19050">
                      <a:noAutofit/>
                    </a:bodyPr>
                    <a:lstStyle/>
                    <a:p>
                      <a:r>
                        <a:rPr sz="1800" b="1">
                          <a:solidFill>
                            <a:srgbClr val="17252B"/>
                          </a:solidFill>
                          <a:latin typeface="Avenir Next"/>
                          <a:ea typeface="Avenir Next"/>
                          <a:cs typeface="Avenir Next"/>
                        </a:rPr>
                        <a:t>Viewer 21 / order 11</a:t>
                      </a:r>
                    </a:p>
                  </a:txBody>
                  <a:tcPr marL="91440" marR="91440" marT="45720" marB="45720" anchor="ctr">
                    <a:solidFill>
                      <a:srgbClr val="F2EFE8"/>
                    </a:solidFill>
                  </a:tcPr>
                </a:tc>
                <a:tc>
                  <a:txBody>
                    <a:bodyPr lIns="114300" tIns="19050" rIns="114300" bIns="19050">
                      <a:noAutofit/>
                    </a:bodyPr>
                    <a:lstStyle/>
                    <a:p>
                      <a:r>
                        <a:rPr sz="1800" b="0">
                          <a:solidFill>
                            <a:srgbClr val="17252B"/>
                          </a:solidFill>
                          <a:latin typeface="Avenir Next"/>
                          <a:ea typeface="Avenir Next"/>
                          <a:cs typeface="Avenir Next"/>
                        </a:rPr>
                        <a:t>46.3%</a:t>
                      </a:r>
                    </a:p>
                  </a:txBody>
                  <a:tcPr marL="91440" marR="91440" marT="45720" marB="45720" anchor="ctr">
                    <a:solidFill>
                      <a:srgbClr val="F2EFE8"/>
                    </a:solidFill>
                  </a:tcPr>
                </a:tc>
                <a:tc>
                  <a:txBody>
                    <a:bodyPr lIns="114300" tIns="19050" rIns="114300" bIns="19050">
                      <a:noAutofit/>
                    </a:bodyPr>
                    <a:lstStyle/>
                    <a:p>
                      <a:r>
                        <a:rPr sz="1800" b="0">
                          <a:solidFill>
                            <a:srgbClr val="17252B"/>
                          </a:solidFill>
                          <a:latin typeface="Avenir Next"/>
                          <a:ea typeface="Avenir Next"/>
                          <a:cs typeface="Avenir Next"/>
                        </a:rPr>
                        <a:t>72.7%</a:t>
                      </a:r>
                    </a:p>
                  </a:txBody>
                  <a:tcPr marL="91440" marR="91440" marT="45720" marB="45720" anchor="ctr">
                    <a:solidFill>
                      <a:srgbClr val="F2EFE8"/>
                    </a:solidFill>
                  </a:tcPr>
                </a:tc>
              </a:tr>
              <a:tr h="561975">
                <a:tc>
                  <a:txBody>
                    <a:bodyPr lIns="114300" tIns="19050" rIns="114300" bIns="19050">
                      <a:noAutofit/>
                    </a:bodyPr>
                    <a:lstStyle/>
                    <a:p>
                      <a:r>
                        <a:rPr sz="1800" b="1">
                          <a:solidFill>
                            <a:srgbClr val="17252B"/>
                          </a:solidFill>
                          <a:latin typeface="Avenir Next"/>
                          <a:ea typeface="Avenir Next"/>
                          <a:cs typeface="Avenir Next"/>
                        </a:rPr>
                        <a:t>Viewer 21 / order 83</a:t>
                      </a:r>
                    </a:p>
                  </a:txBody>
                  <a:tcPr marL="91440" marR="91440" marT="45720" marB="45720" anchor="ctr">
                    <a:solidFill>
                      <a:srgbClr val="F2EFE8"/>
                    </a:solidFill>
                  </a:tcPr>
                </a:tc>
                <a:tc>
                  <a:txBody>
                    <a:bodyPr lIns="114300" tIns="19050" rIns="114300" bIns="19050">
                      <a:noAutofit/>
                    </a:bodyPr>
                    <a:lstStyle/>
                    <a:p>
                      <a:r>
                        <a:rPr sz="1800" b="0">
                          <a:solidFill>
                            <a:srgbClr val="17252B"/>
                          </a:solidFill>
                          <a:latin typeface="Avenir Next"/>
                          <a:ea typeface="Avenir Next"/>
                          <a:cs typeface="Avenir Next"/>
                        </a:rPr>
                        <a:t>37.7%</a:t>
                      </a:r>
                    </a:p>
                  </a:txBody>
                  <a:tcPr marL="91440" marR="91440" marT="45720" marB="45720" anchor="ctr">
                    <a:solidFill>
                      <a:srgbClr val="F2EFE8"/>
                    </a:solidFill>
                  </a:tcPr>
                </a:tc>
                <a:tc>
                  <a:txBody>
                    <a:bodyPr lIns="114300" tIns="19050" rIns="114300" bIns="19050">
                      <a:noAutofit/>
                    </a:bodyPr>
                    <a:lstStyle/>
                    <a:p>
                      <a:r>
                        <a:rPr sz="1800" b="0">
                          <a:solidFill>
                            <a:srgbClr val="17252B"/>
                          </a:solidFill>
                          <a:latin typeface="Avenir Next"/>
                          <a:ea typeface="Avenir Next"/>
                          <a:cs typeface="Avenir Next"/>
                        </a:rPr>
                        <a:t>66.9%</a:t>
                      </a:r>
                    </a:p>
                  </a:txBody>
                  <a:tcPr marL="91440" marR="91440" marT="45720" marB="45720" anchor="ctr">
                    <a:solidFill>
                      <a:srgbClr val="F2EFE8"/>
                    </a:solidFill>
                  </a:tcPr>
                </a:tc>
              </a:tr>
              <a:tr h="561975">
                <a:tc>
                  <a:txBody>
                    <a:bodyPr lIns="114300" tIns="19050" rIns="114300" bIns="19050">
                      <a:noAutofit/>
                    </a:bodyPr>
                    <a:lstStyle/>
                    <a:p>
                      <a:r>
                        <a:rPr sz="1800" b="1">
                          <a:solidFill>
                            <a:srgbClr val="17252B"/>
                          </a:solidFill>
                          <a:latin typeface="Avenir Next"/>
                          <a:ea typeface="Avenir Next"/>
                          <a:cs typeface="Avenir Next"/>
                        </a:rPr>
                        <a:t>Viewer 177 / order 11</a:t>
                      </a:r>
                    </a:p>
                  </a:txBody>
                  <a:tcPr marL="91440" marR="91440" marT="45720" marB="45720" anchor="ctr">
                    <a:solidFill>
                      <a:srgbClr val="F2EFE8"/>
                    </a:solidFill>
                  </a:tcPr>
                </a:tc>
                <a:tc>
                  <a:txBody>
                    <a:bodyPr lIns="114300" tIns="19050" rIns="114300" bIns="19050">
                      <a:noAutofit/>
                    </a:bodyPr>
                    <a:lstStyle/>
                    <a:p>
                      <a:r>
                        <a:rPr sz="1800" b="0">
                          <a:solidFill>
                            <a:srgbClr val="17252B"/>
                          </a:solidFill>
                          <a:latin typeface="Avenir Next"/>
                          <a:ea typeface="Avenir Next"/>
                          <a:cs typeface="Avenir Next"/>
                        </a:rPr>
                        <a:t>55.5%</a:t>
                      </a:r>
                    </a:p>
                  </a:txBody>
                  <a:tcPr marL="91440" marR="91440" marT="45720" marB="45720" anchor="ctr">
                    <a:solidFill>
                      <a:srgbClr val="F2EFE8"/>
                    </a:solidFill>
                  </a:tcPr>
                </a:tc>
                <a:tc>
                  <a:txBody>
                    <a:bodyPr lIns="114300" tIns="19050" rIns="114300" bIns="19050">
                      <a:noAutofit/>
                    </a:bodyPr>
                    <a:lstStyle/>
                    <a:p>
                      <a:r>
                        <a:rPr sz="1800" b="0">
                          <a:solidFill>
                            <a:srgbClr val="17252B"/>
                          </a:solidFill>
                          <a:latin typeface="Avenir Next"/>
                          <a:ea typeface="Avenir Next"/>
                          <a:cs typeface="Avenir Next"/>
                        </a:rPr>
                        <a:t>85.3%</a:t>
                      </a:r>
                    </a:p>
                  </a:txBody>
                  <a:tcPr marL="91440" marR="91440" marT="45720" marB="45720" anchor="ctr">
                    <a:solidFill>
                      <a:srgbClr val="F2EFE8"/>
                    </a:solidFill>
                  </a:tcPr>
                </a:tc>
              </a:tr>
              <a:tr h="561975">
                <a:tc>
                  <a:txBody>
                    <a:bodyPr lIns="114300" tIns="19050" rIns="114300" bIns="19050">
                      <a:noAutofit/>
                    </a:bodyPr>
                    <a:lstStyle/>
                    <a:p>
                      <a:r>
                        <a:rPr sz="1800" b="1">
                          <a:solidFill>
                            <a:srgbClr val="17252B"/>
                          </a:solidFill>
                          <a:latin typeface="Avenir Next"/>
                          <a:ea typeface="Avenir Next"/>
                          <a:cs typeface="Avenir Next"/>
                        </a:rPr>
                        <a:t>Viewer 483 / order 83</a:t>
                      </a:r>
                    </a:p>
                  </a:txBody>
                  <a:tcPr marL="91440" marR="91440" marT="45720" marB="45720" anchor="ctr">
                    <a:solidFill>
                      <a:srgbClr val="F2EFE8"/>
                    </a:solidFill>
                  </a:tcPr>
                </a:tc>
                <a:tc>
                  <a:txBody>
                    <a:bodyPr lIns="114300" tIns="19050" rIns="114300" bIns="19050">
                      <a:noAutofit/>
                    </a:bodyPr>
                    <a:lstStyle/>
                    <a:p>
                      <a:r>
                        <a:rPr sz="1800" b="0">
                          <a:solidFill>
                            <a:srgbClr val="17252B"/>
                          </a:solidFill>
                          <a:latin typeface="Avenir Next"/>
                          <a:ea typeface="Avenir Next"/>
                          <a:cs typeface="Avenir Next"/>
                        </a:rPr>
                        <a:t>28.3%</a:t>
                      </a:r>
                    </a:p>
                  </a:txBody>
                  <a:tcPr marL="91440" marR="91440" marT="45720" marB="45720" anchor="ctr">
                    <a:solidFill>
                      <a:srgbClr val="F2EFE8"/>
                    </a:solidFill>
                  </a:tcPr>
                </a:tc>
                <a:tc>
                  <a:txBody>
                    <a:bodyPr lIns="114300" tIns="19050" rIns="114300" bIns="19050">
                      <a:noAutofit/>
                    </a:bodyPr>
                    <a:lstStyle/>
                    <a:p>
                      <a:r>
                        <a:rPr sz="1800" b="0">
                          <a:solidFill>
                            <a:srgbClr val="17252B"/>
                          </a:solidFill>
                          <a:latin typeface="Avenir Next"/>
                          <a:ea typeface="Avenir Next"/>
                          <a:cs typeface="Avenir Next"/>
                        </a:rPr>
                        <a:t>76.3%</a:t>
                      </a:r>
                    </a:p>
                  </a:txBody>
                  <a:tcPr marL="91440" marR="91440" marT="45720" marB="45720" anchor="ctr">
                    <a:solidFill>
                      <a:srgbClr val="F2EFE8"/>
                    </a:solidFill>
                  </a:tcPr>
                </a:tc>
              </a:tr>
              <a:tr h="561975">
                <a:tc>
                  <a:txBody>
                    <a:bodyPr lIns="114300" tIns="19050" rIns="114300" bIns="19050">
                      <a:noAutofit/>
                    </a:bodyPr>
                    <a:lstStyle/>
                    <a:p>
                      <a:r>
                        <a:rPr sz="1800" b="1">
                          <a:solidFill>
                            <a:srgbClr val="17252B"/>
                          </a:solidFill>
                          <a:latin typeface="Avenir Next"/>
                          <a:ea typeface="Avenir Next"/>
                          <a:cs typeface="Avenir Next"/>
                        </a:rPr>
                        <a:t>Viewer 603 / order 29</a:t>
                      </a:r>
                    </a:p>
                  </a:txBody>
                  <a:tcPr marL="91440" marR="91440" marT="45720" marB="45720" anchor="ctr">
                    <a:solidFill>
                      <a:srgbClr val="F2EFE8"/>
                    </a:solidFill>
                  </a:tcPr>
                </a:tc>
                <a:tc>
                  <a:txBody>
                    <a:bodyPr lIns="114300" tIns="19050" rIns="114300" bIns="19050">
                      <a:noAutofit/>
                    </a:bodyPr>
                    <a:lstStyle/>
                    <a:p>
                      <a:r>
                        <a:rPr sz="1800" b="0">
                          <a:solidFill>
                            <a:srgbClr val="17252B"/>
                          </a:solidFill>
                          <a:latin typeface="Avenir Next"/>
                          <a:ea typeface="Avenir Next"/>
                          <a:cs typeface="Avenir Next"/>
                        </a:rPr>
                        <a:t>49.0%</a:t>
                      </a:r>
                    </a:p>
                  </a:txBody>
                  <a:tcPr marL="91440" marR="91440" marT="45720" marB="45720" anchor="ctr">
                    <a:solidFill>
                      <a:srgbClr val="F2EFE8"/>
                    </a:solidFill>
                  </a:tcPr>
                </a:tc>
                <a:tc>
                  <a:txBody>
                    <a:bodyPr lIns="114300" tIns="19050" rIns="114300" bIns="19050">
                      <a:noAutofit/>
                    </a:bodyPr>
                    <a:lstStyle/>
                    <a:p>
                      <a:r>
                        <a:rPr sz="1800" b="0">
                          <a:solidFill>
                            <a:srgbClr val="17252B"/>
                          </a:solidFill>
                          <a:latin typeface="Avenir Next"/>
                          <a:ea typeface="Avenir Next"/>
                          <a:cs typeface="Avenir Next"/>
                        </a:rPr>
                        <a:t>62.0%</a:t>
                      </a:r>
                    </a:p>
                  </a:txBody>
                  <a:tcPr marL="91440" marR="91440" marT="45720" marB="45720" anchor="ctr">
                    <a:solidFill>
                      <a:srgbClr val="F2EFE8"/>
                    </a:solidFill>
                  </a:tcPr>
                </a:tc>
              </a:tr>
            </a:tbl>
          </a:graphicData>
        </a:graphic>
      </p:graphicFrame>
      <p:sp>
        <p:nvSpPr>
          <p:cNvPr id="4" name="">
            <a:extLst xmlns:a="http://schemas.openxmlformats.org/drawingml/2006/main">
              <a:ext uri="{FF2B5EF4-FFF2-40B4-BE49-F238E27FC236}">
                <a16:creationId xmlns:a16="http://schemas.microsoft.com/office/drawing/2014/main" id="{FB4E1EBD-B695-4121-B1B2-6F05D824BB1C}"/>
              </a:ext>
            </a:extLst>
          </p:cNvPr>
          <p:cNvSpPr>
            <a:spLocks xmlns:a="http://schemas.openxmlformats.org/drawingml/2006/main" noGrp="1"/>
          </p:cNvSpPr>
          <p:nvPr/>
        </p:nvSpPr>
        <p:spPr>
          <a:xfrm xmlns:a="http://schemas.openxmlformats.org/drawingml/2006/main">
            <a:off x="685800" y="5724525"/>
            <a:ext cx="1047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All five avoid the large original losses. One still loses 3.3 points as ratings increase.</a:t>
            </a:r>
          </a:p>
        </p:txBody>
      </p:sp>
    </p:spTree>
    <p:extLst>
      <p:ext uri="{BB962C8B-B14F-4D97-AF65-F5344CB8AC3E}">
        <p14:creationId xmlns:p14="http://schemas.microsoft.com/office/powerpoint/2010/main" val="968012050"/>
      </p:ext>
    </p:extLst>
  </p:cSld>
</p:sld>
</file>

<file path=ppt/slides/slide29.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1348935-35E0-40D3-9DC6-5BF318A93943}"/>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What the results mean for someone using Dossier</a:t>
            </a:r>
          </a:p>
        </p:txBody>
      </p:sp>
      <p:sp>
        <p:nvSpPr>
          <p:cNvPr id="2" name="">
            <a:extLst xmlns:a="http://schemas.openxmlformats.org/drawingml/2006/main">
              <a:ext uri="{FF2B5EF4-FFF2-40B4-BE49-F238E27FC236}">
                <a16:creationId xmlns:a16="http://schemas.microsoft.com/office/drawing/2014/main" id="{19108659-2859-4A5D-AD1F-9710B4E918A6}"/>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29</a:t>
            </a:r>
          </a:p>
        </p:txBody>
      </p:sp>
      <p:sp>
        <p:nvSpPr>
          <p:cNvPr id="3" name="">
            <a:extLst xmlns:a="http://schemas.openxmlformats.org/drawingml/2006/main">
              <a:ext uri="{FF2B5EF4-FFF2-40B4-BE49-F238E27FC236}">
                <a16:creationId xmlns:a16="http://schemas.microsoft.com/office/drawing/2014/main" id="{4E385647-B3F4-484F-8F7E-D2FF6B97E382}"/>
              </a:ext>
            </a:extLst>
          </p:cNvPr>
          <p:cNvSpPr>
            <a:spLocks xmlns:a="http://schemas.openxmlformats.org/drawingml/2006/main" noGrp="1"/>
          </p:cNvSpPr>
          <p:nvPr/>
        </p:nvSpPr>
        <p:spPr>
          <a:xfrm xmlns:a="http://schemas.openxmlformats.org/drawingml/2006/main">
            <a:off x="685800" y="2047875"/>
            <a:ext cx="10477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Most tested viewers would receive better suggestions from a ranking that gives public reviews much more weight.</a:t>
            </a:r>
          </a:p>
        </p:txBody>
      </p:sp>
      <p:sp>
        <p:nvSpPr>
          <p:cNvPr id="4" name="">
            <a:extLst xmlns:a="http://schemas.openxmlformats.org/drawingml/2006/main">
              <a:ext uri="{FF2B5EF4-FFF2-40B4-BE49-F238E27FC236}">
                <a16:creationId xmlns:a16="http://schemas.microsoft.com/office/drawing/2014/main" id="{69A8EA33-DA9A-43A0-94D4-D0DB583539F8}"/>
              </a:ext>
            </a:extLst>
          </p:cNvPr>
          <p:cNvSpPr>
            <a:spLocks xmlns:a="http://schemas.openxmlformats.org/drawingml/2006/main" noGrp="1"/>
          </p:cNvSpPr>
          <p:nvPr/>
        </p:nvSpPr>
        <p:spPr>
          <a:xfrm xmlns:a="http://schemas.openxmlformats.org/drawingml/2006/main">
            <a:off x="685800" y="3248025"/>
            <a:ext cx="10477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A person with unusual taste may lose the recommendations that make Dossier feel personal.</a:t>
            </a:r>
          </a:p>
        </p:txBody>
      </p:sp>
      <p:sp>
        <p:nvSpPr>
          <p:cNvPr id="5" name="">
            <a:extLst xmlns:a="http://schemas.openxmlformats.org/drawingml/2006/main">
              <a:ext uri="{FF2B5EF4-FFF2-40B4-BE49-F238E27FC236}">
                <a16:creationId xmlns:a16="http://schemas.microsoft.com/office/drawing/2014/main" id="{4403CB7D-9FD4-4F79-B261-E5629BB38B2C}"/>
              </a:ext>
            </a:extLst>
          </p:cNvPr>
          <p:cNvSpPr>
            <a:spLocks xmlns:a="http://schemas.openxmlformats.org/drawingml/2006/main" noGrp="1"/>
          </p:cNvSpPr>
          <p:nvPr/>
        </p:nvSpPr>
        <p:spPr>
          <a:xfrm xmlns:a="http://schemas.openxmlformats.org/drawingml/2006/main">
            <a:off x="685800" y="4448175"/>
            <a:ext cx="10477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Adding more ratings or answering Dossier’s questions does not reliably prevent that loss.</a:t>
            </a:r>
          </a:p>
        </p:txBody>
      </p:sp>
      <p:sp>
        <p:nvSpPr>
          <p:cNvPr id="6" name="">
            <a:extLst xmlns:a="http://schemas.openxmlformats.org/drawingml/2006/main">
              <a:ext uri="{FF2B5EF4-FFF2-40B4-BE49-F238E27FC236}">
                <a16:creationId xmlns:a16="http://schemas.microsoft.com/office/drawing/2014/main" id="{590FC9BD-F9A4-4A3C-AEE1-6EA3420E9D54}"/>
              </a:ext>
            </a:extLst>
          </p:cNvPr>
          <p:cNvSpPr>
            <a:spLocks xmlns:a="http://schemas.openxmlformats.org/drawingml/2006/main" noGrp="1"/>
          </p:cNvSpPr>
          <p:nvPr/>
        </p:nvSpPr>
        <p:spPr>
          <a:xfrm xmlns:a="http://schemas.openxmlformats.org/drawingml/2006/main">
            <a:off x="685800" y="57531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Dossier needs to recognise when personal ratings should outweigh the public consensus.</a:t>
            </a:r>
          </a:p>
        </p:txBody>
      </p:sp>
    </p:spTree>
    <p:extLst>
      <p:ext uri="{BB962C8B-B14F-4D97-AF65-F5344CB8AC3E}">
        <p14:creationId xmlns:p14="http://schemas.microsoft.com/office/powerpoint/2010/main" val="973043752"/>
      </p:ext>
    </p:extLst>
  </p:cSld>
</p:sld>
</file>

<file path=ppt/slides/slide30.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4BE6D9D-0101-4BF0-BFEB-75BFD5C88CB5}"/>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What these experiments cannot tell us</a:t>
            </a:r>
          </a:p>
        </p:txBody>
      </p:sp>
      <p:sp>
        <p:nvSpPr>
          <p:cNvPr id="2" name="">
            <a:extLst xmlns:a="http://schemas.openxmlformats.org/drawingml/2006/main">
              <a:ext uri="{FF2B5EF4-FFF2-40B4-BE49-F238E27FC236}">
                <a16:creationId xmlns:a16="http://schemas.microsoft.com/office/drawing/2014/main" id="{DDC1FBE0-4DBC-4446-AC01-F7D5016821F8}"/>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30</a:t>
            </a:r>
          </a:p>
        </p:txBody>
      </p:sp>
      <p:sp>
        <p:nvSpPr>
          <p:cNvPr id="3" name="">
            <a:extLst xmlns:a="http://schemas.openxmlformats.org/drawingml/2006/main">
              <a:ext uri="{FF2B5EF4-FFF2-40B4-BE49-F238E27FC236}">
                <a16:creationId xmlns:a16="http://schemas.microsoft.com/office/drawing/2014/main" id="{BAFF82DB-F0AF-46DE-AF7A-C7CBBF1F07F4}"/>
              </a:ext>
            </a:extLst>
          </p:cNvPr>
          <p:cNvSpPr>
            <a:spLocks xmlns:a="http://schemas.openxmlformats.org/drawingml/2006/main" noGrp="1"/>
          </p:cNvSpPr>
          <p:nvPr/>
        </p:nvSpPr>
        <p:spPr>
          <a:xfrm xmlns:a="http://schemas.openxmlformats.org/drawingml/2006/main">
            <a:off x="685800" y="204787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The real viewers come from one historical ratings source. We have not tested people using Dossier today.</a:t>
            </a:r>
          </a:p>
        </p:txBody>
      </p:sp>
      <p:sp>
        <p:nvSpPr>
          <p:cNvPr id="4" name="">
            <a:extLst xmlns:a="http://schemas.openxmlformats.org/drawingml/2006/main">
              <a:ext uri="{FF2B5EF4-FFF2-40B4-BE49-F238E27FC236}">
                <a16:creationId xmlns:a16="http://schemas.microsoft.com/office/drawing/2014/main" id="{56AF0E9B-C9FA-43B5-85F7-E6835CF80D12}"/>
              </a:ext>
            </a:extLst>
          </p:cNvPr>
          <p:cNvSpPr>
            <a:spLocks xmlns:a="http://schemas.openxmlformats.org/drawingml/2006/main" noGrp="1"/>
          </p:cNvSpPr>
          <p:nvPr/>
        </p:nvSpPr>
        <p:spPr>
          <a:xfrm xmlns:a="http://schemas.openxmlformats.org/drawingml/2006/main">
            <a:off x="685800" y="3286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We rank films they already chose to rate. We have not tested every unseen film or the whole discovery experience.</a:t>
            </a:r>
          </a:p>
        </p:txBody>
      </p:sp>
      <p:sp>
        <p:nvSpPr>
          <p:cNvPr id="5" name="">
            <a:extLst xmlns:a="http://schemas.openxmlformats.org/drawingml/2006/main">
              <a:ext uri="{FF2B5EF4-FFF2-40B4-BE49-F238E27FC236}">
                <a16:creationId xmlns:a16="http://schemas.microsoft.com/office/drawing/2014/main" id="{6B78BE22-BF4A-456C-A58E-FDD3AFE6E2A9}"/>
              </a:ext>
            </a:extLst>
          </p:cNvPr>
          <p:cNvSpPr>
            <a:spLocks xmlns:a="http://schemas.openxmlformats.org/drawingml/2006/main" noGrp="1"/>
          </p:cNvSpPr>
          <p:nvPr/>
        </p:nvSpPr>
        <p:spPr>
          <a:xfrm xmlns:a="http://schemas.openxmlformats.org/drawingml/2006/main">
            <a:off x="685800" y="452437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We tested few people with unusual taste. Keeping answers hidden also left some people with too few dislikes to reveal.</a:t>
            </a:r>
          </a:p>
        </p:txBody>
      </p:sp>
    </p:spTree>
    <p:extLst>
      <p:ext uri="{BB962C8B-B14F-4D97-AF65-F5344CB8AC3E}">
        <p14:creationId xmlns:p14="http://schemas.microsoft.com/office/powerpoint/2010/main" val="115209485"/>
      </p:ext>
    </p:extLst>
  </p:cSld>
</p:sld>
</file>

<file path=ppt/slides/slide31.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282C0C3-C1A0-4404-9716-78D6D854C951}"/>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next decision needs protection that actually works</a:t>
            </a:r>
          </a:p>
        </p:txBody>
      </p:sp>
      <p:sp>
        <p:nvSpPr>
          <p:cNvPr id="2" name="">
            <a:extLst xmlns:a="http://schemas.openxmlformats.org/drawingml/2006/main">
              <a:ext uri="{FF2B5EF4-FFF2-40B4-BE49-F238E27FC236}">
                <a16:creationId xmlns:a16="http://schemas.microsoft.com/office/drawing/2014/main" id="{8767763D-9191-438A-9DBE-55AE768A94A6}"/>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31</a:t>
            </a:r>
          </a:p>
        </p:txBody>
      </p:sp>
      <p:sp>
        <p:nvSpPr>
          <p:cNvPr id="3" name="">
            <a:extLst xmlns:a="http://schemas.openxmlformats.org/drawingml/2006/main">
              <a:ext uri="{FF2B5EF4-FFF2-40B4-BE49-F238E27FC236}">
                <a16:creationId xmlns:a16="http://schemas.microsoft.com/office/drawing/2014/main" id="{60CCDD76-F2C8-45F4-95D3-C63DFF36944B}"/>
              </a:ext>
            </a:extLst>
          </p:cNvPr>
          <p:cNvSpPr>
            <a:spLocks xmlns:a="http://schemas.openxmlformats.org/drawingml/2006/main" noGrp="1"/>
          </p:cNvSpPr>
          <p:nvPr/>
        </p:nvSpPr>
        <p:spPr>
          <a:xfrm xmlns:a="http://schemas.openxmlformats.org/drawingml/2006/main">
            <a:off x="685800" y="2038350"/>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The 75/25 candidate stays fixed. Product defaults stay unchanged.</a:t>
            </a:r>
          </a:p>
        </p:txBody>
      </p:sp>
      <p:sp>
        <p:nvSpPr>
          <p:cNvPr id="4" name="">
            <a:extLst xmlns:a="http://schemas.openxmlformats.org/drawingml/2006/main">
              <a:ext uri="{FF2B5EF4-FFF2-40B4-BE49-F238E27FC236}">
                <a16:creationId xmlns:a16="http://schemas.microsoft.com/office/drawing/2014/main" id="{E331F660-931F-4209-B04B-D5FC4B9C65CC}"/>
              </a:ext>
            </a:extLst>
          </p:cNvPr>
          <p:cNvSpPr>
            <a:spLocks xmlns:a="http://schemas.openxmlformats.org/drawingml/2006/main" noGrp="1"/>
          </p:cNvSpPr>
          <p:nvPr/>
        </p:nvSpPr>
        <p:spPr>
          <a:xfrm xmlns:a="http://schemas.openxmlformats.org/drawingml/2006/main">
            <a:off x="685800" y="3200400"/>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The next rule must recognise useful personal taste even when the person gives few dislikes.</a:t>
            </a:r>
          </a:p>
        </p:txBody>
      </p:sp>
      <p:sp>
        <p:nvSpPr>
          <p:cNvPr id="5" name="">
            <a:extLst xmlns:a="http://schemas.openxmlformats.org/drawingml/2006/main">
              <a:ext uri="{FF2B5EF4-FFF2-40B4-BE49-F238E27FC236}">
                <a16:creationId xmlns:a16="http://schemas.microsoft.com/office/drawing/2014/main" id="{882BF31B-361A-494F-B521-5CBA26394890}"/>
              </a:ext>
            </a:extLst>
          </p:cNvPr>
          <p:cNvSpPr>
            <a:spLocks xmlns:a="http://schemas.openxmlformats.org/drawingml/2006/main" noGrp="1"/>
          </p:cNvSpPr>
          <p:nvPr/>
        </p:nvSpPr>
        <p:spPr>
          <a:xfrm xmlns:a="http://schemas.openxmlformats.org/drawingml/2006/main">
            <a:off x="685800" y="4362450"/>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Every proposed change must retain unusual-taste wins and address all five known learning failures.</a:t>
            </a:r>
          </a:p>
        </p:txBody>
      </p:sp>
      <p:sp>
        <p:nvSpPr>
          <p:cNvPr id="6" name="">
            <a:extLst xmlns:a="http://schemas.openxmlformats.org/drawingml/2006/main">
              <a:ext uri="{FF2B5EF4-FFF2-40B4-BE49-F238E27FC236}">
                <a16:creationId xmlns:a16="http://schemas.microsoft.com/office/drawing/2014/main" id="{6449055A-7D82-4C88-B128-728733F4C9D8}"/>
              </a:ext>
            </a:extLst>
          </p:cNvPr>
          <p:cNvSpPr>
            <a:spLocks xmlns:a="http://schemas.openxmlformats.org/drawingml/2006/main" noGrp="1"/>
          </p:cNvSpPr>
          <p:nvPr/>
        </p:nvSpPr>
        <p:spPr>
          <a:xfrm xmlns:a="http://schemas.openxmlformats.org/drawingml/2006/main">
            <a:off x="685800" y="57340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Public reviews and current Dossier remain mandatory comparisons. New evidence must confirm the result.</a:t>
            </a:r>
          </a:p>
        </p:txBody>
      </p:sp>
    </p:spTree>
    <p:extLst>
      <p:ext uri="{BB962C8B-B14F-4D97-AF65-F5344CB8AC3E}">
        <p14:creationId xmlns:p14="http://schemas.microsoft.com/office/powerpoint/2010/main" val="2136662655"/>
      </p:ext>
    </p:extLst>
  </p:cSld>
</p:sld>
</file>

<file path=ppt/slides/slide32.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36C8C54-5504-42C0-9057-50E74386EAAB}"/>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Appendix: every simple comparison</a:t>
            </a:r>
          </a:p>
        </p:txBody>
      </p:sp>
      <p:sp>
        <p:nvSpPr>
          <p:cNvPr id="2" name="">
            <a:extLst xmlns:a="http://schemas.openxmlformats.org/drawingml/2006/main">
              <a:ext uri="{FF2B5EF4-FFF2-40B4-BE49-F238E27FC236}">
                <a16:creationId xmlns:a16="http://schemas.microsoft.com/office/drawing/2014/main" id="{B3CA9904-9291-4AAE-9D8B-48B34C6E16AE}"/>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After 20 ratings. Scores belong to different tests and should not be compared across columns.</a:t>
            </a:r>
          </a:p>
        </p:txBody>
      </p:sp>
      <p:sp>
        <p:nvSpPr>
          <p:cNvPr id="3" name="">
            <a:extLst xmlns:a="http://schemas.openxmlformats.org/drawingml/2006/main">
              <a:ext uri="{FF2B5EF4-FFF2-40B4-BE49-F238E27FC236}">
                <a16:creationId xmlns:a16="http://schemas.microsoft.com/office/drawing/2014/main" id="{02E3FB1F-9A5B-43CF-9221-9A3724BF74C9}"/>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32</a:t>
            </a:r>
          </a:p>
        </p:txBody>
      </p:sp>
      <p:graphicFrame>
        <p:nvGraphicFramePr>
          <p:cNvPr id="9" name=""/>
          <p:cNvGraphicFramePr/>
          <p:nvPr/>
        </p:nvGraphicFramePr>
        <p:xfrm>
          <a:off xmlns:a="http://schemas.openxmlformats.org/drawingml/2006/main" x="685800" y="2143125"/>
          <a:ext xmlns:a="http://schemas.openxmlformats.org/drawingml/2006/main" cx="10820400" cy="3810000"/>
        </p:xfrm>
        <a:graphic xmlns:a="http://schemas.openxmlformats.org/drawingml/2006/main">
          <a:graphicData uri="http://schemas.openxmlformats.org/drawingml/2006/table">
            <a:tbl>
              <a:tblPr firstRow="0" bandRow="0"/>
              <a:tblGrid>
                <a:gridCol w="4095750"/>
                <a:gridCol w="2266950"/>
                <a:gridCol w="2228850"/>
                <a:gridCol w="2228850"/>
              </a:tblGrid>
              <a:tr h="423333">
                <a:tc>
                  <a:txBody>
                    <a:bodyPr lIns="114300" tIns="19050" rIns="114300" bIns="19050">
                      <a:noAutofit/>
                    </a:bodyPr>
                    <a:lstStyle/>
                    <a:p>
                      <a:r>
                        <a:rPr sz="1650" b="1">
                          <a:solidFill>
                            <a:srgbClr val="F2EFE8"/>
                          </a:solidFill>
                          <a:latin typeface="Avenir Next"/>
                          <a:ea typeface="Avenir Next"/>
                          <a:cs typeface="Avenir Next"/>
                        </a:rPr>
                        <a:t>Method</a:t>
                      </a:r>
                    </a:p>
                  </a:txBody>
                  <a:tcPr marL="91440" marR="91440" marT="45720" marB="45720" anchor="ctr">
                    <a:solidFill>
                      <a:srgbClr val="17252B"/>
                    </a:solidFill>
                  </a:tcPr>
                </a:tc>
                <a:tc>
                  <a:txBody>
                    <a:bodyPr lIns="114300" tIns="19050" rIns="114300" bIns="19050">
                      <a:noAutofit/>
                    </a:bodyPr>
                    <a:lstStyle/>
                    <a:p>
                      <a:r>
                        <a:rPr sz="1650" b="1">
                          <a:solidFill>
                            <a:srgbClr val="F2EFE8"/>
                          </a:solidFill>
                          <a:latin typeface="Avenir Next"/>
                          <a:ea typeface="Avenir Next"/>
                          <a:cs typeface="Avenir Next"/>
                        </a:rPr>
                        <a:t>Hard invented test</a:t>
                      </a:r>
                    </a:p>
                  </a:txBody>
                  <a:tcPr marL="91440" marR="91440" marT="45720" marB="45720" anchor="ctr">
                    <a:solidFill>
                      <a:srgbClr val="17252B"/>
                    </a:solidFill>
                  </a:tcPr>
                </a:tc>
                <a:tc>
                  <a:txBody>
                    <a:bodyPr lIns="114300" tIns="19050" rIns="114300" bIns="19050">
                      <a:noAutofit/>
                    </a:bodyPr>
                    <a:lstStyle/>
                    <a:p>
                      <a:r>
                        <a:rPr sz="1650" b="1">
                          <a:solidFill>
                            <a:srgbClr val="F2EFE8"/>
                          </a:solidFill>
                          <a:latin typeface="Avenir Next"/>
                          <a:ea typeface="Avenir Next"/>
                          <a:cs typeface="Avenir Next"/>
                        </a:rPr>
                        <a:t>Real bundled test</a:t>
                      </a:r>
                    </a:p>
                  </a:txBody>
                  <a:tcPr marL="91440" marR="91440" marT="45720" marB="45720" anchor="ctr">
                    <a:solidFill>
                      <a:srgbClr val="17252B"/>
                    </a:solidFill>
                  </a:tcPr>
                </a:tc>
                <a:tc>
                  <a:txBody>
                    <a:bodyPr lIns="114300" tIns="19050" rIns="114300" bIns="19050">
                      <a:noAutofit/>
                    </a:bodyPr>
                    <a:lstStyle/>
                    <a:p>
                      <a:r>
                        <a:rPr sz="1650" b="1">
                          <a:solidFill>
                            <a:srgbClr val="F2EFE8"/>
                          </a:solidFill>
                          <a:latin typeface="Avenir Next"/>
                          <a:ea typeface="Avenir Next"/>
                          <a:cs typeface="Avenir Next"/>
                        </a:rPr>
                        <a:t>TMDB test</a:t>
                      </a:r>
                    </a:p>
                  </a:txBody>
                  <a:tcPr marL="91440" marR="91440" marT="45720" marB="45720" anchor="ctr">
                    <a:solidFill>
                      <a:srgbClr val="17252B"/>
                    </a:solidFill>
                  </a:tcPr>
                </a:tc>
              </a:tr>
              <a:tr h="423333">
                <a:tc>
                  <a:txBody>
                    <a:bodyPr lIns="114300" tIns="19050" rIns="114300" bIns="19050">
                      <a:noAutofit/>
                    </a:bodyPr>
                    <a:lstStyle/>
                    <a:p>
                      <a:r>
                        <a:rPr sz="1650" b="1">
                          <a:solidFill>
                            <a:srgbClr val="17252B"/>
                          </a:solidFill>
                          <a:latin typeface="Avenir Next"/>
                          <a:ea typeface="Avenir Next"/>
                          <a:cs typeface="Avenir Next"/>
                        </a:rPr>
                        <a:t>Current Dossier</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76.1%</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61.1%</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59.2%</a:t>
                      </a:r>
                    </a:p>
                  </a:txBody>
                  <a:tcPr marL="91440" marR="91440" marT="45720" marB="45720" anchor="ctr">
                    <a:solidFill>
                      <a:srgbClr val="F2EFE8"/>
                    </a:solidFill>
                  </a:tcPr>
                </a:tc>
              </a:tr>
              <a:tr h="423333">
                <a:tc>
                  <a:txBody>
                    <a:bodyPr lIns="114300" tIns="19050" rIns="114300" bIns="19050">
                      <a:noAutofit/>
                    </a:bodyPr>
                    <a:lstStyle/>
                    <a:p>
                      <a:r>
                        <a:rPr sz="1650" b="1">
                          <a:solidFill>
                            <a:srgbClr val="17252B"/>
                          </a:solidFill>
                          <a:latin typeface="Avenir Next"/>
                          <a:ea typeface="Avenir Next"/>
                          <a:cs typeface="Avenir Next"/>
                        </a:rPr>
                        <a:t>Public reviews</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Not tested</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82.3%</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80.7%</a:t>
                      </a:r>
                    </a:p>
                  </a:txBody>
                  <a:tcPr marL="91440" marR="91440" marT="45720" marB="45720" anchor="ctr">
                    <a:solidFill>
                      <a:srgbClr val="F2EFE8"/>
                    </a:solidFill>
                  </a:tcPr>
                </a:tc>
              </a:tr>
              <a:tr h="423333">
                <a:tc>
                  <a:txBody>
                    <a:bodyPr lIns="114300" tIns="19050" rIns="114300" bIns="19050">
                      <a:noAutofit/>
                    </a:bodyPr>
                    <a:lstStyle/>
                    <a:p>
                      <a:r>
                        <a:rPr sz="1650" b="1">
                          <a:solidFill>
                            <a:srgbClr val="17252B"/>
                          </a:solidFill>
                          <a:latin typeface="Avenir Next"/>
                          <a:ea typeface="Avenir Next"/>
                          <a:cs typeface="Avenir Next"/>
                        </a:rPr>
                        <a:t>Popularity</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56.7%</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73.6%</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67.1%</a:t>
                      </a:r>
                    </a:p>
                  </a:txBody>
                  <a:tcPr marL="91440" marR="91440" marT="45720" marB="45720" anchor="ctr">
                    <a:solidFill>
                      <a:srgbClr val="F2EFE8"/>
                    </a:solidFill>
                  </a:tcPr>
                </a:tc>
              </a:tr>
              <a:tr h="423333">
                <a:tc>
                  <a:txBody>
                    <a:bodyPr lIns="114300" tIns="19050" rIns="114300" bIns="19050">
                      <a:noAutofit/>
                    </a:bodyPr>
                    <a:lstStyle/>
                    <a:p>
                      <a:r>
                        <a:rPr sz="1650" b="1">
                          <a:solidFill>
                            <a:srgbClr val="17252B"/>
                          </a:solidFill>
                          <a:latin typeface="Avenir Next"/>
                          <a:ea typeface="Avenir Next"/>
                          <a:cs typeface="Avenir Next"/>
                        </a:rPr>
                        <a:t>Preferred genres</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71.7%</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59.4%</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59.1%</a:t>
                      </a:r>
                    </a:p>
                  </a:txBody>
                  <a:tcPr marL="91440" marR="91440" marT="45720" marB="45720" anchor="ctr">
                    <a:solidFill>
                      <a:srgbClr val="F2EFE8"/>
                    </a:solidFill>
                  </a:tcPr>
                </a:tc>
              </a:tr>
              <a:tr h="423333">
                <a:tc>
                  <a:txBody>
                    <a:bodyPr lIns="114300" tIns="19050" rIns="114300" bIns="19050">
                      <a:noAutofit/>
                    </a:bodyPr>
                    <a:lstStyle/>
                    <a:p>
                      <a:r>
                        <a:rPr sz="1650" b="1">
                          <a:solidFill>
                            <a:srgbClr val="17252B"/>
                          </a:solidFill>
                          <a:latin typeface="Avenir Next"/>
                          <a:ea typeface="Avenir Next"/>
                          <a:cs typeface="Avenir Next"/>
                        </a:rPr>
                        <a:t>Average film style</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64.1%</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57.8%</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56.8%</a:t>
                      </a:r>
                    </a:p>
                  </a:txBody>
                  <a:tcPr marL="91440" marR="91440" marT="45720" marB="45720" anchor="ctr">
                    <a:solidFill>
                      <a:srgbClr val="F2EFE8"/>
                    </a:solidFill>
                  </a:tcPr>
                </a:tc>
              </a:tr>
              <a:tr h="423333">
                <a:tc>
                  <a:txBody>
                    <a:bodyPr lIns="114300" tIns="19050" rIns="114300" bIns="19050">
                      <a:noAutofit/>
                    </a:bodyPr>
                    <a:lstStyle/>
                    <a:p>
                      <a:r>
                        <a:rPr sz="1650" b="1">
                          <a:solidFill>
                            <a:srgbClr val="17252B"/>
                          </a:solidFill>
                          <a:latin typeface="Avenir Next"/>
                          <a:ea typeface="Avenir Next"/>
                          <a:cs typeface="Avenir Next"/>
                        </a:rPr>
                        <a:t>Similar rated films</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75.4%</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57.1%</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56.1%</a:t>
                      </a:r>
                    </a:p>
                  </a:txBody>
                  <a:tcPr marL="91440" marR="91440" marT="45720" marB="45720" anchor="ctr">
                    <a:solidFill>
                      <a:srgbClr val="F2EFE8"/>
                    </a:solidFill>
                  </a:tcPr>
                </a:tc>
              </a:tr>
              <a:tr h="423333">
                <a:tc>
                  <a:txBody>
                    <a:bodyPr lIns="114300" tIns="19050" rIns="114300" bIns="19050">
                      <a:noAutofit/>
                    </a:bodyPr>
                    <a:lstStyle/>
                    <a:p>
                      <a:r>
                        <a:rPr sz="1650" b="1">
                          <a:solidFill>
                            <a:srgbClr val="17252B"/>
                          </a:solidFill>
                          <a:latin typeface="Avenir Next"/>
                          <a:ea typeface="Avenir Next"/>
                          <a:cs typeface="Avenir Next"/>
                        </a:rPr>
                        <a:t>Random order</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53.3%</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50.9%</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50.9%</a:t>
                      </a:r>
                    </a:p>
                  </a:txBody>
                  <a:tcPr marL="91440" marR="91440" marT="45720" marB="45720" anchor="ctr">
                    <a:solidFill>
                      <a:srgbClr val="F2EFE8"/>
                    </a:solidFill>
                  </a:tcPr>
                </a:tc>
              </a:tr>
              <a:tr h="423333">
                <a:tc>
                  <a:txBody>
                    <a:bodyPr lIns="114300" tIns="19050" rIns="114300" bIns="19050">
                      <a:noAutofit/>
                    </a:bodyPr>
                    <a:lstStyle/>
                    <a:p>
                      <a:r>
                        <a:rPr sz="1650" b="1">
                          <a:solidFill>
                            <a:srgbClr val="17252B"/>
                          </a:solidFill>
                          <a:latin typeface="Avenir Next"/>
                          <a:ea typeface="Avenir Next"/>
                          <a:cs typeface="Avenir Next"/>
                        </a:rPr>
                        <a:t>Other viewers’ ratings</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Not tested</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82.1%</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82.1%</a:t>
                      </a:r>
                    </a:p>
                  </a:txBody>
                  <a:tcPr marL="91440" marR="91440" marT="45720" marB="45720" anchor="ctr">
                    <a:solidFill>
                      <a:srgbClr val="F2EFE8"/>
                    </a:solidFill>
                  </a:tcPr>
                </a:tc>
              </a:tr>
            </a:tbl>
          </a:graphicData>
        </a:graphic>
      </p:graphicFrame>
      <p:sp>
        <p:nvSpPr>
          <p:cNvPr id="5" name="">
            <a:extLst xmlns:a="http://schemas.openxmlformats.org/drawingml/2006/main">
              <a:ext uri="{FF2B5EF4-FFF2-40B4-BE49-F238E27FC236}">
                <a16:creationId xmlns:a16="http://schemas.microsoft.com/office/drawing/2014/main" id="{5033205E-5393-41EF-96CD-C9E995A6BAB4}"/>
              </a:ext>
            </a:extLst>
          </p:cNvPr>
          <p:cNvSpPr>
            <a:spLocks xmlns:a="http://schemas.openxmlformats.org/drawingml/2006/main" noGrp="1"/>
          </p:cNvSpPr>
          <p:nvPr/>
        </p:nvSpPr>
        <p:spPr>
          <a:xfrm xmlns:a="http://schemas.openxmlformats.org/drawingml/2006/main">
            <a:off x="685800" y="60960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C6C70"/>
                </a:solidFill>
                <a:latin typeface="Avenir Next"/>
                <a:ea typeface="Avenir Next"/>
                <a:cs typeface="Avenir Next"/>
              </a:defRPr>
            </a:pPr>
            <a:r>
              <a:rPr sz="1650" b="0">
                <a:solidFill>
                  <a:srgbClr val="5C6C70"/>
                </a:solidFill>
                <a:latin typeface="Avenir Next"/>
                <a:ea typeface="Avenir Next"/>
                <a:cs typeface="Avenir Next"/>
              </a:rPr>
              <a:t>Other viewers’ ratings use information Dossier does not have.</a:t>
            </a:r>
          </a:p>
        </p:txBody>
      </p:sp>
    </p:spTree>
    <p:extLst>
      <p:ext uri="{BB962C8B-B14F-4D97-AF65-F5344CB8AC3E}">
        <p14:creationId xmlns:p14="http://schemas.microsoft.com/office/powerpoint/2010/main" val="1581002574"/>
      </p:ext>
    </p:extLst>
  </p:cSld>
</p:sld>
</file>

<file path=ppt/slides/slide33.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3186A7D-79DD-4F7F-9314-2D49545CB061}"/>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Appendix: all model comparisons</a:t>
            </a:r>
          </a:p>
        </p:txBody>
      </p:sp>
      <p:sp>
        <p:nvSpPr>
          <p:cNvPr id="2" name="">
            <a:extLst xmlns:a="http://schemas.openxmlformats.org/drawingml/2006/main">
              <a:ext uri="{FF2B5EF4-FFF2-40B4-BE49-F238E27FC236}">
                <a16:creationId xmlns:a16="http://schemas.microsoft.com/office/drawing/2014/main" id="{18DA431D-E8E8-493A-8643-51FC37F357A4}"/>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Fixed TMDB comparison test, 31 viewers after 20 ratings</a:t>
            </a:r>
          </a:p>
        </p:txBody>
      </p:sp>
      <p:sp>
        <p:nvSpPr>
          <p:cNvPr id="3" name="">
            <a:extLst xmlns:a="http://schemas.openxmlformats.org/drawingml/2006/main">
              <a:ext uri="{FF2B5EF4-FFF2-40B4-BE49-F238E27FC236}">
                <a16:creationId xmlns:a16="http://schemas.microsoft.com/office/drawing/2014/main" id="{F74E5619-E772-498D-A2DF-5407AD52405F}"/>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33</a:t>
            </a:r>
          </a:p>
        </p:txBody>
      </p:sp>
      <p:graphicFrame>
        <p:nvGraphicFramePr>
          <p:cNvPr id="8" name=""/>
          <p:cNvGraphicFramePr/>
          <p:nvPr/>
        </p:nvGraphicFramePr>
        <p:xfrm>
          <a:off xmlns:a="http://schemas.openxmlformats.org/drawingml/2006/main" x="685800" y="2076450"/>
          <a:ext xmlns:a="http://schemas.openxmlformats.org/drawingml/2006/main" cx="10820400" cy="4086225"/>
        </p:xfrm>
        <a:graphic xmlns:a="http://schemas.openxmlformats.org/drawingml/2006/main">
          <a:graphicData uri="http://schemas.openxmlformats.org/drawingml/2006/table">
            <a:tbl>
              <a:tblPr firstRow="0" bandRow="0"/>
              <a:tblGrid>
                <a:gridCol w="7143750"/>
                <a:gridCol w="1695450"/>
                <a:gridCol w="1981200"/>
              </a:tblGrid>
              <a:tr h="340519">
                <a:tc>
                  <a:txBody>
                    <a:bodyPr lIns="114300" tIns="19050" rIns="114300" bIns="19050">
                      <a:noAutofit/>
                    </a:bodyPr>
                    <a:lstStyle/>
                    <a:p>
                      <a:r>
                        <a:rPr sz="1725" b="1">
                          <a:solidFill>
                            <a:srgbClr val="F2EFE8"/>
                          </a:solidFill>
                          <a:latin typeface="Avenir Next"/>
                          <a:ea typeface="Avenir Next"/>
                          <a:cs typeface="Avenir Next"/>
                        </a:rPr>
                        <a:t>Method</a:t>
                      </a:r>
                    </a:p>
                  </a:txBody>
                  <a:tcPr marL="91440" marR="91440" marT="45720" marB="45720" anchor="ctr">
                    <a:solidFill>
                      <a:srgbClr val="17252B"/>
                    </a:solidFill>
                  </a:tcPr>
                </a:tc>
                <a:tc>
                  <a:txBody>
                    <a:bodyPr lIns="114300" tIns="19050" rIns="114300" bIns="19050">
                      <a:noAutofit/>
                    </a:bodyPr>
                    <a:lstStyle/>
                    <a:p>
                      <a:r>
                        <a:rPr sz="1725" b="1">
                          <a:solidFill>
                            <a:srgbClr val="F2EFE8"/>
                          </a:solidFill>
                          <a:latin typeface="Avenir Next"/>
                          <a:ea typeface="Avenir Next"/>
                          <a:cs typeface="Avenir Next"/>
                        </a:rPr>
                        <a:t>Ordering score</a:t>
                      </a:r>
                    </a:p>
                  </a:txBody>
                  <a:tcPr marL="91440" marR="91440" marT="45720" marB="45720" anchor="ctr">
                    <a:solidFill>
                      <a:srgbClr val="17252B"/>
                    </a:solidFill>
                  </a:tcPr>
                </a:tc>
                <a:tc>
                  <a:txBody>
                    <a:bodyPr lIns="114300" tIns="19050" rIns="114300" bIns="19050">
                      <a:noAutofit/>
                    </a:bodyPr>
                    <a:lstStyle/>
                    <a:p>
                      <a:r>
                        <a:rPr sz="1725" b="1">
                          <a:solidFill>
                            <a:srgbClr val="F2EFE8"/>
                          </a:solidFill>
                          <a:latin typeface="Avenir Next"/>
                          <a:ea typeface="Avenir Next"/>
                          <a:cs typeface="Avenir Next"/>
                        </a:rPr>
                        <a:t>Liked films per ten</a:t>
                      </a:r>
                    </a:p>
                  </a:txBody>
                  <a:tcPr marL="91440" marR="91440" marT="45720" marB="45720" anchor="ctr">
                    <a:solidFill>
                      <a:srgbClr val="17252B"/>
                    </a:solidFill>
                  </a:tcPr>
                </a:tc>
              </a:tr>
              <a:tr h="340519">
                <a:tc>
                  <a:txBody>
                    <a:bodyPr lIns="114300" tIns="19050" rIns="114300" bIns="19050">
                      <a:noAutofit/>
                    </a:bodyPr>
                    <a:lstStyle/>
                    <a:p>
                      <a:r>
                        <a:rPr sz="1725" b="1">
                          <a:solidFill>
                            <a:srgbClr val="17252B"/>
                          </a:solidFill>
                          <a:latin typeface="Avenir Next"/>
                          <a:ea typeface="Avenir Next"/>
                          <a:cs typeface="Avenir Next"/>
                        </a:rPr>
                        <a:t>Current Dossier</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59.2%</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4.48</a:t>
                      </a:r>
                    </a:p>
                  </a:txBody>
                  <a:tcPr marL="91440" marR="91440" marT="45720" marB="45720" anchor="ctr">
                    <a:solidFill>
                      <a:srgbClr val="F2EFE8"/>
                    </a:solidFill>
                  </a:tcPr>
                </a:tc>
              </a:tr>
              <a:tr h="340519">
                <a:tc>
                  <a:txBody>
                    <a:bodyPr lIns="114300" tIns="19050" rIns="114300" bIns="19050">
                      <a:noAutofit/>
                    </a:bodyPr>
                    <a:lstStyle/>
                    <a:p>
                      <a:r>
                        <a:rPr sz="1725" b="1">
                          <a:solidFill>
                            <a:srgbClr val="17252B"/>
                          </a:solidFill>
                          <a:latin typeface="Avenir Next"/>
                          <a:ea typeface="Avenir Next"/>
                          <a:cs typeface="Avenir Next"/>
                        </a:rPr>
                        <a:t>Remove inferred claims</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59.1%</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4.49</a:t>
                      </a:r>
                    </a:p>
                  </a:txBody>
                  <a:tcPr marL="91440" marR="91440" marT="45720" marB="45720" anchor="ctr">
                    <a:solidFill>
                      <a:srgbClr val="F2EFE8"/>
                    </a:solidFill>
                  </a:tcPr>
                </a:tc>
              </a:tr>
              <a:tr h="340519">
                <a:tc>
                  <a:txBody>
                    <a:bodyPr lIns="114300" tIns="19050" rIns="114300" bIns="19050">
                      <a:noAutofit/>
                    </a:bodyPr>
                    <a:lstStyle/>
                    <a:p>
                      <a:r>
                        <a:rPr sz="1725" b="1">
                          <a:solidFill>
                            <a:srgbClr val="17252B"/>
                          </a:solidFill>
                          <a:latin typeface="Avenir Next"/>
                          <a:ea typeface="Avenir Next"/>
                          <a:cs typeface="Avenir Next"/>
                        </a:rPr>
                        <a:t>Keep each rated film separate</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59.0%</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4.36</a:t>
                      </a:r>
                    </a:p>
                  </a:txBody>
                  <a:tcPr marL="91440" marR="91440" marT="45720" marB="45720" anchor="ctr">
                    <a:solidFill>
                      <a:srgbClr val="F2EFE8"/>
                    </a:solidFill>
                  </a:tcPr>
                </a:tc>
              </a:tr>
              <a:tr h="340519">
                <a:tc>
                  <a:txBody>
                    <a:bodyPr lIns="114300" tIns="19050" rIns="114300" bIns="19050">
                      <a:noAutofit/>
                    </a:bodyPr>
                    <a:lstStyle/>
                    <a:p>
                      <a:r>
                        <a:rPr sz="1725" b="1">
                          <a:solidFill>
                            <a:srgbClr val="17252B"/>
                          </a:solidFill>
                          <a:latin typeface="Avenir Next"/>
                          <a:ea typeface="Avenir Next"/>
                          <a:cs typeface="Avenir Next"/>
                        </a:rPr>
                        <a:t>Separate films and remove claims</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58.3%</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4.22</a:t>
                      </a:r>
                    </a:p>
                  </a:txBody>
                  <a:tcPr marL="91440" marR="91440" marT="45720" marB="45720" anchor="ctr">
                    <a:solidFill>
                      <a:srgbClr val="F2EFE8"/>
                    </a:solidFill>
                  </a:tcPr>
                </a:tc>
              </a:tr>
              <a:tr h="340519">
                <a:tc>
                  <a:txBody>
                    <a:bodyPr lIns="114300" tIns="19050" rIns="114300" bIns="19050">
                      <a:noAutofit/>
                    </a:bodyPr>
                    <a:lstStyle/>
                    <a:p>
                      <a:r>
                        <a:rPr sz="1725" b="1">
                          <a:solidFill>
                            <a:srgbClr val="17252B"/>
                          </a:solidFill>
                          <a:latin typeface="Avenir Next"/>
                          <a:ea typeface="Avenir Next"/>
                          <a:cs typeface="Avenir Next"/>
                        </a:rPr>
                        <a:t>Remove the style penalty for dislikes</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57.1%</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4.20</a:t>
                      </a:r>
                    </a:p>
                  </a:txBody>
                  <a:tcPr marL="91440" marR="91440" marT="45720" marB="45720" anchor="ctr">
                    <a:solidFill>
                      <a:srgbClr val="F2EFE8"/>
                    </a:solidFill>
                  </a:tcPr>
                </a:tc>
              </a:tr>
              <a:tr h="340519">
                <a:tc>
                  <a:txBody>
                    <a:bodyPr lIns="114300" tIns="19050" rIns="114300" bIns="19050">
                      <a:noAutofit/>
                    </a:bodyPr>
                    <a:lstStyle/>
                    <a:p>
                      <a:r>
                        <a:rPr sz="1725" b="1">
                          <a:solidFill>
                            <a:srgbClr val="17252B"/>
                          </a:solidFill>
                          <a:latin typeface="Avenir Next"/>
                          <a:ea typeface="Avenir Next"/>
                          <a:cs typeface="Avenir Next"/>
                        </a:rPr>
                        <a:t>Use positive ratings and claims only</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57.0%</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4.16</a:t>
                      </a:r>
                    </a:p>
                  </a:txBody>
                  <a:tcPr marL="91440" marR="91440" marT="45720" marB="45720" anchor="ctr">
                    <a:solidFill>
                      <a:srgbClr val="F2EFE8"/>
                    </a:solidFill>
                  </a:tcPr>
                </a:tc>
              </a:tr>
              <a:tr h="340519">
                <a:tc>
                  <a:txBody>
                    <a:bodyPr lIns="114300" tIns="19050" rIns="114300" bIns="19050">
                      <a:noAutofit/>
                    </a:bodyPr>
                    <a:lstStyle/>
                    <a:p>
                      <a:r>
                        <a:rPr sz="1725" b="1">
                          <a:solidFill>
                            <a:srgbClr val="17252B"/>
                          </a:solidFill>
                          <a:latin typeface="Avenir Next"/>
                          <a:ea typeface="Avenir Next"/>
                          <a:cs typeface="Avenir Next"/>
                        </a:rPr>
                        <a:t>Give public reviews much more weight</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75.0%</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5.90</a:t>
                      </a:r>
                    </a:p>
                  </a:txBody>
                  <a:tcPr marL="91440" marR="91440" marT="45720" marB="45720" anchor="ctr">
                    <a:solidFill>
                      <a:srgbClr val="F2EFE8"/>
                    </a:solidFill>
                  </a:tcPr>
                </a:tc>
              </a:tr>
              <a:tr h="340519">
                <a:tc>
                  <a:txBody>
                    <a:bodyPr lIns="114300" tIns="19050" rIns="114300" bIns="19050">
                      <a:noAutofit/>
                    </a:bodyPr>
                    <a:lstStyle/>
                    <a:p>
                      <a:r>
                        <a:rPr sz="1725" b="1">
                          <a:solidFill>
                            <a:srgbClr val="17252B"/>
                          </a:solidFill>
                          <a:latin typeface="Avenir Next"/>
                          <a:ea typeface="Avenir Next"/>
                          <a:cs typeface="Avenir Next"/>
                        </a:rPr>
                        <a:t>Public reviews alone</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80.7%</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6.42</a:t>
                      </a:r>
                    </a:p>
                  </a:txBody>
                  <a:tcPr marL="91440" marR="91440" marT="45720" marB="45720" anchor="ctr">
                    <a:solidFill>
                      <a:srgbClr val="F2EFE8"/>
                    </a:solidFill>
                  </a:tcPr>
                </a:tc>
              </a:tr>
              <a:tr h="340519">
                <a:tc>
                  <a:txBody>
                    <a:bodyPr lIns="114300" tIns="19050" rIns="114300" bIns="19050">
                      <a:noAutofit/>
                    </a:bodyPr>
                    <a:lstStyle/>
                    <a:p>
                      <a:r>
                        <a:rPr sz="1725" b="1">
                          <a:solidFill>
                            <a:srgbClr val="17252B"/>
                          </a:solidFill>
                          <a:latin typeface="Avenir Next"/>
                          <a:ea typeface="Avenir Next"/>
                          <a:cs typeface="Avenir Next"/>
                        </a:rPr>
                        <a:t>75% reviews plus Dossier-style matching</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79.1%</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6.11</a:t>
                      </a:r>
                    </a:p>
                  </a:txBody>
                  <a:tcPr marL="91440" marR="91440" marT="45720" marB="45720" anchor="ctr">
                    <a:solidFill>
                      <a:srgbClr val="F2EFE8"/>
                    </a:solidFill>
                  </a:tcPr>
                </a:tc>
              </a:tr>
              <a:tr h="340519">
                <a:tc>
                  <a:txBody>
                    <a:bodyPr lIns="114300" tIns="19050" rIns="114300" bIns="19050">
                      <a:noAutofit/>
                    </a:bodyPr>
                    <a:lstStyle/>
                    <a:p>
                      <a:r>
                        <a:rPr sz="1725" b="1">
                          <a:solidFill>
                            <a:srgbClr val="17252B"/>
                          </a:solidFill>
                          <a:latin typeface="Avenir Next"/>
                          <a:ea typeface="Avenir Next"/>
                          <a:cs typeface="Avenir Next"/>
                        </a:rPr>
                        <a:t>Genre and keyword matching alone</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57.8%</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3.93</a:t>
                      </a:r>
                    </a:p>
                  </a:txBody>
                  <a:tcPr marL="91440" marR="91440" marT="45720" marB="45720" anchor="ctr">
                    <a:solidFill>
                      <a:srgbClr val="F2EFE8"/>
                    </a:solidFill>
                  </a:tcPr>
                </a:tc>
              </a:tr>
              <a:tr h="340519">
                <a:tc>
                  <a:txBody>
                    <a:bodyPr lIns="114300" tIns="19050" rIns="114300" bIns="19050">
                      <a:noAutofit/>
                    </a:bodyPr>
                    <a:lstStyle/>
                    <a:p>
                      <a:r>
                        <a:rPr sz="1725" b="1">
                          <a:solidFill>
                            <a:srgbClr val="17252B"/>
                          </a:solidFill>
                          <a:latin typeface="Avenir Next"/>
                          <a:ea typeface="Avenir Next"/>
                          <a:cs typeface="Avenir Next"/>
                        </a:rPr>
                        <a:t>75% reviews plus genre/keyword matching</a:t>
                      </a:r>
                    </a:p>
                  </a:txBody>
                  <a:tcPr marL="91440" marR="91440" marT="45720" marB="45720" anchor="ctr">
                    <a:solidFill>
                      <a:srgbClr val="E4ECE7"/>
                    </a:solidFill>
                  </a:tcPr>
                </a:tc>
                <a:tc>
                  <a:txBody>
                    <a:bodyPr lIns="114300" tIns="19050" rIns="114300" bIns="19050">
                      <a:noAutofit/>
                    </a:bodyPr>
                    <a:lstStyle/>
                    <a:p>
                      <a:r>
                        <a:rPr sz="1725" b="1">
                          <a:solidFill>
                            <a:srgbClr val="17252B"/>
                          </a:solidFill>
                          <a:latin typeface="Avenir Next"/>
                          <a:ea typeface="Avenir Next"/>
                          <a:cs typeface="Avenir Next"/>
                        </a:rPr>
                        <a:t>81.3%</a:t>
                      </a:r>
                    </a:p>
                  </a:txBody>
                  <a:tcPr marL="91440" marR="91440" marT="45720" marB="45720" anchor="ctr">
                    <a:solidFill>
                      <a:srgbClr val="E4ECE7"/>
                    </a:solidFill>
                  </a:tcPr>
                </a:tc>
                <a:tc>
                  <a:txBody>
                    <a:bodyPr lIns="114300" tIns="19050" rIns="114300" bIns="19050">
                      <a:noAutofit/>
                    </a:bodyPr>
                    <a:lstStyle/>
                    <a:p>
                      <a:r>
                        <a:rPr sz="1725" b="1">
                          <a:solidFill>
                            <a:srgbClr val="17252B"/>
                          </a:solidFill>
                          <a:latin typeface="Avenir Next"/>
                          <a:ea typeface="Avenir Next"/>
                          <a:cs typeface="Avenir Next"/>
                        </a:rPr>
                        <a:t>6.43</a:t>
                      </a:r>
                    </a:p>
                  </a:txBody>
                  <a:tcPr marL="91440" marR="91440" marT="45720" marB="45720" anchor="ctr">
                    <a:solidFill>
                      <a:srgbClr val="E4ECE7"/>
                    </a:solidFill>
                  </a:tcPr>
                </a:tc>
              </a:tr>
            </a:tbl>
          </a:graphicData>
        </a:graphic>
      </p:graphicFrame>
    </p:spTree>
    <p:extLst>
      <p:ext uri="{BB962C8B-B14F-4D97-AF65-F5344CB8AC3E}">
        <p14:creationId xmlns:p14="http://schemas.microsoft.com/office/powerpoint/2010/main" val="428267121"/>
      </p:ext>
    </p:extLst>
  </p:cSld>
</p:sld>
</file>

<file path=ppt/slides/slide34.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BFBCBEA-C504-4199-A466-1086E1F12664}"/>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Appendix: the eight unusual-taste cases</a:t>
            </a:r>
          </a:p>
        </p:txBody>
      </p:sp>
      <p:sp>
        <p:nvSpPr>
          <p:cNvPr id="2" name="">
            <a:extLst xmlns:a="http://schemas.openxmlformats.org/drawingml/2006/main">
              <a:ext uri="{FF2B5EF4-FFF2-40B4-BE49-F238E27FC236}">
                <a16:creationId xmlns:a16="http://schemas.microsoft.com/office/drawing/2014/main" id="{12DDF815-1523-499D-BDC2-C70E8B955613}"/>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Previous 47-viewer check, after 40 ratings. Same viewers remain explicit in the latest experiment.</a:t>
            </a:r>
          </a:p>
        </p:txBody>
      </p:sp>
      <p:sp>
        <p:nvSpPr>
          <p:cNvPr id="3" name="">
            <a:extLst xmlns:a="http://schemas.openxmlformats.org/drawingml/2006/main">
              <a:ext uri="{FF2B5EF4-FFF2-40B4-BE49-F238E27FC236}">
                <a16:creationId xmlns:a16="http://schemas.microsoft.com/office/drawing/2014/main" id="{05906386-8E53-43B2-8D04-78A88CAFD828}"/>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34</a:t>
            </a:r>
          </a:p>
        </p:txBody>
      </p:sp>
      <p:graphicFrame>
        <p:nvGraphicFramePr>
          <p:cNvPr id="8" name=""/>
          <p:cNvGraphicFramePr/>
          <p:nvPr/>
        </p:nvGraphicFramePr>
        <p:xfrm>
          <a:off xmlns:a="http://schemas.openxmlformats.org/drawingml/2006/main" x="685800" y="2143125"/>
          <a:ext xmlns:a="http://schemas.openxmlformats.org/drawingml/2006/main" cx="10820400" cy="3905250"/>
        </p:xfrm>
        <a:graphic xmlns:a="http://schemas.openxmlformats.org/drawingml/2006/main">
          <a:graphicData uri="http://schemas.openxmlformats.org/drawingml/2006/table">
            <a:tbl>
              <a:tblPr firstRow="0" bandRow="0"/>
              <a:tblGrid>
                <a:gridCol w="1857375"/>
                <a:gridCol w="2057400"/>
                <a:gridCol w="2171700"/>
                <a:gridCol w="2314575"/>
                <a:gridCol w="2419350"/>
              </a:tblGrid>
              <a:tr h="433917">
                <a:tc>
                  <a:txBody>
                    <a:bodyPr lIns="114300" tIns="19050" rIns="114300" bIns="19050">
                      <a:noAutofit/>
                    </a:bodyPr>
                    <a:lstStyle/>
                    <a:p>
                      <a:r>
                        <a:rPr sz="1650" b="1">
                          <a:solidFill>
                            <a:srgbClr val="F2EFE8"/>
                          </a:solidFill>
                          <a:latin typeface="Avenir Next"/>
                          <a:ea typeface="Avenir Next"/>
                          <a:cs typeface="Avenir Next"/>
                        </a:rPr>
                        <a:t>Viewer</a:t>
                      </a:r>
                    </a:p>
                  </a:txBody>
                  <a:tcPr marL="91440" marR="91440" marT="45720" marB="45720" anchor="ctr">
                    <a:solidFill>
                      <a:srgbClr val="17252B"/>
                    </a:solidFill>
                  </a:tcPr>
                </a:tc>
                <a:tc>
                  <a:txBody>
                    <a:bodyPr lIns="114300" tIns="19050" rIns="114300" bIns="19050">
                      <a:noAutofit/>
                    </a:bodyPr>
                    <a:lstStyle/>
                    <a:p>
                      <a:r>
                        <a:rPr sz="1650" b="1">
                          <a:solidFill>
                            <a:srgbClr val="F2EFE8"/>
                          </a:solidFill>
                          <a:latin typeface="Avenir Next"/>
                          <a:ea typeface="Avenir Next"/>
                          <a:cs typeface="Avenir Next"/>
                        </a:rPr>
                        <a:t>Public reviews</a:t>
                      </a:r>
                    </a:p>
                  </a:txBody>
                  <a:tcPr marL="91440" marR="91440" marT="45720" marB="45720" anchor="ctr">
                    <a:solidFill>
                      <a:srgbClr val="17252B"/>
                    </a:solidFill>
                  </a:tcPr>
                </a:tc>
                <a:tc>
                  <a:txBody>
                    <a:bodyPr lIns="114300" tIns="19050" rIns="114300" bIns="19050">
                      <a:noAutofit/>
                    </a:bodyPr>
                    <a:lstStyle/>
                    <a:p>
                      <a:r>
                        <a:rPr sz="1650" b="1">
                          <a:solidFill>
                            <a:srgbClr val="F2EFE8"/>
                          </a:solidFill>
                          <a:latin typeface="Avenir Next"/>
                          <a:ea typeface="Avenir Next"/>
                          <a:cs typeface="Avenir Next"/>
                        </a:rPr>
                        <a:t>Fixed candidate</a:t>
                      </a:r>
                    </a:p>
                  </a:txBody>
                  <a:tcPr marL="91440" marR="91440" marT="45720" marB="45720" anchor="ctr">
                    <a:solidFill>
                      <a:srgbClr val="17252B"/>
                    </a:solidFill>
                  </a:tcPr>
                </a:tc>
                <a:tc>
                  <a:txBody>
                    <a:bodyPr lIns="114300" tIns="19050" rIns="114300" bIns="19050">
                      <a:noAutofit/>
                    </a:bodyPr>
                    <a:lstStyle/>
                    <a:p>
                      <a:r>
                        <a:rPr sz="1650" b="1">
                          <a:solidFill>
                            <a:srgbClr val="F2EFE8"/>
                          </a:solidFill>
                          <a:latin typeface="Avenir Next"/>
                          <a:ea typeface="Avenir Next"/>
                          <a:cs typeface="Avenir Next"/>
                        </a:rPr>
                        <a:t>Current Dossier</a:t>
                      </a:r>
                    </a:p>
                  </a:txBody>
                  <a:tcPr marL="91440" marR="91440" marT="45720" marB="45720" anchor="ctr">
                    <a:solidFill>
                      <a:srgbClr val="17252B"/>
                    </a:solidFill>
                  </a:tcPr>
                </a:tc>
                <a:tc>
                  <a:txBody>
                    <a:bodyPr lIns="114300" tIns="19050" rIns="114300" bIns="19050">
                      <a:noAutofit/>
                    </a:bodyPr>
                    <a:lstStyle/>
                    <a:p>
                      <a:r>
                        <a:rPr sz="1650" b="1">
                          <a:solidFill>
                            <a:srgbClr val="F2EFE8"/>
                          </a:solidFill>
                          <a:latin typeface="Avenir Next"/>
                          <a:ea typeface="Avenir Next"/>
                          <a:cs typeface="Avenir Next"/>
                        </a:rPr>
                        <a:t>With protection rule</a:t>
                      </a:r>
                    </a:p>
                  </a:txBody>
                  <a:tcPr marL="91440" marR="91440" marT="45720" marB="45720" anchor="ctr">
                    <a:solidFill>
                      <a:srgbClr val="17252B"/>
                    </a:solidFill>
                  </a:tcPr>
                </a:tc>
              </a:tr>
              <a:tr h="433917">
                <a:tc>
                  <a:txBody>
                    <a:bodyPr lIns="114300" tIns="19050" rIns="114300" bIns="19050">
                      <a:noAutofit/>
                    </a:bodyPr>
                    <a:lstStyle/>
                    <a:p>
                      <a:r>
                        <a:rPr sz="1650" b="1">
                          <a:solidFill>
                            <a:srgbClr val="17252B"/>
                          </a:solidFill>
                          <a:latin typeface="Avenir Next"/>
                          <a:ea typeface="Avenir Next"/>
                          <a:cs typeface="Avenir Next"/>
                        </a:rPr>
                        <a:t>Viewer 41</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51.6%</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55.8%</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50.9%</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55.8%</a:t>
                      </a:r>
                    </a:p>
                  </a:txBody>
                  <a:tcPr marL="91440" marR="91440" marT="45720" marB="45720" anchor="ctr">
                    <a:solidFill>
                      <a:srgbClr val="F2EFE8"/>
                    </a:solidFill>
                  </a:tcPr>
                </a:tc>
              </a:tr>
              <a:tr h="433917">
                <a:tc>
                  <a:txBody>
                    <a:bodyPr lIns="114300" tIns="19050" rIns="114300" bIns="19050">
                      <a:noAutofit/>
                    </a:bodyPr>
                    <a:lstStyle/>
                    <a:p>
                      <a:r>
                        <a:rPr sz="1650" b="1">
                          <a:solidFill>
                            <a:srgbClr val="17252B"/>
                          </a:solidFill>
                          <a:latin typeface="Avenir Next"/>
                          <a:ea typeface="Avenir Next"/>
                          <a:cs typeface="Avenir Next"/>
                        </a:rPr>
                        <a:t>Viewer 82</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48.4%</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57.5%</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86.0%</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57.5%</a:t>
                      </a:r>
                    </a:p>
                  </a:txBody>
                  <a:tcPr marL="91440" marR="91440" marT="45720" marB="45720" anchor="ctr">
                    <a:solidFill>
                      <a:srgbClr val="F2EFE8"/>
                    </a:solidFill>
                  </a:tcPr>
                </a:tc>
              </a:tr>
              <a:tr h="433917">
                <a:tc>
                  <a:txBody>
                    <a:bodyPr lIns="114300" tIns="19050" rIns="114300" bIns="19050">
                      <a:noAutofit/>
                    </a:bodyPr>
                    <a:lstStyle/>
                    <a:p>
                      <a:r>
                        <a:rPr sz="1650" b="1">
                          <a:solidFill>
                            <a:srgbClr val="17252B"/>
                          </a:solidFill>
                          <a:latin typeface="Avenir Next"/>
                          <a:ea typeface="Avenir Next"/>
                          <a:cs typeface="Avenir Next"/>
                        </a:rPr>
                        <a:t>Viewer 89</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61.8%</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63.5%</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73.4%</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63.5%</a:t>
                      </a:r>
                    </a:p>
                  </a:txBody>
                  <a:tcPr marL="91440" marR="91440" marT="45720" marB="45720" anchor="ctr">
                    <a:solidFill>
                      <a:srgbClr val="F2EFE8"/>
                    </a:solidFill>
                  </a:tcPr>
                </a:tc>
              </a:tr>
              <a:tr h="433917">
                <a:tc>
                  <a:txBody>
                    <a:bodyPr lIns="114300" tIns="19050" rIns="114300" bIns="19050">
                      <a:noAutofit/>
                    </a:bodyPr>
                    <a:lstStyle/>
                    <a:p>
                      <a:r>
                        <a:rPr sz="1650" b="1">
                          <a:solidFill>
                            <a:srgbClr val="17252B"/>
                          </a:solidFill>
                          <a:latin typeface="Avenir Next"/>
                          <a:ea typeface="Avenir Next"/>
                          <a:cs typeface="Avenir Next"/>
                        </a:rPr>
                        <a:t>Viewer 198</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69.0%</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68.0%</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51.8%</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68.0%</a:t>
                      </a:r>
                    </a:p>
                  </a:txBody>
                  <a:tcPr marL="91440" marR="91440" marT="45720" marB="45720" anchor="ctr">
                    <a:solidFill>
                      <a:srgbClr val="F2EFE8"/>
                    </a:solidFill>
                  </a:tcPr>
                </a:tc>
              </a:tr>
              <a:tr h="433917">
                <a:tc>
                  <a:txBody>
                    <a:bodyPr lIns="114300" tIns="19050" rIns="114300" bIns="19050">
                      <a:noAutofit/>
                    </a:bodyPr>
                    <a:lstStyle/>
                    <a:p>
                      <a:r>
                        <a:rPr sz="1650" b="1">
                          <a:solidFill>
                            <a:srgbClr val="17252B"/>
                          </a:solidFill>
                          <a:latin typeface="Avenir Next"/>
                          <a:ea typeface="Avenir Next"/>
                          <a:cs typeface="Avenir Next"/>
                        </a:rPr>
                        <a:t>Viewer 365</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49.7%</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52.8%</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58.8%</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52.8%</a:t>
                      </a:r>
                    </a:p>
                  </a:txBody>
                  <a:tcPr marL="91440" marR="91440" marT="45720" marB="45720" anchor="ctr">
                    <a:solidFill>
                      <a:srgbClr val="F2EFE8"/>
                    </a:solidFill>
                  </a:tcPr>
                </a:tc>
              </a:tr>
              <a:tr h="433917">
                <a:tc>
                  <a:txBody>
                    <a:bodyPr lIns="114300" tIns="19050" rIns="114300" bIns="19050">
                      <a:noAutofit/>
                    </a:bodyPr>
                    <a:lstStyle/>
                    <a:p>
                      <a:r>
                        <a:rPr sz="1650" b="1">
                          <a:solidFill>
                            <a:srgbClr val="17252B"/>
                          </a:solidFill>
                          <a:latin typeface="Avenir Next"/>
                          <a:ea typeface="Avenir Next"/>
                          <a:cs typeface="Avenir Next"/>
                        </a:rPr>
                        <a:t>Viewer 462</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57.4%</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54.4%</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45.1%</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54.4%</a:t>
                      </a:r>
                    </a:p>
                  </a:txBody>
                  <a:tcPr marL="91440" marR="91440" marT="45720" marB="45720" anchor="ctr">
                    <a:solidFill>
                      <a:srgbClr val="F2EFE8"/>
                    </a:solidFill>
                  </a:tcPr>
                </a:tc>
              </a:tr>
              <a:tr h="433917">
                <a:tc>
                  <a:txBody>
                    <a:bodyPr lIns="114300" tIns="19050" rIns="114300" bIns="19050">
                      <a:noAutofit/>
                    </a:bodyPr>
                    <a:lstStyle/>
                    <a:p>
                      <a:r>
                        <a:rPr sz="1650" b="1">
                          <a:solidFill>
                            <a:srgbClr val="17252B"/>
                          </a:solidFill>
                          <a:latin typeface="Avenir Next"/>
                          <a:ea typeface="Avenir Next"/>
                          <a:cs typeface="Avenir Next"/>
                        </a:rPr>
                        <a:t>Viewer 484</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50.2%</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53.5%</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69.8%</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53.5%</a:t>
                      </a:r>
                    </a:p>
                  </a:txBody>
                  <a:tcPr marL="91440" marR="91440" marT="45720" marB="45720" anchor="ctr">
                    <a:solidFill>
                      <a:srgbClr val="F2EFE8"/>
                    </a:solidFill>
                  </a:tcPr>
                </a:tc>
              </a:tr>
              <a:tr h="433917">
                <a:tc>
                  <a:txBody>
                    <a:bodyPr lIns="114300" tIns="19050" rIns="114300" bIns="19050">
                      <a:noAutofit/>
                    </a:bodyPr>
                    <a:lstStyle/>
                    <a:p>
                      <a:r>
                        <a:rPr sz="1650" b="1">
                          <a:solidFill>
                            <a:srgbClr val="17252B"/>
                          </a:solidFill>
                          <a:latin typeface="Avenir Next"/>
                          <a:ea typeface="Avenir Next"/>
                          <a:cs typeface="Avenir Next"/>
                        </a:rPr>
                        <a:t>Viewer 534</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63.3%</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64.2%</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55.4%</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64.2%</a:t>
                      </a:r>
                    </a:p>
                  </a:txBody>
                  <a:tcPr marL="91440" marR="91440" marT="45720" marB="45720" anchor="ctr">
                    <a:solidFill>
                      <a:srgbClr val="F2EFE8"/>
                    </a:solidFill>
                  </a:tcPr>
                </a:tc>
              </a:tr>
            </a:tbl>
          </a:graphicData>
        </a:graphic>
      </p:graphicFrame>
    </p:spTree>
    <p:extLst>
      <p:ext uri="{BB962C8B-B14F-4D97-AF65-F5344CB8AC3E}">
        <p14:creationId xmlns:p14="http://schemas.microsoft.com/office/powerpoint/2010/main" val="1728181824"/>
      </p:ext>
    </p:extLst>
  </p:cSld>
</p:sld>
</file>

<file path=ppt/slides/slide35.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A814755-B29E-4806-83A1-960770444177}"/>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Appendix: the result of each experiment</a:t>
            </a:r>
          </a:p>
        </p:txBody>
      </p:sp>
      <p:sp>
        <p:nvSpPr>
          <p:cNvPr id="2" name="">
            <a:extLst xmlns:a="http://schemas.openxmlformats.org/drawingml/2006/main">
              <a:ext uri="{FF2B5EF4-FFF2-40B4-BE49-F238E27FC236}">
                <a16:creationId xmlns:a16="http://schemas.microsoft.com/office/drawing/2014/main" id="{36072563-384B-4A9A-A661-FB4463D1E565}"/>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35</a:t>
            </a:r>
          </a:p>
        </p:txBody>
      </p:sp>
      <p:graphicFrame>
        <p:nvGraphicFramePr>
          <p:cNvPr id="6" name=""/>
          <p:cNvGraphicFramePr/>
          <p:nvPr/>
        </p:nvGraphicFramePr>
        <p:xfrm>
          <a:off xmlns:a="http://schemas.openxmlformats.org/drawingml/2006/main" x="685800" y="2028825"/>
          <a:ext xmlns:a="http://schemas.openxmlformats.org/drawingml/2006/main" cx="10820400" cy="4171950"/>
        </p:xfrm>
        <a:graphic xmlns:a="http://schemas.openxmlformats.org/drawingml/2006/main">
          <a:graphicData uri="http://schemas.openxmlformats.org/drawingml/2006/table">
            <a:tbl>
              <a:tblPr firstRow="0" bandRow="0"/>
              <a:tblGrid>
                <a:gridCol w="4000500"/>
                <a:gridCol w="6819900"/>
              </a:tblGrid>
              <a:tr h="463550">
                <a:tc>
                  <a:txBody>
                    <a:bodyPr lIns="114300" tIns="19050" rIns="114300" bIns="19050">
                      <a:noAutofit/>
                    </a:bodyPr>
                    <a:lstStyle/>
                    <a:p>
                      <a:r>
                        <a:rPr sz="1725" b="1">
                          <a:solidFill>
                            <a:srgbClr val="F2EFE8"/>
                          </a:solidFill>
                          <a:latin typeface="Avenir Next"/>
                          <a:ea typeface="Avenir Next"/>
                          <a:cs typeface="Avenir Next"/>
                        </a:rPr>
                        <a:t>Experiment</a:t>
                      </a:r>
                    </a:p>
                  </a:txBody>
                  <a:tcPr marL="91440" marR="91440" marT="45720" marB="45720" anchor="ctr">
                    <a:solidFill>
                      <a:srgbClr val="17252B"/>
                    </a:solidFill>
                  </a:tcPr>
                </a:tc>
                <a:tc>
                  <a:txBody>
                    <a:bodyPr lIns="114300" tIns="19050" rIns="114300" bIns="19050">
                      <a:noAutofit/>
                    </a:bodyPr>
                    <a:lstStyle/>
                    <a:p>
                      <a:r>
                        <a:rPr sz="1725" b="1">
                          <a:solidFill>
                            <a:srgbClr val="F2EFE8"/>
                          </a:solidFill>
                          <a:latin typeface="Avenir Next"/>
                          <a:ea typeface="Avenir Next"/>
                          <a:cs typeface="Avenir Next"/>
                        </a:rPr>
                        <a:t>Result and meaning</a:t>
                      </a:r>
                    </a:p>
                  </a:txBody>
                  <a:tcPr marL="91440" marR="91440" marT="45720" marB="45720" anchor="ctr">
                    <a:solidFill>
                      <a:srgbClr val="17252B"/>
                    </a:solidFill>
                  </a:tcPr>
                </a:tc>
              </a:tr>
              <a:tr h="463550">
                <a:tc>
                  <a:txBody>
                    <a:bodyPr lIns="114300" tIns="19050" rIns="114300" bIns="19050">
                      <a:noAutofit/>
                    </a:bodyPr>
                    <a:lstStyle/>
                    <a:p>
                      <a:r>
                        <a:rPr sz="1725" b="1">
                          <a:solidFill>
                            <a:srgbClr val="17252B"/>
                          </a:solidFill>
                          <a:latin typeface="Avenir Next"/>
                          <a:ea typeface="Avenir Next"/>
                          <a:cs typeface="Avenir Next"/>
                        </a:rPr>
                        <a:t>Easy synthetic lab</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High scores showed a working pipeline, but overstated learning</a:t>
                      </a:r>
                    </a:p>
                  </a:txBody>
                  <a:tcPr marL="91440" marR="91440" marT="45720" marB="45720" anchor="ctr">
                    <a:solidFill>
                      <a:srgbClr val="F2EFE8"/>
                    </a:solidFill>
                  </a:tcPr>
                </a:tc>
              </a:tr>
              <a:tr h="463550">
                <a:tc>
                  <a:txBody>
                    <a:bodyPr lIns="114300" tIns="19050" rIns="114300" bIns="19050">
                      <a:noAutofit/>
                    </a:bodyPr>
                    <a:lstStyle/>
                    <a:p>
                      <a:r>
                        <a:rPr sz="1725" b="1">
                          <a:solidFill>
                            <a:srgbClr val="17252B"/>
                          </a:solidFill>
                          <a:latin typeface="Avenir Next"/>
                          <a:ea typeface="Avenir Next"/>
                          <a:cs typeface="Avenir Next"/>
                        </a:rPr>
                        <a:t>Hard invented tastes</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Dossier learned, but simple matching competed closely</a:t>
                      </a:r>
                    </a:p>
                  </a:txBody>
                  <a:tcPr marL="91440" marR="91440" marT="45720" marB="45720" anchor="ctr">
                    <a:solidFill>
                      <a:srgbClr val="F2EFE8"/>
                    </a:solidFill>
                  </a:tcPr>
                </a:tc>
              </a:tr>
              <a:tr h="463550">
                <a:tc>
                  <a:txBody>
                    <a:bodyPr lIns="114300" tIns="19050" rIns="114300" bIns="19050">
                      <a:noAutofit/>
                    </a:bodyPr>
                    <a:lstStyle/>
                    <a:p>
                      <a:r>
                        <a:rPr sz="1725" b="1">
                          <a:solidFill>
                            <a:srgbClr val="17252B"/>
                          </a:solidFill>
                          <a:latin typeface="Avenir Next"/>
                          <a:ea typeface="Avenir Next"/>
                          <a:cs typeface="Avenir Next"/>
                        </a:rPr>
                        <a:t>Real ratings and film information</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Public reviews stayed far ahead on average</a:t>
                      </a:r>
                    </a:p>
                  </a:txBody>
                  <a:tcPr marL="91440" marR="91440" marT="45720" marB="45720" anchor="ctr">
                    <a:solidFill>
                      <a:srgbClr val="F2EFE8"/>
                    </a:solidFill>
                  </a:tcPr>
                </a:tc>
              </a:tr>
              <a:tr h="463550">
                <a:tc>
                  <a:txBody>
                    <a:bodyPr lIns="114300" tIns="19050" rIns="114300" bIns="19050">
                      <a:noAutofit/>
                    </a:bodyPr>
                    <a:lstStyle/>
                    <a:p>
                      <a:r>
                        <a:rPr sz="1725" b="1">
                          <a:solidFill>
                            <a:srgbClr val="17252B"/>
                          </a:solidFill>
                          <a:latin typeface="Avenir Next"/>
                          <a:ea typeface="Avenir Next"/>
                          <a:cs typeface="Avenir Next"/>
                        </a:rPr>
                        <a:t>Claim correction</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26 of 28 wrong real claims corrected, without a ranking guarantee</a:t>
                      </a:r>
                    </a:p>
                  </a:txBody>
                  <a:tcPr marL="91440" marR="91440" marT="45720" marB="45720" anchor="ctr">
                    <a:solidFill>
                      <a:srgbClr val="F2EFE8"/>
                    </a:solidFill>
                  </a:tcPr>
                </a:tc>
              </a:tr>
              <a:tr h="463550">
                <a:tc>
                  <a:txBody>
                    <a:bodyPr lIns="114300" tIns="19050" rIns="114300" bIns="19050">
                      <a:noAutofit/>
                    </a:bodyPr>
                    <a:lstStyle/>
                    <a:p>
                      <a:r>
                        <a:rPr sz="1725" b="1">
                          <a:solidFill>
                            <a:srgbClr val="17252B"/>
                          </a:solidFill>
                          <a:latin typeface="Avenir Next"/>
                          <a:ea typeface="Avenir Next"/>
                          <a:cs typeface="Avenir Next"/>
                        </a:rPr>
                        <a:t>Questions and damaged evidence</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Questions did not help faster. Bad evidence usually hurt</a:t>
                      </a:r>
                    </a:p>
                  </a:txBody>
                  <a:tcPr marL="91440" marR="91440" marT="45720" marB="45720" anchor="ctr">
                    <a:solidFill>
                      <a:srgbClr val="F2EFE8"/>
                    </a:solidFill>
                  </a:tcPr>
                </a:tc>
              </a:tr>
              <a:tr h="463550">
                <a:tc>
                  <a:txBody>
                    <a:bodyPr lIns="114300" tIns="19050" rIns="114300" bIns="19050">
                      <a:noAutofit/>
                    </a:bodyPr>
                    <a:lstStyle/>
                    <a:p>
                      <a:r>
                        <a:rPr sz="1725" b="1">
                          <a:solidFill>
                            <a:srgbClr val="17252B"/>
                          </a:solidFill>
                          <a:latin typeface="Avenir Next"/>
                          <a:ea typeface="Avenir Next"/>
                          <a:cs typeface="Avenir Next"/>
                        </a:rPr>
                        <a:t>Fixed candidate on 47 new viewers</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Small average gain repeated, with serious personal exceptions</a:t>
                      </a:r>
                    </a:p>
                  </a:txBody>
                  <a:tcPr marL="91440" marR="91440" marT="45720" marB="45720" anchor="ctr">
                    <a:solidFill>
                      <a:srgbClr val="F2EFE8"/>
                    </a:solidFill>
                  </a:tcPr>
                </a:tc>
              </a:tr>
              <a:tr h="463550">
                <a:tc>
                  <a:txBody>
                    <a:bodyPr lIns="114300" tIns="19050" rIns="114300" bIns="19050">
                      <a:noAutofit/>
                    </a:bodyPr>
                    <a:lstStyle/>
                    <a:p>
                      <a:r>
                        <a:rPr sz="1725" b="1">
                          <a:solidFill>
                            <a:srgbClr val="17252B"/>
                          </a:solidFill>
                          <a:latin typeface="Avenir Next"/>
                          <a:ea typeface="Avenir Next"/>
                          <a:cs typeface="Avenir Next"/>
                        </a:rPr>
                        <a:t>Five exact failure reproductions</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Broad similarities and rating order explained the losses</a:t>
                      </a:r>
                    </a:p>
                  </a:txBody>
                  <a:tcPr marL="91440" marR="91440" marT="45720" marB="45720" anchor="ctr">
                    <a:solidFill>
                      <a:srgbClr val="F2EFE8"/>
                    </a:solidFill>
                  </a:tcPr>
                </a:tc>
              </a:tr>
              <a:tr h="463550">
                <a:tc>
                  <a:txBody>
                    <a:bodyPr lIns="114300" tIns="19050" rIns="114300" bIns="19050">
                      <a:noAutofit/>
                    </a:bodyPr>
                    <a:lstStyle/>
                    <a:p>
                      <a:r>
                        <a:rPr sz="1725" b="1">
                          <a:solidFill>
                            <a:srgbClr val="17252B"/>
                          </a:solidFill>
                          <a:latin typeface="Avenir Next"/>
                          <a:ea typeface="Avenir Next"/>
                          <a:cs typeface="Avenir Next"/>
                        </a:rPr>
                        <a:t>Protection rule on 30 new viewers</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Missed the people needing personal rankings. Defaults unchanged</a:t>
                      </a:r>
                    </a:p>
                  </a:txBody>
                  <a:tcPr marL="91440" marR="91440" marT="45720" marB="45720" anchor="ctr">
                    <a:solidFill>
                      <a:srgbClr val="F2EFE8"/>
                    </a:solidFill>
                  </a:tcPr>
                </a:tc>
              </a:tr>
            </a:tbl>
          </a:graphicData>
        </a:graphic>
      </p:graphicFrame>
    </p:spTree>
    <p:extLst>
      <p:ext uri="{BB962C8B-B14F-4D97-AF65-F5344CB8AC3E}">
        <p14:creationId xmlns:p14="http://schemas.microsoft.com/office/powerpoint/2010/main" val="803847330"/>
      </p:ext>
    </p:extLst>
  </p:cSld>
</p:sld>
</file>

<file path=ppt/slides/slide36.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72D410D-7B90-40B4-9607-8392994A9B0E}"/>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Sources and the reports behind the numbers</a:t>
            </a:r>
          </a:p>
        </p:txBody>
      </p:sp>
      <p:sp>
        <p:nvSpPr>
          <p:cNvPr id="2" name="">
            <a:extLst xmlns:a="http://schemas.openxmlformats.org/drawingml/2006/main">
              <a:ext uri="{FF2B5EF4-FFF2-40B4-BE49-F238E27FC236}">
                <a16:creationId xmlns:a16="http://schemas.microsoft.com/office/drawing/2014/main" id="{C82D812B-950A-4843-BEF7-015337907B50}"/>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36</a:t>
            </a:r>
          </a:p>
        </p:txBody>
      </p:sp>
      <p:sp>
        <p:nvSpPr>
          <p:cNvPr id="3" name="">
            <a:extLst xmlns:a="http://schemas.openxmlformats.org/drawingml/2006/main">
              <a:ext uri="{FF2B5EF4-FFF2-40B4-BE49-F238E27FC236}">
                <a16:creationId xmlns:a16="http://schemas.microsoft.com/office/drawing/2014/main" id="{625E5217-DF92-459D-84E2-E92DCE29EEC4}"/>
              </a:ext>
            </a:extLst>
          </p:cNvPr>
          <p:cNvSpPr>
            <a:spLocks xmlns:a="http://schemas.openxmlformats.org/drawingml/2006/main" noGrp="1"/>
          </p:cNvSpPr>
          <p:nvPr/>
        </p:nvSpPr>
        <p:spPr>
          <a:xfrm xmlns:a="http://schemas.openxmlformats.org/drawingml/2006/main">
            <a:off x="685800" y="19621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7252B"/>
                </a:solidFill>
                <a:latin typeface="Avenir Next"/>
                <a:ea typeface="Avenir Next"/>
                <a:cs typeface="Avenir Next"/>
              </a:defRPr>
            </a:pPr>
            <a:r>
              <a:rPr sz="1800" b="0">
                <a:solidFill>
                  <a:srgbClr val="17252B"/>
                </a:solidFill>
                <a:latin typeface="Avenir Next"/>
                <a:ea typeface="Avenir Next"/>
                <a:cs typeface="Avenir Next"/>
              </a:rPr>
              <a:t>Harder invented tests: dossier-hard-v1-baseline.html</a:t>
            </a:r>
          </a:p>
        </p:txBody>
      </p:sp>
      <p:sp>
        <p:nvSpPr>
          <p:cNvPr id="4" name="">
            <a:extLst xmlns:a="http://schemas.openxmlformats.org/drawingml/2006/main">
              <a:ext uri="{FF2B5EF4-FFF2-40B4-BE49-F238E27FC236}">
                <a16:creationId xmlns:a16="http://schemas.microsoft.com/office/drawing/2014/main" id="{230F04B5-9CD5-4662-9600-06EBC29ED2F0}"/>
              </a:ext>
            </a:extLst>
          </p:cNvPr>
          <p:cNvSpPr>
            <a:spLocks xmlns:a="http://schemas.openxmlformats.org/drawingml/2006/main" noGrp="1"/>
          </p:cNvSpPr>
          <p:nvPr/>
        </p:nvSpPr>
        <p:spPr>
          <a:xfrm xmlns:a="http://schemas.openxmlformats.org/drawingml/2006/main">
            <a:off x="685800" y="25717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7252B"/>
                </a:solidFill>
                <a:latin typeface="Avenir Next"/>
                <a:ea typeface="Avenir Next"/>
                <a:cs typeface="Avenir Next"/>
              </a:defRPr>
            </a:pPr>
            <a:r>
              <a:rPr sz="1800" b="0">
                <a:solidFill>
                  <a:srgbClr val="17252B"/>
                </a:solidFill>
                <a:latin typeface="Avenir Next"/>
                <a:ea typeface="Avenir Next"/>
                <a:cs typeface="Avenir Next"/>
              </a:rPr>
              <a:t>Real ratings: dossier-real-v1-baseline.html</a:t>
            </a:r>
          </a:p>
        </p:txBody>
      </p:sp>
      <p:sp>
        <p:nvSpPr>
          <p:cNvPr id="5" name="">
            <a:extLst xmlns:a="http://schemas.openxmlformats.org/drawingml/2006/main">
              <a:ext uri="{FF2B5EF4-FFF2-40B4-BE49-F238E27FC236}">
                <a16:creationId xmlns:a16="http://schemas.microsoft.com/office/drawing/2014/main" id="{0F486AC0-76CD-4FCF-884C-E809D68A50B0}"/>
              </a:ext>
            </a:extLst>
          </p:cNvPr>
          <p:cNvSpPr>
            <a:spLocks xmlns:a="http://schemas.openxmlformats.org/drawingml/2006/main" noGrp="1"/>
          </p:cNvSpPr>
          <p:nvPr/>
        </p:nvSpPr>
        <p:spPr>
          <a:xfrm xmlns:a="http://schemas.openxmlformats.org/drawingml/2006/main">
            <a:off x="685800" y="31813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7252B"/>
                </a:solidFill>
                <a:latin typeface="Avenir Next"/>
                <a:ea typeface="Avenir Next"/>
                <a:cs typeface="Avenir Next"/>
              </a:defRPr>
            </a:pPr>
            <a:r>
              <a:rPr sz="1800" b="0">
                <a:solidFill>
                  <a:srgbClr val="17252B"/>
                </a:solidFill>
                <a:latin typeface="Avenir Next"/>
                <a:ea typeface="Avenir Next"/>
                <a:cs typeface="Avenir Next"/>
              </a:rPr>
              <a:t>Film details and model comparisons: dossier-learning-study.html</a:t>
            </a:r>
          </a:p>
        </p:txBody>
      </p:sp>
      <p:sp>
        <p:nvSpPr>
          <p:cNvPr id="6" name="">
            <a:extLst xmlns:a="http://schemas.openxmlformats.org/drawingml/2006/main">
              <a:ext uri="{FF2B5EF4-FFF2-40B4-BE49-F238E27FC236}">
                <a16:creationId xmlns:a16="http://schemas.microsoft.com/office/drawing/2014/main" id="{996F6782-F56F-4D83-934A-FDA118812C87}"/>
              </a:ext>
            </a:extLst>
          </p:cNvPr>
          <p:cNvSpPr>
            <a:spLocks xmlns:a="http://schemas.openxmlformats.org/drawingml/2006/main" noGrp="1"/>
          </p:cNvSpPr>
          <p:nvPr/>
        </p:nvSpPr>
        <p:spPr>
          <a:xfrm xmlns:a="http://schemas.openxmlformats.org/drawingml/2006/main">
            <a:off x="685800" y="37909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7252B"/>
                </a:solidFill>
                <a:latin typeface="Avenir Next"/>
                <a:ea typeface="Avenir Next"/>
                <a:cs typeface="Avenir Next"/>
              </a:defRPr>
            </a:pPr>
            <a:r>
              <a:rPr sz="1800" b="0">
                <a:solidFill>
                  <a:srgbClr val="17252B"/>
                </a:solidFill>
                <a:latin typeface="Avenir Next"/>
                <a:ea typeface="Avenir Next"/>
                <a:cs typeface="Avenir Next"/>
              </a:rPr>
              <a:t>New-viewer check: reviews-plus-tags-decision.html</a:t>
            </a:r>
          </a:p>
        </p:txBody>
      </p:sp>
      <p:sp>
        <p:nvSpPr>
          <p:cNvPr id="7" name="">
            <a:extLst xmlns:a="http://schemas.openxmlformats.org/drawingml/2006/main">
              <a:ext uri="{FF2B5EF4-FFF2-40B4-BE49-F238E27FC236}">
                <a16:creationId xmlns:a16="http://schemas.microsoft.com/office/drawing/2014/main" id="{6D05D4A0-4068-47AD-AF8E-2FCA5180AEC8}"/>
              </a:ext>
            </a:extLst>
          </p:cNvPr>
          <p:cNvSpPr>
            <a:spLocks xmlns:a="http://schemas.openxmlformats.org/drawingml/2006/main" noGrp="1"/>
          </p:cNvSpPr>
          <p:nvPr/>
        </p:nvSpPr>
        <p:spPr>
          <a:xfrm xmlns:a="http://schemas.openxmlformats.org/drawingml/2006/main">
            <a:off x="685800" y="44005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7252B"/>
                </a:solidFill>
                <a:latin typeface="Avenir Next"/>
                <a:ea typeface="Avenir Next"/>
                <a:cs typeface="Avenir Next"/>
              </a:defRPr>
            </a:pPr>
            <a:r>
              <a:rPr sz="1800" b="0">
                <a:solidFill>
                  <a:srgbClr val="17252B"/>
                </a:solidFill>
                <a:latin typeface="Avenir Next"/>
                <a:ea typeface="Avenir Next"/>
                <a:cs typeface="Avenir Next"/>
              </a:rPr>
              <a:t>Latest protection test: observed-rating-override-v1.html</a:t>
            </a:r>
          </a:p>
        </p:txBody>
      </p:sp>
      <p:sp>
        <p:nvSpPr>
          <p:cNvPr id="8" name="">
            <a:extLst xmlns:a="http://schemas.openxmlformats.org/drawingml/2006/main">
              <a:ext uri="{FF2B5EF4-FFF2-40B4-BE49-F238E27FC236}">
                <a16:creationId xmlns:a16="http://schemas.microsoft.com/office/drawing/2014/main" id="{B6D816BC-0F64-4239-902E-2F9ADB750480}"/>
              </a:ext>
            </a:extLst>
          </p:cNvPr>
          <p:cNvSpPr>
            <a:spLocks xmlns:a="http://schemas.openxmlformats.org/drawingml/2006/main" noGrp="1"/>
          </p:cNvSpPr>
          <p:nvPr/>
        </p:nvSpPr>
        <p:spPr>
          <a:xfrm xmlns:a="http://schemas.openxmlformats.org/drawingml/2006/main">
            <a:off x="685800" y="5219700"/>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Reports live in the repository’s reports folder.</a:t>
            </a:r>
          </a:p>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Personal ratings: GroupLens / MovieLens. Public film details: TMDB.</a:t>
            </a:r>
          </a:p>
        </p:txBody>
      </p:sp>
      <p:sp>
        <p:nvSpPr>
          <p:cNvPr id="9" name="">
            <a:extLst xmlns:a="http://schemas.openxmlformats.org/drawingml/2006/main">
              <a:ext uri="{FF2B5EF4-FFF2-40B4-BE49-F238E27FC236}">
                <a16:creationId xmlns:a16="http://schemas.microsoft.com/office/drawing/2014/main" id="{2D2D6364-0F1A-4D08-A4B9-FCEE59A0EEC7}"/>
              </a:ext>
            </a:extLst>
          </p:cNvPr>
          <p:cNvSpPr>
            <a:spLocks xmlns:a="http://schemas.openxmlformats.org/drawingml/2006/main" noGrp="1"/>
          </p:cNvSpPr>
          <p:nvPr/>
        </p:nvSpPr>
        <p:spPr>
          <a:xfrm xmlns:a="http://schemas.openxmlformats.org/drawingml/2006/main">
            <a:off x="685800" y="6067425"/>
            <a:ext cx="10191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C6C70"/>
                </a:solidFill>
                <a:latin typeface="Avenir Next"/>
                <a:ea typeface="Avenir Next"/>
                <a:cs typeface="Avenir Next"/>
              </a:defRPr>
            </a:pPr>
            <a:r>
              <a:rPr sz="1575" b="0">
                <a:solidFill>
                  <a:srgbClr val="5C6C70"/>
                </a:solidFill>
                <a:latin typeface="Avenir Next"/>
                <a:ea typeface="Avenir Next"/>
                <a:cs typeface="Avenir Next"/>
              </a:rPr>
              <a:t>This product uses the TMDB API but is not endorsed or certified by TMDB.</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2d6e9536330b4451">
            <a:extLst>
              <a:ext uri="{96DAC541-7B7A-43D3-8B79-37D633B846F1}">
                <asvg:svgBlip xmlns:asvg="http://schemas.microsoft.com/office/drawing/2016/SVG/main" r:embed="R54d68a34c2b341c8"/>
              </a:ext>
            </a:extLst>
          </a:blip>
          <a:stretch xmlns:a="http://schemas.openxmlformats.org/drawingml/2006/main"/>
        </p:blipFill>
        <p:spPr>
          <a:xfrm xmlns:a="http://schemas.openxmlformats.org/drawingml/2006/main">
            <a:off x="10287000" y="5429250"/>
            <a:ext cx="1047750" cy="571500"/>
          </a:xfrm>
          <a:prstGeom xmlns:a="http://schemas.openxmlformats.org/drawingml/2006/main" prst="rect">
            <a:avLst/>
          </a:prstGeom>
        </p:spPr>
      </p:pic>
    </p:spTree>
    <p:extLst>
      <p:ext uri="{BB962C8B-B14F-4D97-AF65-F5344CB8AC3E}">
        <p14:creationId xmlns:p14="http://schemas.microsoft.com/office/powerpoint/2010/main" val="1984262524"/>
      </p:ext>
    </p:extLst>
  </p:cSld>
</p:sld>
</file>

<file path=ppt/theme/theme1.xml><?xml version="1.0" encoding="utf-8"?>
<a:theme xmlns:a="http://schemas.openxmlformats.org/drawingml/2006/main" name="ChatGPT">
  <a:themeElements>
    <a:clrScheme name="Dossier evidence">
      <a:dk1>
        <a:srgbClr val="000000"/>
      </a:dk1>
      <a:lt1>
        <a:srgbClr val="FFFFFF"/>
      </a:lt1>
      <a:dk2>
        <a:srgbClr val="17252B"/>
      </a:dk2>
      <a:lt2>
        <a:srgbClr val="F2EFE8"/>
      </a:lt2>
      <a:accent1>
        <a:srgbClr val="397564"/>
      </a:accent1>
      <a:accent2>
        <a:srgbClr val="BC432A"/>
      </a:accent2>
      <a:accent3>
        <a:srgbClr val="55718E"/>
      </a:accent3>
      <a:accent4>
        <a:srgbClr val="BA9152"/>
      </a:accent4>
      <a:accent5>
        <a:srgbClr val="87798F"/>
      </a:accent5>
      <a:accent6>
        <a:srgbClr val="8C9A90"/>
      </a:accent6>
      <a:hlink>
        <a:srgbClr val="55718E"/>
      </a:hlink>
      <a:folHlink>
        <a:srgbClr val="55718E"/>
      </a:folHlink>
    </a:clrScheme>
    <a:fontScheme name="Office">
      <a:majorFont>
        <a:latin typeface="Calibri Light"/>
        <a:ea typeface="Calibri Light"/>
        <a:cs typeface="Calibri Light"/>
      </a:majorFont>
      <a:minorFont>
        <a:latin typeface="Calibri"/>
        <a:ea typeface="Calibri"/>
        <a:cs typeface="Calibri"/>
      </a:minorFont>
    </a:fontScheme>
    <a:fmtScheme name="Dossier eviden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2026-10-02T20:02:28.6310000Z</dcterms:created>
  <dcterms:modified xsi:type="dcterms:W3CDTF">2026-10-02T20:02:28.6310000Z</dcterms:modified>
</coreProperties>
</file>